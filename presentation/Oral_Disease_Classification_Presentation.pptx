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78" r:id="rId3"/>
    <p:sldId id="279" r:id="rId4"/>
    <p:sldId id="280" r:id="rId5"/>
    <p:sldId id="281" r:id="rId6"/>
    <p:sldId id="282" r:id="rId7"/>
    <p:sldId id="283" r:id="rId8"/>
    <p:sldId id="284" r:id="rId9"/>
    <p:sldId id="264" r:id="rId10"/>
    <p:sldId id="285" r:id="rId11"/>
    <p:sldId id="286" r:id="rId12"/>
    <p:sldId id="28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Percent</c:v>
                </c:pt>
              </c:strCache>
            </c:strRef>
          </c:tx>
          <c:spPr>
            <a:solidFill>
              <a:srgbClr val="00B0F0"/>
            </a:solidFill>
            <a:effectLst/>
          </c:spPr>
          <c:invertIfNegative val="0"/>
          <c:dLbls>
            <c:dLbl>
              <c:idx val="0"/>
              <c:tx>
                <c:rich>
                  <a:bodyPr/>
                  <a:lstStyle/>
                  <a:p>
                    <a:fld id="{7501B7A9-CD49-4812-A9E5-34B8435FD766}" type="VALUE">
                      <a:rPr lang="en-US">
                        <a:solidFill>
                          <a:schemeClr val="bg1"/>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EEB9-4959-BF78-029CE54B2D55}"/>
                </c:ext>
              </c:extLst>
            </c:dLbl>
            <c:dLbl>
              <c:idx val="1"/>
              <c:tx>
                <c:rich>
                  <a:bodyPr/>
                  <a:lstStyle/>
                  <a:p>
                    <a:fld id="{14D76A2E-BBEA-49B5-A669-2059CA695277}" type="VALUE">
                      <a:rPr lang="en-US">
                        <a:solidFill>
                          <a:schemeClr val="bg1"/>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EB9-4959-BF78-029CE54B2D55}"/>
                </c:ext>
              </c:extLst>
            </c:dLbl>
            <c:dLbl>
              <c:idx val="2"/>
              <c:tx>
                <c:rich>
                  <a:bodyPr/>
                  <a:lstStyle/>
                  <a:p>
                    <a:fld id="{2A1B61AA-01DA-4F4E-83DA-D2798BDB8174}" type="VALUE">
                      <a:rPr lang="en-US">
                        <a:solidFill>
                          <a:schemeClr val="bg1"/>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EEB9-4959-BF78-029CE54B2D55}"/>
                </c:ext>
              </c:extLst>
            </c:dLbl>
            <c:numFmt formatCode="#,##0" sourceLinked="0"/>
            <c:spPr>
              <a:noFill/>
              <a:ln>
                <a:noFill/>
              </a:ln>
              <a:effectLst/>
            </c:spPr>
            <c:txPr>
              <a:bodyPr/>
              <a:lstStyle/>
              <a:p>
                <a:pPr>
                  <a:defRPr sz="1200" b="0"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Train</c:v>
                </c:pt>
                <c:pt idx="1">
                  <c:v>Validation</c:v>
                </c:pt>
                <c:pt idx="2">
                  <c:v>Test</c:v>
                </c:pt>
              </c:strCache>
            </c:strRef>
          </c:cat>
          <c:val>
            <c:numRef>
              <c:f>Sheet1!$B$2:$B$4</c:f>
              <c:numCache>
                <c:formatCode>General</c:formatCode>
                <c:ptCount val="3"/>
                <c:pt idx="0">
                  <c:v>70</c:v>
                </c:pt>
                <c:pt idx="1">
                  <c:v>15</c:v>
                </c:pt>
                <c:pt idx="2">
                  <c:v>15</c:v>
                </c:pt>
              </c:numCache>
            </c:numRef>
          </c:val>
          <c:extLst>
            <c:ext xmlns:c16="http://schemas.microsoft.com/office/drawing/2014/chart" uri="{C3380CC4-5D6E-409C-BE32-E72D297353CC}">
              <c16:uniqueId val="{00000000-11C9-46BD-95EF-E3896E92F40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solidFill>
            <a:schemeClr val="bg1"/>
          </a:solidFill>
          <a:ln w="12700" cap="flat">
            <a:noFill/>
            <a:prstDash val="solid"/>
            <a:round/>
          </a:ln>
        </c:spPr>
        <c:txPr>
          <a:bodyPr/>
          <a:lstStyle/>
          <a:p>
            <a:pPr>
              <a:defRPr sz="1200" b="0" i="0" u="none" strike="noStrike">
                <a:solidFill>
                  <a:srgbClr val="1B243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Relative sample volume</c:v>
                </c:pt>
              </c:strCache>
            </c:strRef>
          </c:tx>
          <c:spPr>
            <a:solidFill>
              <a:srgbClr val="00B0F0"/>
            </a:solidFill>
            <a:effectLst/>
          </c:spPr>
          <c:invertIfNegative val="0"/>
          <c:cat>
            <c:strRef>
              <c:f>Sheet1!$A$2:$A$7</c:f>
              <c:strCache>
                <c:ptCount val="6"/>
                <c:pt idx="0">
                  <c:v>Calculus</c:v>
                </c:pt>
                <c:pt idx="1">
                  <c:v>Caries</c:v>
                </c:pt>
                <c:pt idx="2">
                  <c:v>Gingivitis</c:v>
                </c:pt>
                <c:pt idx="3">
                  <c:v>Hypodontia</c:v>
                </c:pt>
                <c:pt idx="4">
                  <c:v>Mouth
Ulcer</c:v>
                </c:pt>
                <c:pt idx="5">
                  <c:v>Tooth
Discolor.</c:v>
                </c:pt>
              </c:strCache>
            </c:strRef>
          </c:cat>
          <c:val>
            <c:numRef>
              <c:f>Sheet1!$B$2:$B$7</c:f>
              <c:numCache>
                <c:formatCode>General</c:formatCode>
                <c:ptCount val="6"/>
                <c:pt idx="0">
                  <c:v>62</c:v>
                </c:pt>
                <c:pt idx="1">
                  <c:v>58</c:v>
                </c:pt>
                <c:pt idx="2">
                  <c:v>90</c:v>
                </c:pt>
                <c:pt idx="3">
                  <c:v>40</c:v>
                </c:pt>
                <c:pt idx="4">
                  <c:v>45</c:v>
                </c:pt>
                <c:pt idx="5">
                  <c:v>55</c:v>
                </c:pt>
              </c:numCache>
            </c:numRef>
          </c:val>
          <c:extLst>
            <c:ext xmlns:c16="http://schemas.microsoft.com/office/drawing/2014/chart" uri="{C3380CC4-5D6E-409C-BE32-E72D297353CC}">
              <c16:uniqueId val="{00000000-7792-47F3-82F0-6421AEAB793B}"/>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solidFill>
            <a:schemeClr val="bg1"/>
          </a:solidFill>
          <a:ln w="12700" cap="flat">
            <a:solidFill>
              <a:srgbClr val="D7E0E6"/>
            </a:solidFill>
            <a:prstDash val="solid"/>
            <a:round/>
          </a:ln>
        </c:spPr>
        <c:txPr>
          <a:bodyPr/>
          <a:lstStyle/>
          <a:p>
            <a:pPr>
              <a:defRPr sz="1050" b="0" i="0" u="none" strike="noStrike">
                <a:solidFill>
                  <a:srgbClr val="1B243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Train</c:v>
                </c:pt>
              </c:strCache>
            </c:strRef>
          </c:tx>
          <c:spPr>
            <a:solidFill>
              <a:srgbClr val="065A82"/>
            </a:solidFill>
            <a:effectLst/>
          </c:spPr>
          <c:invertIfNegative val="0"/>
          <c:dLbls>
            <c:numFmt formatCode="0.0" sourceLinked="0"/>
            <c:spPr>
              <a:noFill/>
              <a:ln>
                <a:noFill/>
              </a:ln>
              <a:effectLst/>
            </c:spPr>
            <c:txPr>
              <a:bodyPr/>
              <a:lstStyle/>
              <a:p>
                <a:pPr>
                  <a:defRPr sz="950" b="0"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Custom CNN</c:v>
                </c:pt>
                <c:pt idx="1">
                  <c:v>EfficientNetB0</c:v>
                </c:pt>
                <c:pt idx="2">
                  <c:v>ResNet50</c:v>
                </c:pt>
                <c:pt idx="3">
                  <c:v>MobileNetV2</c:v>
                </c:pt>
              </c:strCache>
            </c:strRef>
          </c:cat>
          <c:val>
            <c:numRef>
              <c:f>Sheet1!$B$2:$B$5</c:f>
              <c:numCache>
                <c:formatCode>General</c:formatCode>
                <c:ptCount val="4"/>
                <c:pt idx="0">
                  <c:v>78.989999999999995</c:v>
                </c:pt>
                <c:pt idx="1">
                  <c:v>87.42</c:v>
                </c:pt>
                <c:pt idx="2">
                  <c:v>88.21</c:v>
                </c:pt>
                <c:pt idx="3">
                  <c:v>86.57</c:v>
                </c:pt>
              </c:numCache>
            </c:numRef>
          </c:val>
          <c:extLst>
            <c:ext xmlns:c16="http://schemas.microsoft.com/office/drawing/2014/chart" uri="{C3380CC4-5D6E-409C-BE32-E72D297353CC}">
              <c16:uniqueId val="{00000000-5260-418D-AF44-3CE12D298B27}"/>
            </c:ext>
          </c:extLst>
        </c:ser>
        <c:ser>
          <c:idx val="1"/>
          <c:order val="1"/>
          <c:tx>
            <c:strRef>
              <c:f>Sheet1!$C$1</c:f>
              <c:strCache>
                <c:ptCount val="1"/>
                <c:pt idx="0">
                  <c:v>Validation</c:v>
                </c:pt>
              </c:strCache>
            </c:strRef>
          </c:tx>
          <c:spPr>
            <a:solidFill>
              <a:srgbClr val="1C7293"/>
            </a:solidFill>
            <a:effectLst/>
          </c:spPr>
          <c:invertIfNegative val="0"/>
          <c:dLbls>
            <c:numFmt formatCode="0.0" sourceLinked="0"/>
            <c:spPr>
              <a:noFill/>
              <a:ln>
                <a:noFill/>
              </a:ln>
              <a:effectLst/>
            </c:spPr>
            <c:txPr>
              <a:bodyPr/>
              <a:lstStyle/>
              <a:p>
                <a:pPr>
                  <a:defRPr sz="950" b="0"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Custom CNN</c:v>
                </c:pt>
                <c:pt idx="1">
                  <c:v>EfficientNetB0</c:v>
                </c:pt>
                <c:pt idx="2">
                  <c:v>ResNet50</c:v>
                </c:pt>
                <c:pt idx="3">
                  <c:v>MobileNetV2</c:v>
                </c:pt>
              </c:strCache>
            </c:strRef>
          </c:cat>
          <c:val>
            <c:numRef>
              <c:f>Sheet1!$C$2:$C$5</c:f>
              <c:numCache>
                <c:formatCode>General</c:formatCode>
                <c:ptCount val="4"/>
                <c:pt idx="0">
                  <c:v>76.86</c:v>
                </c:pt>
                <c:pt idx="1">
                  <c:v>82.01</c:v>
                </c:pt>
                <c:pt idx="2">
                  <c:v>80.58</c:v>
                </c:pt>
                <c:pt idx="3">
                  <c:v>78.78</c:v>
                </c:pt>
              </c:numCache>
            </c:numRef>
          </c:val>
          <c:extLst>
            <c:ext xmlns:c16="http://schemas.microsoft.com/office/drawing/2014/chart" uri="{C3380CC4-5D6E-409C-BE32-E72D297353CC}">
              <c16:uniqueId val="{00000001-5260-418D-AF44-3CE12D298B27}"/>
            </c:ext>
          </c:extLst>
        </c:ser>
        <c:ser>
          <c:idx val="2"/>
          <c:order val="2"/>
          <c:tx>
            <c:strRef>
              <c:f>Sheet1!$D$1</c:f>
              <c:strCache>
                <c:ptCount val="1"/>
                <c:pt idx="0">
                  <c:v>Test</c:v>
                </c:pt>
              </c:strCache>
            </c:strRef>
          </c:tx>
          <c:spPr>
            <a:solidFill>
              <a:srgbClr val="1C9C6E"/>
            </a:solidFill>
            <a:effectLst/>
          </c:spPr>
          <c:invertIfNegative val="0"/>
          <c:dLbls>
            <c:numFmt formatCode="0.0" sourceLinked="0"/>
            <c:spPr>
              <a:noFill/>
              <a:ln>
                <a:noFill/>
              </a:ln>
              <a:effectLst/>
            </c:spPr>
            <c:txPr>
              <a:bodyPr/>
              <a:lstStyle/>
              <a:p>
                <a:pPr>
                  <a:defRPr sz="950" b="0"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Custom CNN</c:v>
                </c:pt>
                <c:pt idx="1">
                  <c:v>EfficientNetB0</c:v>
                </c:pt>
                <c:pt idx="2">
                  <c:v>ResNet50</c:v>
                </c:pt>
                <c:pt idx="3">
                  <c:v>MobileNetV2</c:v>
                </c:pt>
              </c:strCache>
            </c:strRef>
          </c:cat>
          <c:val>
            <c:numRef>
              <c:f>Sheet1!$D$2:$D$5</c:f>
              <c:numCache>
                <c:formatCode>General</c:formatCode>
                <c:ptCount val="4"/>
                <c:pt idx="0">
                  <c:v>75.81</c:v>
                </c:pt>
                <c:pt idx="1">
                  <c:v>81.8</c:v>
                </c:pt>
                <c:pt idx="2">
                  <c:v>81.67</c:v>
                </c:pt>
                <c:pt idx="3">
                  <c:v>81.2</c:v>
                </c:pt>
              </c:numCache>
            </c:numRef>
          </c:val>
          <c:extLst>
            <c:ext xmlns:c16="http://schemas.microsoft.com/office/drawing/2014/chart" uri="{C3380CC4-5D6E-409C-BE32-E72D297353CC}">
              <c16:uniqueId val="{00000002-5260-418D-AF44-3CE12D298B27}"/>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7E0E6"/>
            </a:solidFill>
            <a:prstDash val="solid"/>
            <a:round/>
          </a:ln>
        </c:spPr>
        <c:txPr>
          <a:bodyPr/>
          <a:lstStyle/>
          <a:p>
            <a:pPr>
              <a:defRPr sz="1250" b="0" i="0" u="none" strike="noStrike">
                <a:solidFill>
                  <a:srgbClr val="1B2430"/>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12700" cap="flat">
              <a:solidFill>
                <a:srgbClr val="EDF1F3"/>
              </a:solidFill>
              <a:prstDash val="solid"/>
              <a:round/>
            </a:ln>
          </c:spPr>
        </c:majorGridlines>
        <c:title>
          <c:tx>
            <c:rich>
              <a:bodyPr/>
              <a:lstStyle/>
              <a:p>
                <a:pPr>
                  <a:defRPr sz="1100" b="0" i="0" u="none" strike="noStrike">
                    <a:solidFill>
                      <a:srgbClr val="5B6B79"/>
                    </a:solidFill>
                    <a:latin typeface="Arial"/>
                  </a:defRPr>
                </a:pPr>
                <a:r>
                  <a:rPr lang="en-US" sz="1100" b="0" i="0" u="none" strike="noStrike">
                    <a:solidFill>
                      <a:srgbClr val="5B6B79"/>
                    </a:solidFill>
                    <a:latin typeface="Arial"/>
                  </a:rPr>
                  <a:t>Accuracy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43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EfficientNetB0</c:v>
                </c:pt>
              </c:strCache>
            </c:strRef>
          </c:tx>
          <c:spPr>
            <a:solidFill>
              <a:srgbClr val="065A82"/>
            </a:solidFill>
            <a:effectLst/>
          </c:spPr>
          <c:invertIfNegative val="0"/>
          <c:dLbls>
            <c:numFmt formatCode="0.00" sourceLinked="0"/>
            <c:spPr>
              <a:noFill/>
              <a:ln>
                <a:noFill/>
              </a:ln>
              <a:effectLst/>
            </c:spPr>
            <c:txPr>
              <a:bodyPr/>
              <a:lstStyle/>
              <a:p>
                <a:pPr>
                  <a:defRPr sz="850" b="0"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Calculus</c:v>
                </c:pt>
                <c:pt idx="1">
                  <c:v>Caries</c:v>
                </c:pt>
                <c:pt idx="2">
                  <c:v>Gingivitis</c:v>
                </c:pt>
                <c:pt idx="3">
                  <c:v>Hypodontia</c:v>
                </c:pt>
                <c:pt idx="4">
                  <c:v>Mouth Ulcer</c:v>
                </c:pt>
                <c:pt idx="5">
                  <c:v>Tooth Discolor.</c:v>
                </c:pt>
              </c:strCache>
            </c:strRef>
          </c:cat>
          <c:val>
            <c:numRef>
              <c:f>Sheet1!$B$2:$B$7</c:f>
              <c:numCache>
                <c:formatCode>General</c:formatCode>
                <c:ptCount val="6"/>
                <c:pt idx="0">
                  <c:v>0.65</c:v>
                </c:pt>
                <c:pt idx="1">
                  <c:v>0.73</c:v>
                </c:pt>
                <c:pt idx="2">
                  <c:v>0.82</c:v>
                </c:pt>
                <c:pt idx="3">
                  <c:v>0.97</c:v>
                </c:pt>
                <c:pt idx="4">
                  <c:v>0.95</c:v>
                </c:pt>
                <c:pt idx="5">
                  <c:v>0.67</c:v>
                </c:pt>
              </c:numCache>
            </c:numRef>
          </c:val>
          <c:extLst>
            <c:ext xmlns:c16="http://schemas.microsoft.com/office/drawing/2014/chart" uri="{C3380CC4-5D6E-409C-BE32-E72D297353CC}">
              <c16:uniqueId val="{00000000-22AB-4C49-9794-FC887F743A44}"/>
            </c:ext>
          </c:extLst>
        </c:ser>
        <c:ser>
          <c:idx val="1"/>
          <c:order val="1"/>
          <c:tx>
            <c:strRef>
              <c:f>Sheet1!$C$1</c:f>
              <c:strCache>
                <c:ptCount val="1"/>
                <c:pt idx="0">
                  <c:v>ResNet50</c:v>
                </c:pt>
              </c:strCache>
            </c:strRef>
          </c:tx>
          <c:spPr>
            <a:solidFill>
              <a:srgbClr val="1C7293"/>
            </a:solidFill>
            <a:effectLst/>
          </c:spPr>
          <c:invertIfNegative val="0"/>
          <c:dLbls>
            <c:numFmt formatCode="0.00" sourceLinked="0"/>
            <c:spPr>
              <a:noFill/>
              <a:ln>
                <a:noFill/>
              </a:ln>
              <a:effectLst/>
            </c:spPr>
            <c:txPr>
              <a:bodyPr/>
              <a:lstStyle/>
              <a:p>
                <a:pPr>
                  <a:defRPr sz="850" b="0"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Calculus</c:v>
                </c:pt>
                <c:pt idx="1">
                  <c:v>Caries</c:v>
                </c:pt>
                <c:pt idx="2">
                  <c:v>Gingivitis</c:v>
                </c:pt>
                <c:pt idx="3">
                  <c:v>Hypodontia</c:v>
                </c:pt>
                <c:pt idx="4">
                  <c:v>Mouth Ulcer</c:v>
                </c:pt>
                <c:pt idx="5">
                  <c:v>Tooth Discolor.</c:v>
                </c:pt>
              </c:strCache>
            </c:strRef>
          </c:cat>
          <c:val>
            <c:numRef>
              <c:f>Sheet1!$C$2:$C$7</c:f>
              <c:numCache>
                <c:formatCode>General</c:formatCode>
                <c:ptCount val="6"/>
                <c:pt idx="0">
                  <c:v>0.65</c:v>
                </c:pt>
                <c:pt idx="1">
                  <c:v>0.81</c:v>
                </c:pt>
                <c:pt idx="2">
                  <c:v>0.82</c:v>
                </c:pt>
                <c:pt idx="3">
                  <c:v>0.96</c:v>
                </c:pt>
                <c:pt idx="4">
                  <c:v>0.92</c:v>
                </c:pt>
                <c:pt idx="5">
                  <c:v>0.82</c:v>
                </c:pt>
              </c:numCache>
            </c:numRef>
          </c:val>
          <c:extLst>
            <c:ext xmlns:c16="http://schemas.microsoft.com/office/drawing/2014/chart" uri="{C3380CC4-5D6E-409C-BE32-E72D297353CC}">
              <c16:uniqueId val="{00000001-22AB-4C49-9794-FC887F743A44}"/>
            </c:ext>
          </c:extLst>
        </c:ser>
        <c:ser>
          <c:idx val="2"/>
          <c:order val="2"/>
          <c:tx>
            <c:strRef>
              <c:f>Sheet1!$D$1</c:f>
              <c:strCache>
                <c:ptCount val="1"/>
                <c:pt idx="0">
                  <c:v>MobileNetV2</c:v>
                </c:pt>
              </c:strCache>
            </c:strRef>
          </c:tx>
          <c:spPr>
            <a:solidFill>
              <a:srgbClr val="8A6D3B"/>
            </a:solidFill>
            <a:effectLst/>
          </c:spPr>
          <c:invertIfNegative val="0"/>
          <c:dLbls>
            <c:numFmt formatCode="0.00" sourceLinked="0"/>
            <c:spPr>
              <a:noFill/>
              <a:ln>
                <a:noFill/>
              </a:ln>
              <a:effectLst/>
            </c:spPr>
            <c:txPr>
              <a:bodyPr/>
              <a:lstStyle/>
              <a:p>
                <a:pPr>
                  <a:defRPr sz="850" b="0"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Calculus</c:v>
                </c:pt>
                <c:pt idx="1">
                  <c:v>Caries</c:v>
                </c:pt>
                <c:pt idx="2">
                  <c:v>Gingivitis</c:v>
                </c:pt>
                <c:pt idx="3">
                  <c:v>Hypodontia</c:v>
                </c:pt>
                <c:pt idx="4">
                  <c:v>Mouth Ulcer</c:v>
                </c:pt>
                <c:pt idx="5">
                  <c:v>Tooth Discolor.</c:v>
                </c:pt>
              </c:strCache>
            </c:strRef>
          </c:cat>
          <c:val>
            <c:numRef>
              <c:f>Sheet1!$D$2:$D$7</c:f>
              <c:numCache>
                <c:formatCode>General</c:formatCode>
                <c:ptCount val="6"/>
                <c:pt idx="0">
                  <c:v>0.67</c:v>
                </c:pt>
                <c:pt idx="1">
                  <c:v>0.67</c:v>
                </c:pt>
                <c:pt idx="2">
                  <c:v>0.81</c:v>
                </c:pt>
                <c:pt idx="3">
                  <c:v>0.96</c:v>
                </c:pt>
                <c:pt idx="4">
                  <c:v>0.93</c:v>
                </c:pt>
                <c:pt idx="5">
                  <c:v>0.74</c:v>
                </c:pt>
              </c:numCache>
            </c:numRef>
          </c:val>
          <c:extLst>
            <c:ext xmlns:c16="http://schemas.microsoft.com/office/drawing/2014/chart" uri="{C3380CC4-5D6E-409C-BE32-E72D297353CC}">
              <c16:uniqueId val="{00000002-22AB-4C49-9794-FC887F743A4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7E0E6"/>
            </a:solidFill>
            <a:prstDash val="solid"/>
            <a:round/>
          </a:ln>
        </c:spPr>
        <c:txPr>
          <a:bodyPr/>
          <a:lstStyle/>
          <a:p>
            <a:pPr>
              <a:defRPr sz="1150" b="0" i="0" u="none" strike="noStrike">
                <a:solidFill>
                  <a:srgbClr val="1B2430"/>
                </a:solidFill>
                <a:latin typeface="Calibri"/>
              </a:defRPr>
            </a:pPr>
            <a:endParaRPr lang="en-US"/>
          </a:p>
        </c:txPr>
        <c:crossAx val="2094734552"/>
        <c:crosses val="autoZero"/>
        <c:auto val="1"/>
        <c:lblAlgn val="ctr"/>
        <c:lblOffset val="100"/>
        <c:noMultiLvlLbl val="1"/>
      </c:catAx>
      <c:valAx>
        <c:axId val="2094734552"/>
        <c:scaling>
          <c:orientation val="minMax"/>
          <c:max val="1.1000000000000001"/>
        </c:scaling>
        <c:delete val="0"/>
        <c:axPos val="l"/>
        <c:majorGridlines>
          <c:spPr>
            <a:ln w="12700" cap="flat">
              <a:solidFill>
                <a:srgbClr val="EDF1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43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0644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yourself and the project title: an end-to-end deep learning system for classifying six oral diseases from dental images. State the headline comparison up front — a custom-built CNN versus three transfer learning architectures — so the audience knows the throughline of the whole talk. Mention this is a graduation project also published on Kaggle and GitHub, built fully in Python/TensorFlow.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8458C-843C-EC3B-39F5-BA50AEEF1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C8C8EF-D8C8-FAE2-F7D6-083F35CB95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9C3E24-BEDF-DB08-6927-FAE7F12AFD5A}"/>
              </a:ext>
            </a:extLst>
          </p:cNvPr>
          <p:cNvSpPr>
            <a:spLocks noGrp="1"/>
          </p:cNvSpPr>
          <p:nvPr>
            <p:ph type="body" idx="1"/>
          </p:nvPr>
        </p:nvSpPr>
        <p:spPr/>
        <p:txBody>
          <a:bodyPr/>
          <a:lstStyle/>
          <a:p>
            <a:r>
              <a:rPr lang="en-US" dirty="0"/>
              <a:t>Welcome the audience. Introduce yourself and the project title: an end-to-end deep learning system for classifying six oral diseases from dental images. State the headline comparison up front — a custom-built CNN versus three transfer learning architectures — so the audience knows the throughline of the whole talk. Mention this is a graduation project also published on Kaggle and GitHub, built fully in Python/TensorFlow.</a:t>
            </a:r>
          </a:p>
        </p:txBody>
      </p:sp>
      <p:sp>
        <p:nvSpPr>
          <p:cNvPr id="4" name="Slide Number Placeholder 3">
            <a:extLst>
              <a:ext uri="{FF2B5EF4-FFF2-40B4-BE49-F238E27FC236}">
                <a16:creationId xmlns:a16="http://schemas.microsoft.com/office/drawing/2014/main" id="{9C048CA6-17D6-3398-D2F1-4B90AC265C5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750865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B7314-B819-D36E-2837-9F70B8400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60DE8-AC33-46E6-8940-BA3C33E0D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1C95C-59F7-A3C7-E09F-45341F50BF10}"/>
              </a:ext>
            </a:extLst>
          </p:cNvPr>
          <p:cNvSpPr>
            <a:spLocks noGrp="1"/>
          </p:cNvSpPr>
          <p:nvPr>
            <p:ph type="body" idx="1"/>
          </p:nvPr>
        </p:nvSpPr>
        <p:spPr/>
        <p:txBody>
          <a:bodyPr/>
          <a:lstStyle/>
          <a:p>
            <a:r>
              <a:rPr lang="en-US" dirty="0"/>
              <a:t>Welcome the audience. Introduce yourself and the project title: an end-to-end deep learning system for classifying six oral diseases from dental images. State the headline comparison up front — a custom-built CNN versus three transfer learning architectures — so the audience knows the throughline of the whole talk. Mention this is a graduation project also published on Kaggle and GitHub, built fully in Python/TensorFlow.</a:t>
            </a:r>
          </a:p>
        </p:txBody>
      </p:sp>
      <p:sp>
        <p:nvSpPr>
          <p:cNvPr id="4" name="Slide Number Placeholder 3">
            <a:extLst>
              <a:ext uri="{FF2B5EF4-FFF2-40B4-BE49-F238E27FC236}">
                <a16:creationId xmlns:a16="http://schemas.microsoft.com/office/drawing/2014/main" id="{0FAC7D83-0879-23DF-0C79-AFC52690FEA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954978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10539-F97E-B453-C943-D3234A27B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E7061-6312-2426-419E-A62AC16C49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8C8766-BB1D-CF47-78F5-7C073EC44881}"/>
              </a:ext>
            </a:extLst>
          </p:cNvPr>
          <p:cNvSpPr>
            <a:spLocks noGrp="1"/>
          </p:cNvSpPr>
          <p:nvPr>
            <p:ph type="body" idx="1"/>
          </p:nvPr>
        </p:nvSpPr>
        <p:spPr/>
        <p:txBody>
          <a:bodyPr/>
          <a:lstStyle/>
          <a:p>
            <a:r>
              <a:rPr lang="en-US" dirty="0"/>
              <a:t>Welcome the audience. Introduce yourself and the project title: an end-to-end deep learning system for classifying six oral diseases from dental images. State the headline comparison up front — a custom-built CNN versus three transfer learning architectures — so the audience knows the throughline of the whole talk. Mention this is a graduation project also published on Kaggle and GitHub, built fully in Python/TensorFlow.</a:t>
            </a:r>
          </a:p>
        </p:txBody>
      </p:sp>
      <p:sp>
        <p:nvSpPr>
          <p:cNvPr id="4" name="Slide Number Placeholder 3">
            <a:extLst>
              <a:ext uri="{FF2B5EF4-FFF2-40B4-BE49-F238E27FC236}">
                <a16:creationId xmlns:a16="http://schemas.microsoft.com/office/drawing/2014/main" id="{8B1AF5C3-A157-AC5F-8572-730C1901BC8E}"/>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154594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62ED4-8EA5-CB56-B828-E3350DC27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5EF930-6040-4336-173F-2841C6996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AA8D2-2D73-CF21-3E09-338D59B2C2C2}"/>
              </a:ext>
            </a:extLst>
          </p:cNvPr>
          <p:cNvSpPr>
            <a:spLocks noGrp="1"/>
          </p:cNvSpPr>
          <p:nvPr>
            <p:ph type="body" idx="1"/>
          </p:nvPr>
        </p:nvSpPr>
        <p:spPr/>
        <p:txBody>
          <a:bodyPr/>
          <a:lstStyle/>
          <a:p>
            <a:r>
              <a:rPr lang="en-US" dirty="0"/>
              <a:t>Welcome the audience. Introduce yourself and the project title: an end-to-end deep learning system for classifying six oral diseases from dental images. State the headline comparison up front — a custom-built CNN versus three transfer learning architectures — so the audience knows the throughline of the whole talk. Mention this is a graduation project also published on Kaggle and GitHub, built fully in Python/TensorFlow.</a:t>
            </a:r>
          </a:p>
        </p:txBody>
      </p:sp>
      <p:sp>
        <p:nvSpPr>
          <p:cNvPr id="4" name="Slide Number Placeholder 3">
            <a:extLst>
              <a:ext uri="{FF2B5EF4-FFF2-40B4-BE49-F238E27FC236}">
                <a16:creationId xmlns:a16="http://schemas.microsoft.com/office/drawing/2014/main" id="{49362033-6A6E-8F18-9C21-7DEFF57C854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555696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AAD14-03AA-2140-A195-4B199E480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D5A8A-58CB-0B1A-2854-B02D235B17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41AC08-624E-381C-A21A-BCA23314BD07}"/>
              </a:ext>
            </a:extLst>
          </p:cNvPr>
          <p:cNvSpPr>
            <a:spLocks noGrp="1"/>
          </p:cNvSpPr>
          <p:nvPr>
            <p:ph type="body" idx="1"/>
          </p:nvPr>
        </p:nvSpPr>
        <p:spPr/>
        <p:txBody>
          <a:bodyPr/>
          <a:lstStyle/>
          <a:p>
            <a:r>
              <a:rPr lang="en-US" dirty="0"/>
              <a:t>Welcome the audience. Introduce yourself and the project title: an end-to-end deep learning system for classifying six oral diseases from dental images. State the headline comparison up front — a custom-built CNN versus three transfer learning architectures — so the audience knows the throughline of the whole talk. Mention this is a graduation project also published on Kaggle and GitHub, built fully in Python/TensorFlow.</a:t>
            </a:r>
          </a:p>
        </p:txBody>
      </p:sp>
      <p:sp>
        <p:nvSpPr>
          <p:cNvPr id="4" name="Slide Number Placeholder 3">
            <a:extLst>
              <a:ext uri="{FF2B5EF4-FFF2-40B4-BE49-F238E27FC236}">
                <a16:creationId xmlns:a16="http://schemas.microsoft.com/office/drawing/2014/main" id="{52ABC55D-DA5B-DD9C-C10B-56F686EDC27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01071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6A19-0FAD-8124-05C3-56EBF67FDA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02A0F-BE92-473F-3171-6139022B5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C29417-1AC0-C5A8-0729-DDD9E85E4AF7}"/>
              </a:ext>
            </a:extLst>
          </p:cNvPr>
          <p:cNvSpPr>
            <a:spLocks noGrp="1"/>
          </p:cNvSpPr>
          <p:nvPr>
            <p:ph type="body" idx="1"/>
          </p:nvPr>
        </p:nvSpPr>
        <p:spPr/>
        <p:txBody>
          <a:bodyPr/>
          <a:lstStyle/>
          <a:p>
            <a:r>
              <a:rPr lang="en-US" dirty="0"/>
              <a:t>Welcome the audience. Introduce yourself and the project title: an end-to-end deep learning system for classifying six oral diseases from dental images. State the headline comparison up front — a custom-built CNN versus three transfer learning architectures — so the audience knows the throughline of the whole talk. Mention this is a graduation project also published on Kaggle and GitHub, built fully in Python/TensorFlow.</a:t>
            </a:r>
          </a:p>
        </p:txBody>
      </p:sp>
      <p:sp>
        <p:nvSpPr>
          <p:cNvPr id="4" name="Slide Number Placeholder 3">
            <a:extLst>
              <a:ext uri="{FF2B5EF4-FFF2-40B4-BE49-F238E27FC236}">
                <a16:creationId xmlns:a16="http://schemas.microsoft.com/office/drawing/2014/main" id="{58134375-A5D0-C987-5E14-4C3527EDC77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18342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3FBAC-2A44-83C5-6E95-B25A79208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B1703-335E-E56C-AF80-7A7DAA0FDA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CDA3D3-81D9-1D55-5659-A54B5151AD65}"/>
              </a:ext>
            </a:extLst>
          </p:cNvPr>
          <p:cNvSpPr>
            <a:spLocks noGrp="1"/>
          </p:cNvSpPr>
          <p:nvPr>
            <p:ph type="body" idx="1"/>
          </p:nvPr>
        </p:nvSpPr>
        <p:spPr/>
        <p:txBody>
          <a:bodyPr/>
          <a:lstStyle/>
          <a:p>
            <a:r>
              <a:rPr lang="en-US" dirty="0"/>
              <a:t>Welcome the audience. Introduce yourself and the project title: an end-to-end deep learning system for classifying six oral diseases from dental images. State the headline comparison up front — a custom-built CNN versus three transfer learning architectures — so the audience knows the throughline of the whole talk. Mention this is a graduation project also published on Kaggle and GitHub, built fully in Python/TensorFlow.</a:t>
            </a:r>
          </a:p>
        </p:txBody>
      </p:sp>
      <p:sp>
        <p:nvSpPr>
          <p:cNvPr id="4" name="Slide Number Placeholder 3">
            <a:extLst>
              <a:ext uri="{FF2B5EF4-FFF2-40B4-BE49-F238E27FC236}">
                <a16:creationId xmlns:a16="http://schemas.microsoft.com/office/drawing/2014/main" id="{1C585EC0-7E4D-8A1C-102E-2A507409321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735892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transfer learning concept generally before naming specific architectures. Three-step idea: start from an ImageNet-pretrained backbone, freeze its convolutional weights so it acts purely as a feature extractor, then attach a small custom classification head — Dense(256), Dropout, Softmax(6) — trained from scratch on our data. Explain why this works well with a moderate-sized medical imaging dataset: the frozen backbone already knows general visual patterns, so we only need to learn how those patterns map to our 6 specific oral disease classes, which needs far less data than training a full network from scratch.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062D-53FD-6233-93B5-D7D93C580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A02B2-8031-2DB3-9D0D-D2C3DEAA7D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B1D969-8710-4CDE-FB41-526DB3E89F13}"/>
              </a:ext>
            </a:extLst>
          </p:cNvPr>
          <p:cNvSpPr>
            <a:spLocks noGrp="1"/>
          </p:cNvSpPr>
          <p:nvPr>
            <p:ph type="body" idx="1"/>
          </p:nvPr>
        </p:nvSpPr>
        <p:spPr/>
        <p:txBody>
          <a:bodyPr/>
          <a:lstStyle/>
          <a:p>
            <a:r>
              <a:rPr lang="en-US" dirty="0"/>
              <a:t>Explain the transfer learning concept generally before naming specific architectures. Three-step idea: start from an ImageNet-pretrained backbone, freeze its convolutional weights so it acts purely as a feature extractor, then attach a small custom classification head — Dense(256), Dropout, Softmax(6) — trained from scratch on our data. Explain why this works well with a moderate-sized medical imaging dataset: the frozen backbone already knows general visual patterns, so we only need to learn how those patterns map to our 6 specific oral disease classes, which needs far less data than training a full network from scratch.</a:t>
            </a:r>
          </a:p>
        </p:txBody>
      </p:sp>
      <p:sp>
        <p:nvSpPr>
          <p:cNvPr id="4" name="Slide Number Placeholder 3">
            <a:extLst>
              <a:ext uri="{FF2B5EF4-FFF2-40B4-BE49-F238E27FC236}">
                <a16:creationId xmlns:a16="http://schemas.microsoft.com/office/drawing/2014/main" id="{5D7624A6-8D2F-5569-9CED-CF1709BA1EA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49319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2AB6C-3CAE-FEBE-0150-11736BE8D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15C34-12C4-45CA-A3BB-84ACE9D7C8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B7952-7C1E-6301-DD79-6C01B34A7508}"/>
              </a:ext>
            </a:extLst>
          </p:cNvPr>
          <p:cNvSpPr>
            <a:spLocks noGrp="1"/>
          </p:cNvSpPr>
          <p:nvPr>
            <p:ph type="body" idx="1"/>
          </p:nvPr>
        </p:nvSpPr>
        <p:spPr/>
        <p:txBody>
          <a:bodyPr/>
          <a:lstStyle/>
          <a:p>
            <a:r>
              <a:rPr lang="en-US" dirty="0"/>
              <a:t>Explain the transfer learning concept generally before naming specific architectures. Three-step idea: start from an ImageNet-pretrained backbone, freeze its convolutional weights so it acts purely as a feature extractor, then attach a small custom classification head — Dense(256), Dropout, Softmax(6) — trained from scratch on our data. Explain why this works well with a moderate-sized medical imaging dataset: the frozen backbone already knows general visual patterns, so we only need to learn how those patterns map to our 6 specific oral disease classes, which needs far less data than training a full network from scratch.</a:t>
            </a:r>
          </a:p>
        </p:txBody>
      </p:sp>
      <p:sp>
        <p:nvSpPr>
          <p:cNvPr id="4" name="Slide Number Placeholder 3">
            <a:extLst>
              <a:ext uri="{FF2B5EF4-FFF2-40B4-BE49-F238E27FC236}">
                <a16:creationId xmlns:a16="http://schemas.microsoft.com/office/drawing/2014/main" id="{4C24B7BF-3DD6-DEC3-0B73-B6D51CE1144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594870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0D0CA-A4D6-BFBF-B742-177DA5993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6AEA1E-10DE-71E2-8AAC-896CC2F436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BBDE2-F106-9A24-F4A7-5F740ECD4FD5}"/>
              </a:ext>
            </a:extLst>
          </p:cNvPr>
          <p:cNvSpPr>
            <a:spLocks noGrp="1"/>
          </p:cNvSpPr>
          <p:nvPr>
            <p:ph type="body" idx="1"/>
          </p:nvPr>
        </p:nvSpPr>
        <p:spPr/>
        <p:txBody>
          <a:bodyPr/>
          <a:lstStyle/>
          <a:p>
            <a:r>
              <a:rPr lang="en-US" dirty="0"/>
              <a:t>Explain the transfer learning concept generally before naming specific architectures. Three-step idea: start from an ImageNet-pretrained backbone, freeze its convolutional weights so it acts purely as a feature extractor, then attach a small custom classification head — Dense(256), Dropout, Softmax(6) — trained from scratch on our data. Explain why this works well with a moderate-sized medical imaging dataset: the frozen backbone already knows general visual patterns, so we only need to learn how those patterns map to our 6 specific oral disease classes, which needs far less data than training a full network from scratch.</a:t>
            </a:r>
          </a:p>
        </p:txBody>
      </p:sp>
      <p:sp>
        <p:nvSpPr>
          <p:cNvPr id="4" name="Slide Number Placeholder 3">
            <a:extLst>
              <a:ext uri="{FF2B5EF4-FFF2-40B4-BE49-F238E27FC236}">
                <a16:creationId xmlns:a16="http://schemas.microsoft.com/office/drawing/2014/main" id="{45503C25-8491-F512-C49B-6E7ACD84F1A5}"/>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317685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results slide — talk through the grouped bar chart of Train, Validation, and Test accuracy for all four models. Key takeaways: all three transfer learning models clearly beat the custom CNN on test accuracy (around 81-82% vs. 75.8%). Among the transfer learning models, EfficientNetB0 edges out the others on test accuracy at 81.80%, with ResNet50 close behind at 81.67% and MobileNetV2 at 81.20% — the three are very close, which is itself an interesting finding. Also point out the train-to-validation gap is largest for the custom CNN, hinting at more overfitting versus the transfer learning models.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into EfficientNetB0's per-class classification report, since it was the top overall test-accuracy model. Highlight the pattern: Hypodontia and Mouth Ulcer score near-perfectly, both are visually distinctive so the model rarely confuses them. In contrast, Calculus and especially Tooth Discoloration show the weakest recall — 0.62 and 0.52 respectively — meaning the model misses a meaningful share of real cases, even though precision stays high. Explain what high-precision-low-recall means in plain language: when the model does flag the class it's usually correct, but it's too conservative and under-calls it, likely linked to fewer training samples and subtler visual differences from other classes.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lines up all three transfer learning models side by side, per class, on F1-score. Key insight: Hypodontia and Mouth Ulcer are consistently strong across all three architectures — the disease itself is easy, not the model. Tooth Discoloration is where the models diverge most: ResNet50 reaches F1 0.82 there while EfficientNetB0 only reaches 0.67 — a case where a different backbone's inductive bias handles a specific class meaningfully better. This is exactly the kind of insight a single accuracy number would hide, and it's why per-class comparison matters when picking a production model.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confusion matrix as a heatmap and narrate the off-diagonal cells, not just accuracy. The three biggest confusion pairs to call out: Tooth Discoloration gets mispredicted as Caries or Calculus because all three can visually present as darkened or spotted enamel; Calculus and Caries are confused with each other because they frequently co-occur on the same tooth in real patients, so the visual boundary between them is genuinely blurry; meanwhile Hypodontia and Mouth Ulcer stay clean because they're structurally distinctive — a missing tooth or an open sore looks nothing like the others. This is the clinical-domain explanation for the numeric weak spots seen in the previous slides.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first three technical challenges, each in a problem-then-solution structure. First, dataset imbalance: some classes like Hypodontia had far fewer samples than Gingivitis, so we monitored per-class recall closely instead of trusting overall accuracy, and leaned on augmentation for minority classes. Second, choosing augmentation strength: too aggressive risks destroying the subtle visual cues that define classes like discoloration, so ranges were tuned conservatively and checked visually. Third — and this was a real bug encountered — initially applying identical normalization across all backbones silently hurt transfer learning performance; the fix was matching each architecture to its correct Keras preprocess_input function.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with the remaining challenges. Overfitting on the custom CNN was addressed with BatchNorm, Dropout, GlobalAveragePooling, and EarlyStopping to stop at the best epoch rather than training to convergence. Noisy validation curves were smoothed in effect by ReduceLROnPlateau and handled by always checkpointing the best epoch rather than trusting the final one. Finally, mention the meta-challenge of comparing four very different architectures fairly — the fix was standardizing everything possible: input size, classification head design, optimizer, loss, callbacks, and data splits — so the backbone architecture was the only real variable.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big-picture lessons from the project. First, preprocessing correctness matters as much as architecture choice — a mismatched preprocess_input silently cost accuracy. Second, accuracy alone can hide real weaknesses that only per-class precision/recall/F1 reveal, like the Tooth Discoloration recall problem. Third, transfer learning converged faster and generalized better than the custom CNN, with a smaller train-validation gap despite less tuning effort. Fourth, and perhaps the most important takeaway: 'best model' is metric-dependent — EfficientNetB0 wins on overall accuracy but ResNet50 wins specifically on Tooth Discoloration recall, so the right choice depends on what actually matters for deployment.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directions for future work: fine-tuning the unfrozen top layers of the best backbone at a low learning rate; growing the dataset specifically for weak minority classes; ensembling all three transfer learning models for extra robustness; adding Grad-CAM explainability so clinicians can see which image regions drove a prediction; packaging the best model behind a lightweight API or mobile app for real-world screening; and extending to multi-label classification since patients can present multiple oral conditions at once.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home: transfer learning clearly beat the from-scratch CNN, but the more nuanced conclusion is that 'best model' depends on which class matters most for the deployment context — EfficientNetB0 for best overall accuracy, ResNet50 if Tooth Discoloration detection is the priority, MobileNetV2 if inference speed matters most. Close by restating the end-to-end scope of the work delivered: full pipeline from dataset engineering through augmentation, four-model benchmarking, per-class diagnostics, and clinically grounded error analysis.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open the floor for questions. If the session is technical, be ready to go deeper on: why preprocess_input differs per architecture, why GlobalAveragePooling was chosen over Flatten, and the precision/recall tradeoff behind the Tooth Discoloration results. A prepared bank of likely interview questions and answers is provided in the companion document.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hyperlink" Target="https://www.linkedin.com/in/mohammed-mokhtar-26668432b/"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mailto:mohammed.mokhtar.softwareeng@gmail.com" TargetMode="External"/><Relationship Id="rId4" Type="http://schemas.openxmlformats.org/officeDocument/2006/relationships/image" Target="../media/image2.png"/><Relationship Id="rId9" Type="http://schemas.openxmlformats.org/officeDocument/2006/relationships/hyperlink" Target="github.com/mohammedmokhtar77"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6.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0.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1.png"/><Relationship Id="rId7"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6.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2.png"/><Relationship Id="rId7" Type="http://schemas.openxmlformats.org/officeDocument/2006/relationships/hyperlink" Target="https://www.linkedin.com/in/mohammed-mokhtar-26668432b/"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mailto:mohammed.mokhtar.softwareeng@gmail.com" TargetMode="External"/><Relationship Id="rId4" Type="http://schemas.openxmlformats.org/officeDocument/2006/relationships/image" Target="../media/image2.png"/><Relationship Id="rId9" Type="http://schemas.openxmlformats.org/officeDocument/2006/relationships/hyperlink" Target="github.com/mohammedmokhtar77"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4" name="Shape 2"/>
          <p:cNvSpPr/>
          <p:nvPr/>
        </p:nvSpPr>
        <p:spPr>
          <a:xfrm>
            <a:off x="822960" y="777240"/>
            <a:ext cx="960120" cy="960120"/>
          </a:xfrm>
          <a:prstGeom prst="ellipse">
            <a:avLst/>
          </a:prstGeom>
          <a:solidFill>
            <a:srgbClr val="1C7293"/>
          </a:solidFill>
          <a:ln/>
        </p:spPr>
        <p:txBody>
          <a:bodyPr/>
          <a:lstStyle/>
          <a:p>
            <a:endParaRPr lang="en-US"/>
          </a:p>
        </p:txBody>
      </p:sp>
      <p:pic>
        <p:nvPicPr>
          <p:cNvPr id="5" name="Image 0" descr="icons/tooth_FFFFFF.png"/>
          <p:cNvPicPr>
            <a:picLocks noChangeAspect="1"/>
          </p:cNvPicPr>
          <p:nvPr/>
        </p:nvPicPr>
        <p:blipFill>
          <a:blip r:embed="rId3"/>
          <a:stretch>
            <a:fillRect/>
          </a:stretch>
        </p:blipFill>
        <p:spPr>
          <a:xfrm>
            <a:off x="1053389" y="1007669"/>
            <a:ext cx="499262" cy="499262"/>
          </a:xfrm>
          <a:prstGeom prst="rect">
            <a:avLst/>
          </a:prstGeom>
        </p:spPr>
      </p:pic>
      <p:sp>
        <p:nvSpPr>
          <p:cNvPr id="6" name="Text 3"/>
          <p:cNvSpPr/>
          <p:nvPr/>
        </p:nvSpPr>
        <p:spPr>
          <a:xfrm>
            <a:off x="822960" y="2148840"/>
            <a:ext cx="9601200" cy="365760"/>
          </a:xfrm>
          <a:prstGeom prst="rect">
            <a:avLst/>
          </a:prstGeom>
          <a:noFill/>
          <a:ln/>
        </p:spPr>
        <p:txBody>
          <a:bodyPr wrap="square" rtlCol="0" anchor="ctr"/>
          <a:lstStyle/>
          <a:p>
            <a:pPr marL="0" indent="0">
              <a:buNone/>
            </a:pPr>
            <a:r>
              <a:rPr lang="en-US" sz="1300" b="1" kern="0" spc="200" dirty="0">
                <a:solidFill>
                  <a:srgbClr val="6FD3C7"/>
                </a:solidFill>
                <a:latin typeface="Calibri" pitchFamily="34" charset="0"/>
                <a:ea typeface="Calibri" pitchFamily="34" charset="-122"/>
                <a:cs typeface="Calibri" pitchFamily="34" charset="-120"/>
              </a:rPr>
              <a:t>DEEP LEARNING · COMPUTER VISION · GRADUATION PROJECT</a:t>
            </a:r>
            <a:endParaRPr lang="en-US" sz="1300" dirty="0"/>
          </a:p>
        </p:txBody>
      </p:sp>
      <p:sp>
        <p:nvSpPr>
          <p:cNvPr id="7" name="Text 4"/>
          <p:cNvSpPr/>
          <p:nvPr/>
        </p:nvSpPr>
        <p:spPr>
          <a:xfrm>
            <a:off x="822960" y="2560320"/>
            <a:ext cx="10241280" cy="173736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Oral Diseases Classification</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using Deep Learning and Transfer Learning</a:t>
            </a:r>
            <a:endParaRPr lang="en-US" sz="4000" dirty="0"/>
          </a:p>
        </p:txBody>
      </p:sp>
      <p:sp>
        <p:nvSpPr>
          <p:cNvPr id="8" name="Text 5"/>
          <p:cNvSpPr/>
          <p:nvPr/>
        </p:nvSpPr>
        <p:spPr>
          <a:xfrm>
            <a:off x="822960" y="4343400"/>
            <a:ext cx="8961120" cy="640080"/>
          </a:xfrm>
          <a:prstGeom prst="rect">
            <a:avLst/>
          </a:prstGeom>
          <a:noFill/>
          <a:ln/>
        </p:spPr>
        <p:txBody>
          <a:bodyPr wrap="square" rtlCol="0" anchor="ctr"/>
          <a:lstStyle/>
          <a:p>
            <a:pPr marL="0" indent="0">
              <a:buNone/>
            </a:pPr>
            <a:r>
              <a:rPr lang="en-US" sz="1500" dirty="0">
                <a:solidFill>
                  <a:srgbClr val="C9D6E3"/>
                </a:solidFill>
                <a:latin typeface="Calibri" pitchFamily="34" charset="0"/>
                <a:ea typeface="Calibri" pitchFamily="34" charset="-122"/>
                <a:cs typeface="Calibri" pitchFamily="34" charset="-120"/>
              </a:rPr>
              <a:t>Benchmarking a Custom CNN against EfficientNetB0, ResNet50, and MobileNetV2 for six-class dental image classification</a:t>
            </a:r>
            <a:endParaRPr lang="en-US" sz="1500" dirty="0"/>
          </a:p>
        </p:txBody>
      </p:sp>
      <p:sp>
        <p:nvSpPr>
          <p:cNvPr id="9" name="Shape 6"/>
          <p:cNvSpPr/>
          <p:nvPr/>
        </p:nvSpPr>
        <p:spPr>
          <a:xfrm>
            <a:off x="822960" y="5212080"/>
            <a:ext cx="777240" cy="384048"/>
          </a:xfrm>
          <a:prstGeom prst="roundRect">
            <a:avLst>
              <a:gd name="adj" fmla="val 19048"/>
            </a:avLst>
          </a:prstGeom>
          <a:solidFill>
            <a:srgbClr val="1B3A6B"/>
          </a:solidFill>
          <a:ln w="12700">
            <a:solidFill>
              <a:srgbClr val="1C7293"/>
            </a:solidFill>
            <a:prstDash val="solid"/>
          </a:ln>
        </p:spPr>
        <p:txBody>
          <a:bodyPr/>
          <a:lstStyle/>
          <a:p>
            <a:endParaRPr lang="en-US"/>
          </a:p>
        </p:txBody>
      </p:sp>
      <p:sp>
        <p:nvSpPr>
          <p:cNvPr id="10" name="Text 7"/>
          <p:cNvSpPr/>
          <p:nvPr/>
        </p:nvSpPr>
        <p:spPr>
          <a:xfrm>
            <a:off x="822960" y="5212080"/>
            <a:ext cx="777240" cy="384048"/>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Python</a:t>
            </a:r>
            <a:endParaRPr lang="en-US" sz="1150" dirty="0"/>
          </a:p>
        </p:txBody>
      </p:sp>
      <p:sp>
        <p:nvSpPr>
          <p:cNvPr id="11" name="Shape 8"/>
          <p:cNvSpPr/>
          <p:nvPr/>
        </p:nvSpPr>
        <p:spPr>
          <a:xfrm>
            <a:off x="1764792" y="5212080"/>
            <a:ext cx="1929384" cy="384048"/>
          </a:xfrm>
          <a:prstGeom prst="roundRect">
            <a:avLst>
              <a:gd name="adj" fmla="val 19048"/>
            </a:avLst>
          </a:prstGeom>
          <a:solidFill>
            <a:srgbClr val="1B3A6B"/>
          </a:solidFill>
          <a:ln w="12700">
            <a:solidFill>
              <a:srgbClr val="1C7293"/>
            </a:solidFill>
            <a:prstDash val="solid"/>
          </a:ln>
        </p:spPr>
        <p:txBody>
          <a:bodyPr/>
          <a:lstStyle/>
          <a:p>
            <a:endParaRPr lang="en-US"/>
          </a:p>
        </p:txBody>
      </p:sp>
      <p:sp>
        <p:nvSpPr>
          <p:cNvPr id="12" name="Text 9"/>
          <p:cNvSpPr/>
          <p:nvPr/>
        </p:nvSpPr>
        <p:spPr>
          <a:xfrm>
            <a:off x="1764792" y="5212080"/>
            <a:ext cx="1929384" cy="384048"/>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TensorFlow / Keras</a:t>
            </a:r>
            <a:endParaRPr lang="en-US" sz="1150" dirty="0"/>
          </a:p>
        </p:txBody>
      </p:sp>
      <p:sp>
        <p:nvSpPr>
          <p:cNvPr id="13" name="Shape 10"/>
          <p:cNvSpPr/>
          <p:nvPr/>
        </p:nvSpPr>
        <p:spPr>
          <a:xfrm>
            <a:off x="3858768" y="5212080"/>
            <a:ext cx="777240" cy="384048"/>
          </a:xfrm>
          <a:prstGeom prst="roundRect">
            <a:avLst>
              <a:gd name="adj" fmla="val 19048"/>
            </a:avLst>
          </a:prstGeom>
          <a:solidFill>
            <a:srgbClr val="1B3A6B"/>
          </a:solidFill>
          <a:ln w="12700">
            <a:solidFill>
              <a:srgbClr val="1C7293"/>
            </a:solidFill>
            <a:prstDash val="solid"/>
          </a:ln>
        </p:spPr>
        <p:txBody>
          <a:bodyPr/>
          <a:lstStyle/>
          <a:p>
            <a:endParaRPr lang="en-US"/>
          </a:p>
        </p:txBody>
      </p:sp>
      <p:sp>
        <p:nvSpPr>
          <p:cNvPr id="14" name="Text 11"/>
          <p:cNvSpPr/>
          <p:nvPr/>
        </p:nvSpPr>
        <p:spPr>
          <a:xfrm>
            <a:off x="3858768" y="5212080"/>
            <a:ext cx="777240" cy="384048"/>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Kaggle</a:t>
            </a:r>
            <a:endParaRPr lang="en-US" sz="1150" dirty="0"/>
          </a:p>
        </p:txBody>
      </p:sp>
      <p:sp>
        <p:nvSpPr>
          <p:cNvPr id="15" name="Shape 12"/>
          <p:cNvSpPr/>
          <p:nvPr/>
        </p:nvSpPr>
        <p:spPr>
          <a:xfrm>
            <a:off x="4800600" y="5212080"/>
            <a:ext cx="1833372" cy="384048"/>
          </a:xfrm>
          <a:prstGeom prst="roundRect">
            <a:avLst>
              <a:gd name="adj" fmla="val 19048"/>
            </a:avLst>
          </a:prstGeom>
          <a:solidFill>
            <a:srgbClr val="1B3A6B"/>
          </a:solidFill>
          <a:ln w="12700">
            <a:solidFill>
              <a:srgbClr val="1C7293"/>
            </a:solidFill>
            <a:prstDash val="solid"/>
          </a:ln>
        </p:spPr>
        <p:txBody>
          <a:bodyPr/>
          <a:lstStyle/>
          <a:p>
            <a:endParaRPr lang="en-US"/>
          </a:p>
        </p:txBody>
      </p:sp>
      <p:sp>
        <p:nvSpPr>
          <p:cNvPr id="16" name="Text 13"/>
          <p:cNvSpPr/>
          <p:nvPr/>
        </p:nvSpPr>
        <p:spPr>
          <a:xfrm>
            <a:off x="4800600" y="5212080"/>
            <a:ext cx="1833372" cy="384048"/>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Transfer Learning</a:t>
            </a:r>
            <a:endParaRPr lang="en-US" sz="1150" dirty="0"/>
          </a:p>
        </p:txBody>
      </p:sp>
      <p:sp>
        <p:nvSpPr>
          <p:cNvPr id="17" name="Text 14"/>
          <p:cNvSpPr/>
          <p:nvPr/>
        </p:nvSpPr>
        <p:spPr>
          <a:xfrm>
            <a:off x="822960" y="5989320"/>
            <a:ext cx="8229600" cy="365760"/>
          </a:xfrm>
          <a:prstGeom prst="rect">
            <a:avLst/>
          </a:prstGeom>
          <a:noFill/>
          <a:ln/>
        </p:spPr>
        <p:txBody>
          <a:bodyPr wrap="square" rtlCol="0" anchor="ctr"/>
          <a:lstStyle/>
          <a:p>
            <a:pPr marL="0" indent="0">
              <a:buNone/>
            </a:pPr>
            <a:r>
              <a:rPr lang="en-US" b="1" dirty="0">
                <a:solidFill>
                  <a:schemeClr val="bg1"/>
                </a:solidFill>
                <a:latin typeface="Calibri" pitchFamily="34" charset="0"/>
                <a:ea typeface="Calibri" pitchFamily="34" charset="-122"/>
                <a:cs typeface="Calibri" pitchFamily="34" charset="-120"/>
              </a:rPr>
              <a:t>Mohammed Mokhtar</a:t>
            </a:r>
            <a:endParaRPr lang="en-US" b="1" dirty="0">
              <a:solidFill>
                <a:schemeClr val="bg1"/>
              </a:solidFill>
            </a:endParaRPr>
          </a:p>
        </p:txBody>
      </p:sp>
      <p:sp>
        <p:nvSpPr>
          <p:cNvPr id="19" name="Text 8">
            <a:extLst>
              <a:ext uri="{FF2B5EF4-FFF2-40B4-BE49-F238E27FC236}">
                <a16:creationId xmlns:a16="http://schemas.microsoft.com/office/drawing/2014/main" id="{281D5A2B-2A29-CC9A-A9B8-9146A4D26FD7}"/>
              </a:ext>
            </a:extLst>
          </p:cNvPr>
          <p:cNvSpPr/>
          <p:nvPr/>
        </p:nvSpPr>
        <p:spPr>
          <a:xfrm>
            <a:off x="822960" y="6342888"/>
            <a:ext cx="7315200" cy="32004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AI Engineer &amp; Data Scientist|  Kaggle Master  |  Computers&amp; AI, Cairo University</a:t>
            </a:r>
            <a:endParaRPr lang="en-US" sz="1400" dirty="0">
              <a:solidFill>
                <a:schemeClr val="bg1"/>
              </a:solidFill>
            </a:endParaRPr>
          </a:p>
        </p:txBody>
      </p:sp>
      <p:sp>
        <p:nvSpPr>
          <p:cNvPr id="21" name="Shape 6">
            <a:extLst>
              <a:ext uri="{FF2B5EF4-FFF2-40B4-BE49-F238E27FC236}">
                <a16:creationId xmlns:a16="http://schemas.microsoft.com/office/drawing/2014/main" id="{987EEFBC-6405-D52C-4C9E-2547DEA9D360}"/>
              </a:ext>
            </a:extLst>
          </p:cNvPr>
          <p:cNvSpPr/>
          <p:nvPr/>
        </p:nvSpPr>
        <p:spPr>
          <a:xfrm>
            <a:off x="7799832" y="5212080"/>
            <a:ext cx="365760" cy="365760"/>
          </a:xfrm>
          <a:prstGeom prst="ellipse">
            <a:avLst/>
          </a:prstGeom>
          <a:solidFill>
            <a:srgbClr val="1C7293"/>
          </a:solidFill>
          <a:ln/>
        </p:spPr>
        <p:txBody>
          <a:bodyPr/>
          <a:lstStyle/>
          <a:p>
            <a:endParaRPr lang="en-US"/>
          </a:p>
        </p:txBody>
      </p:sp>
      <p:pic>
        <p:nvPicPr>
          <p:cNvPr id="23" name="Image 1" descr="preencoded.png">
            <a:extLst>
              <a:ext uri="{FF2B5EF4-FFF2-40B4-BE49-F238E27FC236}">
                <a16:creationId xmlns:a16="http://schemas.microsoft.com/office/drawing/2014/main" id="{D4E93F5B-8F2E-3BA5-14F9-72787CDD5070}"/>
              </a:ext>
            </a:extLst>
          </p:cNvPr>
          <p:cNvPicPr>
            <a:picLocks noChangeAspect="1"/>
          </p:cNvPicPr>
          <p:nvPr/>
        </p:nvPicPr>
        <p:blipFill>
          <a:blip r:embed="rId4"/>
          <a:stretch>
            <a:fillRect/>
          </a:stretch>
        </p:blipFill>
        <p:spPr>
          <a:xfrm>
            <a:off x="7882128" y="5298948"/>
            <a:ext cx="201168" cy="201168"/>
          </a:xfrm>
          <a:prstGeom prst="rect">
            <a:avLst/>
          </a:prstGeom>
        </p:spPr>
      </p:pic>
      <p:sp>
        <p:nvSpPr>
          <p:cNvPr id="25" name="Text 7">
            <a:extLst>
              <a:ext uri="{FF2B5EF4-FFF2-40B4-BE49-F238E27FC236}">
                <a16:creationId xmlns:a16="http://schemas.microsoft.com/office/drawing/2014/main" id="{32DAF5D5-5F04-BECB-4CF0-D746C9DFD8EE}"/>
              </a:ext>
            </a:extLst>
          </p:cNvPr>
          <p:cNvSpPr/>
          <p:nvPr/>
        </p:nvSpPr>
        <p:spPr>
          <a:xfrm>
            <a:off x="8302752" y="5212080"/>
            <a:ext cx="4572000" cy="365760"/>
          </a:xfrm>
          <a:prstGeom prst="rect">
            <a:avLst/>
          </a:prstGeom>
          <a:noFill/>
          <a:ln/>
        </p:spPr>
        <p:txBody>
          <a:bodyPr wrap="square" lIns="0" tIns="0" rIns="0" bIns="0" rtlCol="0" anchor="ctr"/>
          <a:lstStyle/>
          <a:p>
            <a:pPr marL="0" indent="0">
              <a:buNone/>
            </a:pPr>
            <a:r>
              <a:rPr lang="en-US" sz="1150" dirty="0">
                <a:solidFill>
                  <a:schemeClr val="bg1"/>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mohammed.mokhtar.softwareeng@gmail.com</a:t>
            </a:r>
            <a:endParaRPr lang="en-US" sz="1150" dirty="0">
              <a:solidFill>
                <a:schemeClr val="bg1"/>
              </a:solidFill>
            </a:endParaRPr>
          </a:p>
        </p:txBody>
      </p:sp>
      <p:sp>
        <p:nvSpPr>
          <p:cNvPr id="27" name="Shape 8">
            <a:extLst>
              <a:ext uri="{FF2B5EF4-FFF2-40B4-BE49-F238E27FC236}">
                <a16:creationId xmlns:a16="http://schemas.microsoft.com/office/drawing/2014/main" id="{213BEDD9-02C7-810E-09D6-921CA280C550}"/>
              </a:ext>
            </a:extLst>
          </p:cNvPr>
          <p:cNvSpPr/>
          <p:nvPr/>
        </p:nvSpPr>
        <p:spPr>
          <a:xfrm>
            <a:off x="7799832" y="5669280"/>
            <a:ext cx="365760" cy="365760"/>
          </a:xfrm>
          <a:prstGeom prst="ellipse">
            <a:avLst/>
          </a:prstGeom>
          <a:solidFill>
            <a:srgbClr val="1C7293"/>
          </a:solidFill>
          <a:ln/>
        </p:spPr>
        <p:txBody>
          <a:bodyPr/>
          <a:lstStyle/>
          <a:p>
            <a:endParaRPr lang="en-US"/>
          </a:p>
        </p:txBody>
      </p:sp>
      <p:pic>
        <p:nvPicPr>
          <p:cNvPr id="29" name="Image 2" descr="preencoded.png">
            <a:extLst>
              <a:ext uri="{FF2B5EF4-FFF2-40B4-BE49-F238E27FC236}">
                <a16:creationId xmlns:a16="http://schemas.microsoft.com/office/drawing/2014/main" id="{730B4A73-2CAB-4369-162D-544BC2AFAFF1}"/>
              </a:ext>
            </a:extLst>
          </p:cNvPr>
          <p:cNvPicPr>
            <a:picLocks noChangeAspect="1"/>
          </p:cNvPicPr>
          <p:nvPr/>
        </p:nvPicPr>
        <p:blipFill>
          <a:blip r:embed="rId6"/>
          <a:stretch>
            <a:fillRect/>
          </a:stretch>
        </p:blipFill>
        <p:spPr>
          <a:xfrm>
            <a:off x="7882128" y="5751576"/>
            <a:ext cx="201168" cy="201168"/>
          </a:xfrm>
          <a:prstGeom prst="rect">
            <a:avLst/>
          </a:prstGeom>
        </p:spPr>
      </p:pic>
      <p:sp>
        <p:nvSpPr>
          <p:cNvPr id="31" name="Text 9">
            <a:extLst>
              <a:ext uri="{FF2B5EF4-FFF2-40B4-BE49-F238E27FC236}">
                <a16:creationId xmlns:a16="http://schemas.microsoft.com/office/drawing/2014/main" id="{093CC669-1531-B480-DDB8-29BD422661E3}"/>
              </a:ext>
            </a:extLst>
          </p:cNvPr>
          <p:cNvSpPr/>
          <p:nvPr/>
        </p:nvSpPr>
        <p:spPr>
          <a:xfrm>
            <a:off x="8302752" y="5669280"/>
            <a:ext cx="4572000" cy="365760"/>
          </a:xfrm>
          <a:prstGeom prst="rect">
            <a:avLst/>
          </a:prstGeom>
          <a:noFill/>
          <a:ln/>
        </p:spPr>
        <p:txBody>
          <a:bodyPr wrap="square" lIns="0" tIns="0" rIns="0" bIns="0" rtlCol="0" anchor="ctr"/>
          <a:lstStyle/>
          <a:p>
            <a:r>
              <a:rPr lang="en-US" sz="1150" dirty="0">
                <a:solidFill>
                  <a:schemeClr val="bg1"/>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https://www.linkedin.com/in/mohammed-mokhtar-26668432b/</a:t>
            </a:r>
            <a:endParaRPr lang="en-US" sz="1150" dirty="0">
              <a:solidFill>
                <a:schemeClr val="bg1"/>
              </a:solidFill>
            </a:endParaRPr>
          </a:p>
        </p:txBody>
      </p:sp>
      <p:sp>
        <p:nvSpPr>
          <p:cNvPr id="33" name="Shape 10">
            <a:extLst>
              <a:ext uri="{FF2B5EF4-FFF2-40B4-BE49-F238E27FC236}">
                <a16:creationId xmlns:a16="http://schemas.microsoft.com/office/drawing/2014/main" id="{4757C799-F091-F110-DEF2-1051CBF12C43}"/>
              </a:ext>
            </a:extLst>
          </p:cNvPr>
          <p:cNvSpPr/>
          <p:nvPr/>
        </p:nvSpPr>
        <p:spPr>
          <a:xfrm>
            <a:off x="7799832" y="6126480"/>
            <a:ext cx="365760" cy="365760"/>
          </a:xfrm>
          <a:prstGeom prst="ellipse">
            <a:avLst/>
          </a:prstGeom>
          <a:solidFill>
            <a:srgbClr val="1C7293"/>
          </a:solidFill>
          <a:ln/>
        </p:spPr>
        <p:txBody>
          <a:bodyPr/>
          <a:lstStyle/>
          <a:p>
            <a:endParaRPr lang="en-US"/>
          </a:p>
        </p:txBody>
      </p:sp>
      <p:pic>
        <p:nvPicPr>
          <p:cNvPr id="35" name="Image 3" descr="preencoded.png">
            <a:extLst>
              <a:ext uri="{FF2B5EF4-FFF2-40B4-BE49-F238E27FC236}">
                <a16:creationId xmlns:a16="http://schemas.microsoft.com/office/drawing/2014/main" id="{16BC5D02-B181-0142-FC3A-40D9D08824ED}"/>
              </a:ext>
            </a:extLst>
          </p:cNvPr>
          <p:cNvPicPr>
            <a:picLocks noChangeAspect="1"/>
          </p:cNvPicPr>
          <p:nvPr/>
        </p:nvPicPr>
        <p:blipFill>
          <a:blip r:embed="rId8"/>
          <a:stretch>
            <a:fillRect/>
          </a:stretch>
        </p:blipFill>
        <p:spPr>
          <a:xfrm>
            <a:off x="7882128" y="6208776"/>
            <a:ext cx="201168" cy="201168"/>
          </a:xfrm>
          <a:prstGeom prst="rect">
            <a:avLst/>
          </a:prstGeom>
        </p:spPr>
      </p:pic>
      <p:sp>
        <p:nvSpPr>
          <p:cNvPr id="37" name="Text 11">
            <a:extLst>
              <a:ext uri="{FF2B5EF4-FFF2-40B4-BE49-F238E27FC236}">
                <a16:creationId xmlns:a16="http://schemas.microsoft.com/office/drawing/2014/main" id="{2F243583-2507-8EAF-4964-37782D34A8AD}"/>
              </a:ext>
            </a:extLst>
          </p:cNvPr>
          <p:cNvSpPr/>
          <p:nvPr/>
        </p:nvSpPr>
        <p:spPr>
          <a:xfrm>
            <a:off x="8302752" y="6126480"/>
            <a:ext cx="4572000" cy="365760"/>
          </a:xfrm>
          <a:prstGeom prst="rect">
            <a:avLst/>
          </a:prstGeom>
          <a:noFill/>
          <a:ln/>
        </p:spPr>
        <p:txBody>
          <a:bodyPr wrap="square" lIns="0" tIns="0" rIns="0" bIns="0" rtlCol="0" anchor="ctr"/>
          <a:lstStyle/>
          <a:p>
            <a:pPr marL="0" indent="0">
              <a:buNone/>
            </a:pPr>
            <a:r>
              <a:rPr lang="en-US" sz="1150" dirty="0">
                <a:solidFill>
                  <a:schemeClr val="bg1"/>
                </a:solidFill>
                <a:latin typeface="Calibri" pitchFamily="34" charset="0"/>
                <a:ea typeface="Calibri" pitchFamily="34" charset="-122"/>
                <a:cs typeface="Calibri" pitchFamily="34" charset="-120"/>
                <a:hlinkClick r:id="rId9" action="ppaction://hlinkfile">
                  <a:extLst>
                    <a:ext uri="{A12FA001-AC4F-418D-AE19-62706E023703}">
                      <ahyp:hlinkClr xmlns:ahyp="http://schemas.microsoft.com/office/drawing/2018/hyperlinkcolor" val="tx"/>
                    </a:ext>
                  </a:extLst>
                </a:hlinkClick>
              </a:rPr>
              <a:t>github.com/mohammedmokhtar77</a:t>
            </a:r>
            <a:endParaRPr lang="en-US" sz="115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39208F0C-C9A8-ABE3-0D29-DC3E53FCEA0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EAB30EFE-30BD-CC2B-485F-5C81C5CB71D3}"/>
              </a:ext>
            </a:extLst>
          </p:cNvPr>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chemeClr val="bg1"/>
                </a:solidFill>
                <a:latin typeface="Calibri" pitchFamily="34" charset="0"/>
                <a:ea typeface="Calibri" pitchFamily="34" charset="-122"/>
                <a:cs typeface="Calibri" pitchFamily="34" charset="-120"/>
              </a:rPr>
              <a:t>THE PROBLEM</a:t>
            </a:r>
            <a:endParaRPr lang="en-US" sz="1300" dirty="0">
              <a:solidFill>
                <a:schemeClr val="bg1"/>
              </a:solidFill>
            </a:endParaRPr>
          </a:p>
        </p:txBody>
      </p:sp>
      <p:sp>
        <p:nvSpPr>
          <p:cNvPr id="20" name="Text 1">
            <a:extLst>
              <a:ext uri="{FF2B5EF4-FFF2-40B4-BE49-F238E27FC236}">
                <a16:creationId xmlns:a16="http://schemas.microsoft.com/office/drawing/2014/main" id="{479A28A0-265A-4E59-6EB3-8C04BF99BB5E}"/>
              </a:ext>
            </a:extLst>
          </p:cNvPr>
          <p:cNvSpPr/>
          <p:nvPr/>
        </p:nvSpPr>
        <p:spPr>
          <a:xfrm>
            <a:off x="548640" y="685800"/>
            <a:ext cx="10789920" cy="822960"/>
          </a:xfrm>
          <a:prstGeom prst="rect">
            <a:avLst/>
          </a:prstGeom>
          <a:noFill/>
          <a:ln/>
        </p:spPr>
        <p:txBody>
          <a:bodyPr wrap="square"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Why Automated Oral Disease Detection Matters</a:t>
            </a:r>
            <a:endParaRPr lang="en-US" sz="3200" dirty="0">
              <a:solidFill>
                <a:schemeClr val="bg1"/>
              </a:solidFill>
            </a:endParaRPr>
          </a:p>
        </p:txBody>
      </p:sp>
      <p:sp>
        <p:nvSpPr>
          <p:cNvPr id="24" name="Shape 2">
            <a:extLst>
              <a:ext uri="{FF2B5EF4-FFF2-40B4-BE49-F238E27FC236}">
                <a16:creationId xmlns:a16="http://schemas.microsoft.com/office/drawing/2014/main" id="{035C8E52-01B9-A7D4-B826-64C2F027C597}"/>
              </a:ext>
            </a:extLst>
          </p:cNvPr>
          <p:cNvSpPr/>
          <p:nvPr/>
        </p:nvSpPr>
        <p:spPr>
          <a:xfrm>
            <a:off x="548640" y="1783080"/>
            <a:ext cx="566928" cy="566928"/>
          </a:xfrm>
          <a:prstGeom prst="ellipse">
            <a:avLst/>
          </a:prstGeom>
          <a:solidFill>
            <a:srgbClr val="F4F7F9"/>
          </a:solidFill>
          <a:ln/>
        </p:spPr>
        <p:txBody>
          <a:bodyPr/>
          <a:lstStyle/>
          <a:p>
            <a:endParaRPr lang="en-US"/>
          </a:p>
        </p:txBody>
      </p:sp>
      <p:pic>
        <p:nvPicPr>
          <p:cNvPr id="28" name="Image 0" descr="icons/warning_065A82.png">
            <a:extLst>
              <a:ext uri="{FF2B5EF4-FFF2-40B4-BE49-F238E27FC236}">
                <a16:creationId xmlns:a16="http://schemas.microsoft.com/office/drawing/2014/main" id="{8F65AFC2-127D-089A-A543-7CF251CEB94F}"/>
              </a:ext>
            </a:extLst>
          </p:cNvPr>
          <p:cNvPicPr>
            <a:picLocks noChangeAspect="1"/>
          </p:cNvPicPr>
          <p:nvPr/>
        </p:nvPicPr>
        <p:blipFill>
          <a:blip r:embed="rId3"/>
          <a:stretch>
            <a:fillRect/>
          </a:stretch>
        </p:blipFill>
        <p:spPr>
          <a:xfrm>
            <a:off x="684703" y="1919143"/>
            <a:ext cx="294803" cy="294803"/>
          </a:xfrm>
          <a:prstGeom prst="rect">
            <a:avLst/>
          </a:prstGeom>
        </p:spPr>
      </p:pic>
      <p:sp>
        <p:nvSpPr>
          <p:cNvPr id="32" name="Text 3">
            <a:extLst>
              <a:ext uri="{FF2B5EF4-FFF2-40B4-BE49-F238E27FC236}">
                <a16:creationId xmlns:a16="http://schemas.microsoft.com/office/drawing/2014/main" id="{84414C01-8862-6F94-BD4A-B21E6BB355DB}"/>
              </a:ext>
            </a:extLst>
          </p:cNvPr>
          <p:cNvSpPr/>
          <p:nvPr/>
        </p:nvSpPr>
        <p:spPr>
          <a:xfrm>
            <a:off x="1280160" y="1764792"/>
            <a:ext cx="5303520" cy="320040"/>
          </a:xfrm>
          <a:prstGeom prst="rect">
            <a:avLst/>
          </a:prstGeom>
          <a:noFill/>
          <a:ln/>
        </p:spPr>
        <p:txBody>
          <a:bodyPr wrap="square" rtlCol="0" anchor="ctr"/>
          <a:lstStyle/>
          <a:p>
            <a:pPr marL="0" indent="0">
              <a:buNone/>
            </a:pPr>
            <a:r>
              <a:rPr lang="en-US" sz="1600" b="1" dirty="0">
                <a:solidFill>
                  <a:schemeClr val="bg1"/>
                </a:solidFill>
                <a:latin typeface="Cambria" pitchFamily="34" charset="0"/>
                <a:ea typeface="Cambria" pitchFamily="34" charset="-122"/>
                <a:cs typeface="Cambria" pitchFamily="34" charset="-120"/>
              </a:rPr>
              <a:t>Dental screening is manual and inconsistent</a:t>
            </a:r>
            <a:endParaRPr lang="en-US" sz="1600" dirty="0">
              <a:solidFill>
                <a:schemeClr val="bg1"/>
              </a:solidFill>
            </a:endParaRPr>
          </a:p>
        </p:txBody>
      </p:sp>
      <p:sp>
        <p:nvSpPr>
          <p:cNvPr id="36" name="Text 4">
            <a:extLst>
              <a:ext uri="{FF2B5EF4-FFF2-40B4-BE49-F238E27FC236}">
                <a16:creationId xmlns:a16="http://schemas.microsoft.com/office/drawing/2014/main" id="{8C06F719-DF7E-7CB6-7B16-BFC01BCF1833}"/>
              </a:ext>
            </a:extLst>
          </p:cNvPr>
          <p:cNvSpPr/>
          <p:nvPr/>
        </p:nvSpPr>
        <p:spPr>
          <a:xfrm>
            <a:off x="1280160" y="1869948"/>
            <a:ext cx="5394960" cy="777240"/>
          </a:xfrm>
          <a:prstGeom prst="rect">
            <a:avLst/>
          </a:prstGeom>
          <a:noFill/>
          <a:ln/>
        </p:spPr>
        <p:txBody>
          <a:bodyPr wrap="square" rtlCol="0" anchor="ctr"/>
          <a:lstStyle/>
          <a:p>
            <a:pPr marL="0" indent="0">
              <a:lnSpc>
                <a:spcPct val="115000"/>
              </a:lnSpc>
              <a:buNone/>
            </a:pPr>
            <a:r>
              <a:rPr lang="en-US" sz="1250" dirty="0">
                <a:solidFill>
                  <a:schemeClr val="bg1"/>
                </a:solidFill>
                <a:latin typeface="Calibri" pitchFamily="34" charset="0"/>
                <a:ea typeface="Calibri" pitchFamily="34" charset="-122"/>
                <a:cs typeface="Calibri" pitchFamily="34" charset="-120"/>
              </a:rPr>
              <a:t>Diagnosis relies on visual inspection by dentists — subjective, slow, and hard to scale across clinics.</a:t>
            </a:r>
            <a:endParaRPr lang="en-US" sz="1250" dirty="0">
              <a:solidFill>
                <a:schemeClr val="bg1"/>
              </a:solidFill>
            </a:endParaRPr>
          </a:p>
        </p:txBody>
      </p:sp>
      <p:sp>
        <p:nvSpPr>
          <p:cNvPr id="39" name="Shape 5">
            <a:extLst>
              <a:ext uri="{FF2B5EF4-FFF2-40B4-BE49-F238E27FC236}">
                <a16:creationId xmlns:a16="http://schemas.microsoft.com/office/drawing/2014/main" id="{83EA1799-3CE9-24D6-3849-C19EE9F4EFAC}"/>
              </a:ext>
            </a:extLst>
          </p:cNvPr>
          <p:cNvSpPr/>
          <p:nvPr/>
        </p:nvSpPr>
        <p:spPr>
          <a:xfrm>
            <a:off x="548640" y="3200400"/>
            <a:ext cx="566928" cy="566928"/>
          </a:xfrm>
          <a:prstGeom prst="ellipse">
            <a:avLst/>
          </a:prstGeom>
          <a:solidFill>
            <a:srgbClr val="F4F7F9"/>
          </a:solidFill>
          <a:ln/>
        </p:spPr>
        <p:txBody>
          <a:bodyPr/>
          <a:lstStyle/>
          <a:p>
            <a:endParaRPr lang="en-US"/>
          </a:p>
        </p:txBody>
      </p:sp>
      <p:pic>
        <p:nvPicPr>
          <p:cNvPr id="41" name="Image 1" descr="icons/search_065A82.png">
            <a:extLst>
              <a:ext uri="{FF2B5EF4-FFF2-40B4-BE49-F238E27FC236}">
                <a16:creationId xmlns:a16="http://schemas.microsoft.com/office/drawing/2014/main" id="{4E098001-D346-7768-C286-17E655C2FE20}"/>
              </a:ext>
            </a:extLst>
          </p:cNvPr>
          <p:cNvPicPr>
            <a:picLocks noChangeAspect="1"/>
          </p:cNvPicPr>
          <p:nvPr/>
        </p:nvPicPr>
        <p:blipFill>
          <a:blip r:embed="rId4"/>
          <a:stretch>
            <a:fillRect/>
          </a:stretch>
        </p:blipFill>
        <p:spPr>
          <a:xfrm>
            <a:off x="684703" y="3336463"/>
            <a:ext cx="294803" cy="294803"/>
          </a:xfrm>
          <a:prstGeom prst="rect">
            <a:avLst/>
          </a:prstGeom>
        </p:spPr>
      </p:pic>
      <p:sp>
        <p:nvSpPr>
          <p:cNvPr id="43" name="Text 6">
            <a:extLst>
              <a:ext uri="{FF2B5EF4-FFF2-40B4-BE49-F238E27FC236}">
                <a16:creationId xmlns:a16="http://schemas.microsoft.com/office/drawing/2014/main" id="{722A5923-CE57-C2AA-C6BF-852CB631CF92}"/>
              </a:ext>
            </a:extLst>
          </p:cNvPr>
          <p:cNvSpPr/>
          <p:nvPr/>
        </p:nvSpPr>
        <p:spPr>
          <a:xfrm>
            <a:off x="1280160" y="3182112"/>
            <a:ext cx="5303520" cy="320040"/>
          </a:xfrm>
          <a:prstGeom prst="rect">
            <a:avLst/>
          </a:prstGeom>
          <a:noFill/>
          <a:ln/>
        </p:spPr>
        <p:txBody>
          <a:bodyPr wrap="square" rtlCol="0" anchor="ctr"/>
          <a:lstStyle/>
          <a:p>
            <a:pPr marL="0" indent="0">
              <a:buNone/>
            </a:pPr>
            <a:r>
              <a:rPr lang="en-US" sz="1600" b="1" dirty="0">
                <a:solidFill>
                  <a:schemeClr val="bg1"/>
                </a:solidFill>
                <a:latin typeface="Cambria" pitchFamily="34" charset="0"/>
                <a:ea typeface="Cambria" pitchFamily="34" charset="-122"/>
                <a:cs typeface="Cambria" pitchFamily="34" charset="-120"/>
              </a:rPr>
              <a:t>Early-stage oral disease is often missed</a:t>
            </a:r>
            <a:endParaRPr lang="en-US" sz="1600" dirty="0">
              <a:solidFill>
                <a:schemeClr val="bg1"/>
              </a:solidFill>
            </a:endParaRPr>
          </a:p>
        </p:txBody>
      </p:sp>
      <p:sp>
        <p:nvSpPr>
          <p:cNvPr id="45" name="Text 7">
            <a:extLst>
              <a:ext uri="{FF2B5EF4-FFF2-40B4-BE49-F238E27FC236}">
                <a16:creationId xmlns:a16="http://schemas.microsoft.com/office/drawing/2014/main" id="{C3C5174E-F9C7-8051-867D-69DE23956FDE}"/>
              </a:ext>
            </a:extLst>
          </p:cNvPr>
          <p:cNvSpPr/>
          <p:nvPr/>
        </p:nvSpPr>
        <p:spPr>
          <a:xfrm>
            <a:off x="1251631" y="3323844"/>
            <a:ext cx="5394960" cy="777240"/>
          </a:xfrm>
          <a:prstGeom prst="rect">
            <a:avLst/>
          </a:prstGeom>
          <a:noFill/>
          <a:ln/>
        </p:spPr>
        <p:txBody>
          <a:bodyPr wrap="square" rtlCol="0" anchor="ctr"/>
          <a:lstStyle/>
          <a:p>
            <a:pPr marL="0" indent="0">
              <a:lnSpc>
                <a:spcPct val="115000"/>
              </a:lnSpc>
              <a:buNone/>
            </a:pPr>
            <a:r>
              <a:rPr lang="en-US" sz="1250" dirty="0">
                <a:solidFill>
                  <a:schemeClr val="bg1"/>
                </a:solidFill>
                <a:latin typeface="Calibri" pitchFamily="34" charset="0"/>
                <a:ea typeface="Calibri" pitchFamily="34" charset="-122"/>
                <a:cs typeface="Calibri" pitchFamily="34" charset="-120"/>
              </a:rPr>
              <a:t>Conditions like caries or gingivitis are easy to overlook without a trained specialist and enough time per patient.</a:t>
            </a:r>
            <a:endParaRPr lang="en-US" sz="1250" dirty="0">
              <a:solidFill>
                <a:schemeClr val="bg1"/>
              </a:solidFill>
            </a:endParaRPr>
          </a:p>
        </p:txBody>
      </p:sp>
      <p:sp>
        <p:nvSpPr>
          <p:cNvPr id="47" name="Shape 8">
            <a:extLst>
              <a:ext uri="{FF2B5EF4-FFF2-40B4-BE49-F238E27FC236}">
                <a16:creationId xmlns:a16="http://schemas.microsoft.com/office/drawing/2014/main" id="{523EE747-D404-3F5F-40C9-B0804BCF9C61}"/>
              </a:ext>
            </a:extLst>
          </p:cNvPr>
          <p:cNvSpPr/>
          <p:nvPr/>
        </p:nvSpPr>
        <p:spPr>
          <a:xfrm>
            <a:off x="548640" y="4617720"/>
            <a:ext cx="566928" cy="566928"/>
          </a:xfrm>
          <a:prstGeom prst="ellipse">
            <a:avLst/>
          </a:prstGeom>
          <a:solidFill>
            <a:srgbClr val="F4F7F9"/>
          </a:solidFill>
          <a:ln/>
        </p:spPr>
        <p:txBody>
          <a:bodyPr/>
          <a:lstStyle/>
          <a:p>
            <a:endParaRPr lang="en-US"/>
          </a:p>
        </p:txBody>
      </p:sp>
      <p:pic>
        <p:nvPicPr>
          <p:cNvPr id="49" name="Image 2" descr="icons/balance_065A82.png">
            <a:extLst>
              <a:ext uri="{FF2B5EF4-FFF2-40B4-BE49-F238E27FC236}">
                <a16:creationId xmlns:a16="http://schemas.microsoft.com/office/drawing/2014/main" id="{16A1CC63-00CF-B482-8FE6-87B3C02C53AA}"/>
              </a:ext>
            </a:extLst>
          </p:cNvPr>
          <p:cNvPicPr>
            <a:picLocks noChangeAspect="1"/>
          </p:cNvPicPr>
          <p:nvPr/>
        </p:nvPicPr>
        <p:blipFill>
          <a:blip r:embed="rId5"/>
          <a:stretch>
            <a:fillRect/>
          </a:stretch>
        </p:blipFill>
        <p:spPr>
          <a:xfrm>
            <a:off x="684703" y="4753783"/>
            <a:ext cx="294803" cy="294803"/>
          </a:xfrm>
          <a:prstGeom prst="rect">
            <a:avLst/>
          </a:prstGeom>
        </p:spPr>
      </p:pic>
      <p:sp>
        <p:nvSpPr>
          <p:cNvPr id="51" name="Text 9">
            <a:extLst>
              <a:ext uri="{FF2B5EF4-FFF2-40B4-BE49-F238E27FC236}">
                <a16:creationId xmlns:a16="http://schemas.microsoft.com/office/drawing/2014/main" id="{B22E1056-02A0-71C7-5398-F4BB048172D2}"/>
              </a:ext>
            </a:extLst>
          </p:cNvPr>
          <p:cNvSpPr/>
          <p:nvPr/>
        </p:nvSpPr>
        <p:spPr>
          <a:xfrm>
            <a:off x="1280160" y="4599432"/>
            <a:ext cx="5303520" cy="320040"/>
          </a:xfrm>
          <a:prstGeom prst="rect">
            <a:avLst/>
          </a:prstGeom>
          <a:noFill/>
          <a:ln/>
        </p:spPr>
        <p:txBody>
          <a:bodyPr wrap="square" rtlCol="0" anchor="ctr"/>
          <a:lstStyle/>
          <a:p>
            <a:pPr marL="0" indent="0">
              <a:buNone/>
            </a:pPr>
            <a:r>
              <a:rPr lang="en-US" sz="1600" b="1" dirty="0">
                <a:solidFill>
                  <a:schemeClr val="bg1"/>
                </a:solidFill>
                <a:latin typeface="Cambria" pitchFamily="34" charset="0"/>
                <a:ea typeface="Cambria" pitchFamily="34" charset="-122"/>
                <a:cs typeface="Cambria" pitchFamily="34" charset="-120"/>
              </a:rPr>
              <a:t>Limited access to dental specialists</a:t>
            </a:r>
            <a:endParaRPr lang="en-US" sz="1600" dirty="0">
              <a:solidFill>
                <a:schemeClr val="bg1"/>
              </a:solidFill>
            </a:endParaRPr>
          </a:p>
        </p:txBody>
      </p:sp>
      <p:sp>
        <p:nvSpPr>
          <p:cNvPr id="53" name="Text 10">
            <a:extLst>
              <a:ext uri="{FF2B5EF4-FFF2-40B4-BE49-F238E27FC236}">
                <a16:creationId xmlns:a16="http://schemas.microsoft.com/office/drawing/2014/main" id="{EDB4FBD5-205A-AC77-CD94-043A20402E08}"/>
              </a:ext>
            </a:extLst>
          </p:cNvPr>
          <p:cNvSpPr/>
          <p:nvPr/>
        </p:nvSpPr>
        <p:spPr>
          <a:xfrm>
            <a:off x="1299546" y="4741164"/>
            <a:ext cx="5394960" cy="777240"/>
          </a:xfrm>
          <a:prstGeom prst="rect">
            <a:avLst/>
          </a:prstGeom>
          <a:noFill/>
          <a:ln/>
        </p:spPr>
        <p:txBody>
          <a:bodyPr wrap="square" rtlCol="0" anchor="ctr"/>
          <a:lstStyle/>
          <a:p>
            <a:pPr marL="0" indent="0">
              <a:lnSpc>
                <a:spcPct val="115000"/>
              </a:lnSpc>
              <a:buNone/>
            </a:pPr>
            <a:r>
              <a:rPr lang="en-US" sz="1250" dirty="0">
                <a:solidFill>
                  <a:schemeClr val="bg1"/>
                </a:solidFill>
                <a:latin typeface="Calibri" pitchFamily="34" charset="0"/>
                <a:ea typeface="Calibri" pitchFamily="34" charset="-122"/>
                <a:cs typeface="Calibri" pitchFamily="34" charset="-120"/>
              </a:rPr>
              <a:t>Many regions lack sufficient dental professionals for timely, population-scale screening.</a:t>
            </a:r>
            <a:endParaRPr lang="en-US" sz="1250" dirty="0">
              <a:solidFill>
                <a:schemeClr val="bg1"/>
              </a:solidFill>
            </a:endParaRPr>
          </a:p>
        </p:txBody>
      </p:sp>
      <p:sp>
        <p:nvSpPr>
          <p:cNvPr id="55" name="Shape 11">
            <a:extLst>
              <a:ext uri="{FF2B5EF4-FFF2-40B4-BE49-F238E27FC236}">
                <a16:creationId xmlns:a16="http://schemas.microsoft.com/office/drawing/2014/main" id="{DDC9A50C-E4F3-ADE7-740E-6DA37FBC8634}"/>
              </a:ext>
            </a:extLst>
          </p:cNvPr>
          <p:cNvSpPr/>
          <p:nvPr/>
        </p:nvSpPr>
        <p:spPr>
          <a:xfrm>
            <a:off x="7223760" y="1783080"/>
            <a:ext cx="4389120" cy="4251960"/>
          </a:xfrm>
          <a:prstGeom prst="roundRect">
            <a:avLst>
              <a:gd name="adj" fmla="val 1720"/>
            </a:avLst>
          </a:prstGeom>
          <a:solidFill>
            <a:srgbClr val="F4F7F9"/>
          </a:solidFill>
          <a:ln/>
        </p:spPr>
        <p:txBody>
          <a:bodyPr/>
          <a:lstStyle/>
          <a:p>
            <a:endParaRPr lang="en-US"/>
          </a:p>
        </p:txBody>
      </p:sp>
      <p:sp>
        <p:nvSpPr>
          <p:cNvPr id="57" name="Text 12">
            <a:extLst>
              <a:ext uri="{FF2B5EF4-FFF2-40B4-BE49-F238E27FC236}">
                <a16:creationId xmlns:a16="http://schemas.microsoft.com/office/drawing/2014/main" id="{5704DF70-B641-0DA1-7E8C-F52321ADFD54}"/>
              </a:ext>
            </a:extLst>
          </p:cNvPr>
          <p:cNvSpPr/>
          <p:nvPr/>
        </p:nvSpPr>
        <p:spPr>
          <a:xfrm>
            <a:off x="7543800" y="2011680"/>
            <a:ext cx="3749040" cy="274320"/>
          </a:xfrm>
          <a:prstGeom prst="rect">
            <a:avLst/>
          </a:prstGeom>
          <a:noFill/>
          <a:ln/>
        </p:spPr>
        <p:txBody>
          <a:bodyPr wrap="square"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THE OPPORTUNITY</a:t>
            </a:r>
            <a:endParaRPr lang="en-US" sz="1100" dirty="0"/>
          </a:p>
        </p:txBody>
      </p:sp>
      <p:sp>
        <p:nvSpPr>
          <p:cNvPr id="59" name="Text 13">
            <a:extLst>
              <a:ext uri="{FF2B5EF4-FFF2-40B4-BE49-F238E27FC236}">
                <a16:creationId xmlns:a16="http://schemas.microsoft.com/office/drawing/2014/main" id="{C42C4AE2-D379-51FE-2A8A-D02AF60465EF}"/>
              </a:ext>
            </a:extLst>
          </p:cNvPr>
          <p:cNvSpPr/>
          <p:nvPr/>
        </p:nvSpPr>
        <p:spPr>
          <a:xfrm>
            <a:off x="7543800" y="2331720"/>
            <a:ext cx="3794760" cy="1097280"/>
          </a:xfrm>
          <a:prstGeom prst="rect">
            <a:avLst/>
          </a:prstGeom>
          <a:noFill/>
          <a:ln/>
        </p:spPr>
        <p:txBody>
          <a:bodyPr wrap="square" rtlCol="0" anchor="ctr"/>
          <a:lstStyle/>
          <a:p>
            <a:pPr marL="0" indent="0">
              <a:lnSpc>
                <a:spcPct val="120000"/>
              </a:lnSpc>
              <a:buNone/>
            </a:pPr>
            <a:r>
              <a:rPr lang="en-US" sz="1300" dirty="0">
                <a:solidFill>
                  <a:srgbClr val="1B2430"/>
                </a:solidFill>
                <a:latin typeface="Calibri" pitchFamily="34" charset="0"/>
                <a:ea typeface="Calibri" pitchFamily="34" charset="-122"/>
                <a:cs typeface="Calibri" pitchFamily="34" charset="-120"/>
              </a:rPr>
              <a:t>A deep learning classifier can act as a fast, consistent first-line screening tool — flagging likely conditions from a single image before specialist review.</a:t>
            </a:r>
            <a:endParaRPr lang="en-US" sz="1300" dirty="0"/>
          </a:p>
        </p:txBody>
      </p:sp>
      <p:sp>
        <p:nvSpPr>
          <p:cNvPr id="61" name="Shape 14">
            <a:extLst>
              <a:ext uri="{FF2B5EF4-FFF2-40B4-BE49-F238E27FC236}">
                <a16:creationId xmlns:a16="http://schemas.microsoft.com/office/drawing/2014/main" id="{38D4FDDE-506B-CC84-69E8-EABF6E1A872D}"/>
              </a:ext>
            </a:extLst>
          </p:cNvPr>
          <p:cNvSpPr/>
          <p:nvPr/>
        </p:nvSpPr>
        <p:spPr>
          <a:xfrm>
            <a:off x="7543800" y="3611880"/>
            <a:ext cx="3794760" cy="0"/>
          </a:xfrm>
          <a:prstGeom prst="line">
            <a:avLst/>
          </a:prstGeom>
          <a:noFill/>
          <a:ln w="12700">
            <a:solidFill>
              <a:srgbClr val="D7E0E6"/>
            </a:solidFill>
            <a:prstDash val="solid"/>
          </a:ln>
        </p:spPr>
        <p:txBody>
          <a:bodyPr/>
          <a:lstStyle/>
          <a:p>
            <a:endParaRPr lang="en-US"/>
          </a:p>
        </p:txBody>
      </p:sp>
      <p:sp>
        <p:nvSpPr>
          <p:cNvPr id="63" name="Text 15">
            <a:extLst>
              <a:ext uri="{FF2B5EF4-FFF2-40B4-BE49-F238E27FC236}">
                <a16:creationId xmlns:a16="http://schemas.microsoft.com/office/drawing/2014/main" id="{1B5EE70E-2CB3-077E-15F4-69B190FD14A9}"/>
              </a:ext>
            </a:extLst>
          </p:cNvPr>
          <p:cNvSpPr/>
          <p:nvPr/>
        </p:nvSpPr>
        <p:spPr>
          <a:xfrm>
            <a:off x="7543800" y="3840480"/>
            <a:ext cx="1188720" cy="502920"/>
          </a:xfrm>
          <a:prstGeom prst="rect">
            <a:avLst/>
          </a:prstGeom>
          <a:noFill/>
          <a:ln/>
        </p:spPr>
        <p:txBody>
          <a:bodyPr wrap="square" rtlCol="0" anchor="ctr"/>
          <a:lstStyle/>
          <a:p>
            <a:pPr marL="0" indent="0">
              <a:buNone/>
            </a:pPr>
            <a:r>
              <a:rPr lang="en-US" sz="3000" b="1" dirty="0">
                <a:solidFill>
                  <a:srgbClr val="065A82"/>
                </a:solidFill>
                <a:latin typeface="Cambria" pitchFamily="34" charset="0"/>
                <a:ea typeface="Cambria" pitchFamily="34" charset="-122"/>
                <a:cs typeface="Cambria" pitchFamily="34" charset="-120"/>
              </a:rPr>
              <a:t>6</a:t>
            </a:r>
            <a:endParaRPr lang="en-US" sz="3000" dirty="0"/>
          </a:p>
        </p:txBody>
      </p:sp>
      <p:sp>
        <p:nvSpPr>
          <p:cNvPr id="65" name="Text 16">
            <a:extLst>
              <a:ext uri="{FF2B5EF4-FFF2-40B4-BE49-F238E27FC236}">
                <a16:creationId xmlns:a16="http://schemas.microsoft.com/office/drawing/2014/main" id="{6F28F28B-EB6F-CED1-F6AD-4E111C85690C}"/>
              </a:ext>
            </a:extLst>
          </p:cNvPr>
          <p:cNvSpPr/>
          <p:nvPr/>
        </p:nvSpPr>
        <p:spPr>
          <a:xfrm>
            <a:off x="8732520" y="3931920"/>
            <a:ext cx="2560320" cy="411480"/>
          </a:xfrm>
          <a:prstGeom prst="rect">
            <a:avLst/>
          </a:prstGeom>
          <a:noFill/>
          <a:ln/>
        </p:spPr>
        <p:txBody>
          <a:bodyPr wrap="square" rtlCol="0" anchor="ctr"/>
          <a:lstStyle/>
          <a:p>
            <a:pPr marL="0" indent="0">
              <a:buNone/>
            </a:pPr>
            <a:r>
              <a:rPr lang="en-US" sz="1250" dirty="0">
                <a:solidFill>
                  <a:srgbClr val="5B6B79"/>
                </a:solidFill>
                <a:latin typeface="Calibri" pitchFamily="34" charset="0"/>
                <a:ea typeface="Calibri" pitchFamily="34" charset="-122"/>
                <a:cs typeface="Calibri" pitchFamily="34" charset="-120"/>
              </a:rPr>
              <a:t>disease classes</a:t>
            </a:r>
            <a:endParaRPr lang="en-US" sz="1250" dirty="0"/>
          </a:p>
        </p:txBody>
      </p:sp>
      <p:sp>
        <p:nvSpPr>
          <p:cNvPr id="67" name="Text 17">
            <a:extLst>
              <a:ext uri="{FF2B5EF4-FFF2-40B4-BE49-F238E27FC236}">
                <a16:creationId xmlns:a16="http://schemas.microsoft.com/office/drawing/2014/main" id="{6250D9DA-2E3C-6CCE-3AD0-811E41F6D248}"/>
              </a:ext>
            </a:extLst>
          </p:cNvPr>
          <p:cNvSpPr/>
          <p:nvPr/>
        </p:nvSpPr>
        <p:spPr>
          <a:xfrm>
            <a:off x="7543800" y="4553712"/>
            <a:ext cx="1188720" cy="502920"/>
          </a:xfrm>
          <a:prstGeom prst="rect">
            <a:avLst/>
          </a:prstGeom>
          <a:noFill/>
          <a:ln/>
        </p:spPr>
        <p:txBody>
          <a:bodyPr wrap="square" rtlCol="0" anchor="ctr"/>
          <a:lstStyle/>
          <a:p>
            <a:pPr marL="0" indent="0">
              <a:buNone/>
            </a:pPr>
            <a:r>
              <a:rPr lang="en-US" sz="3000" b="1" dirty="0">
                <a:solidFill>
                  <a:srgbClr val="065A82"/>
                </a:solidFill>
                <a:latin typeface="Cambria" pitchFamily="34" charset="0"/>
                <a:ea typeface="Cambria" pitchFamily="34" charset="-122"/>
                <a:cs typeface="Cambria" pitchFamily="34" charset="-120"/>
              </a:rPr>
              <a:t>4</a:t>
            </a:r>
            <a:endParaRPr lang="en-US" sz="3000" dirty="0"/>
          </a:p>
        </p:txBody>
      </p:sp>
      <p:sp>
        <p:nvSpPr>
          <p:cNvPr id="69" name="Text 18">
            <a:extLst>
              <a:ext uri="{FF2B5EF4-FFF2-40B4-BE49-F238E27FC236}">
                <a16:creationId xmlns:a16="http://schemas.microsoft.com/office/drawing/2014/main" id="{188100AC-B547-2A3F-15CB-D0BE20014600}"/>
              </a:ext>
            </a:extLst>
          </p:cNvPr>
          <p:cNvSpPr/>
          <p:nvPr/>
        </p:nvSpPr>
        <p:spPr>
          <a:xfrm>
            <a:off x="8732520" y="4645152"/>
            <a:ext cx="2560320" cy="411480"/>
          </a:xfrm>
          <a:prstGeom prst="rect">
            <a:avLst/>
          </a:prstGeom>
          <a:noFill/>
          <a:ln/>
        </p:spPr>
        <p:txBody>
          <a:bodyPr wrap="square" rtlCol="0" anchor="ctr"/>
          <a:lstStyle/>
          <a:p>
            <a:pPr marL="0" indent="0">
              <a:buNone/>
            </a:pPr>
            <a:r>
              <a:rPr lang="en-US" sz="1250" dirty="0">
                <a:solidFill>
                  <a:srgbClr val="5B6B79"/>
                </a:solidFill>
                <a:latin typeface="Calibri" pitchFamily="34" charset="0"/>
                <a:ea typeface="Calibri" pitchFamily="34" charset="-122"/>
                <a:cs typeface="Calibri" pitchFamily="34" charset="-120"/>
              </a:rPr>
              <a:t>models benchmarked</a:t>
            </a:r>
            <a:endParaRPr lang="en-US" sz="1250" dirty="0"/>
          </a:p>
        </p:txBody>
      </p:sp>
      <p:sp>
        <p:nvSpPr>
          <p:cNvPr id="71" name="Text 19">
            <a:extLst>
              <a:ext uri="{FF2B5EF4-FFF2-40B4-BE49-F238E27FC236}">
                <a16:creationId xmlns:a16="http://schemas.microsoft.com/office/drawing/2014/main" id="{283BF59F-89B6-B131-440C-AD381F26ECB4}"/>
              </a:ext>
            </a:extLst>
          </p:cNvPr>
          <p:cNvSpPr/>
          <p:nvPr/>
        </p:nvSpPr>
        <p:spPr>
          <a:xfrm>
            <a:off x="7543800" y="5266944"/>
            <a:ext cx="1188720" cy="502920"/>
          </a:xfrm>
          <a:prstGeom prst="rect">
            <a:avLst/>
          </a:prstGeom>
          <a:noFill/>
          <a:ln/>
        </p:spPr>
        <p:txBody>
          <a:bodyPr wrap="square" rtlCol="0" anchor="ctr"/>
          <a:lstStyle/>
          <a:p>
            <a:pPr marL="0" indent="0">
              <a:buNone/>
            </a:pPr>
            <a:r>
              <a:rPr lang="en-US" sz="3000" b="1" dirty="0">
                <a:solidFill>
                  <a:srgbClr val="065A82"/>
                </a:solidFill>
                <a:latin typeface="Cambria" pitchFamily="34" charset="0"/>
                <a:ea typeface="Cambria" pitchFamily="34" charset="-122"/>
                <a:cs typeface="Cambria" pitchFamily="34" charset="-120"/>
              </a:rPr>
              <a:t>224²</a:t>
            </a:r>
            <a:endParaRPr lang="en-US" sz="3000" dirty="0"/>
          </a:p>
        </p:txBody>
      </p:sp>
      <p:sp>
        <p:nvSpPr>
          <p:cNvPr id="73" name="Text 20">
            <a:extLst>
              <a:ext uri="{FF2B5EF4-FFF2-40B4-BE49-F238E27FC236}">
                <a16:creationId xmlns:a16="http://schemas.microsoft.com/office/drawing/2014/main" id="{DA31ACFE-30FD-0920-F4E9-51A10622A729}"/>
              </a:ext>
            </a:extLst>
          </p:cNvPr>
          <p:cNvSpPr/>
          <p:nvPr/>
        </p:nvSpPr>
        <p:spPr>
          <a:xfrm>
            <a:off x="8732520" y="5358384"/>
            <a:ext cx="2560320" cy="411480"/>
          </a:xfrm>
          <a:prstGeom prst="rect">
            <a:avLst/>
          </a:prstGeom>
          <a:noFill/>
          <a:ln/>
        </p:spPr>
        <p:txBody>
          <a:bodyPr wrap="square" rtlCol="0" anchor="ctr"/>
          <a:lstStyle/>
          <a:p>
            <a:pPr marL="0" indent="0">
              <a:buNone/>
            </a:pPr>
            <a:r>
              <a:rPr lang="en-US" sz="1250" dirty="0">
                <a:solidFill>
                  <a:srgbClr val="5B6B79"/>
                </a:solidFill>
                <a:latin typeface="Calibri" pitchFamily="34" charset="0"/>
                <a:ea typeface="Calibri" pitchFamily="34" charset="-122"/>
                <a:cs typeface="Calibri" pitchFamily="34" charset="-120"/>
              </a:rPr>
              <a:t>input resolution</a:t>
            </a:r>
            <a:endParaRPr lang="en-US" sz="1250" dirty="0"/>
          </a:p>
        </p:txBody>
      </p:sp>
      <p:sp>
        <p:nvSpPr>
          <p:cNvPr id="75" name="Text 21">
            <a:extLst>
              <a:ext uri="{FF2B5EF4-FFF2-40B4-BE49-F238E27FC236}">
                <a16:creationId xmlns:a16="http://schemas.microsoft.com/office/drawing/2014/main" id="{E6855E9F-64E8-4052-EC3C-3883876818CA}"/>
              </a:ext>
            </a:extLst>
          </p:cNvPr>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77" name="Text 22">
            <a:extLst>
              <a:ext uri="{FF2B5EF4-FFF2-40B4-BE49-F238E27FC236}">
                <a16:creationId xmlns:a16="http://schemas.microsoft.com/office/drawing/2014/main" id="{0601BD35-001F-8CB7-88EA-6BFF2D8E335A}"/>
              </a:ext>
            </a:extLst>
          </p:cNvPr>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extLst>
      <p:ext uri="{BB962C8B-B14F-4D97-AF65-F5344CB8AC3E}">
        <p14:creationId xmlns:p14="http://schemas.microsoft.com/office/powerpoint/2010/main" val="853995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4EE493E4-CF75-94F4-2779-0E7384573BC9}"/>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624B29B4-040B-C49A-1ABD-633976CAEFF8}"/>
              </a:ext>
            </a:extLst>
          </p:cNvPr>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chemeClr val="bg1"/>
                </a:solidFill>
                <a:latin typeface="Calibri" pitchFamily="34" charset="0"/>
                <a:ea typeface="Calibri" pitchFamily="34" charset="-122"/>
                <a:cs typeface="Calibri" pitchFamily="34" charset="-120"/>
              </a:rPr>
              <a:t>PROJECT OBJECTIVES</a:t>
            </a:r>
            <a:endParaRPr lang="en-US" sz="1300" dirty="0">
              <a:solidFill>
                <a:schemeClr val="bg1"/>
              </a:solidFill>
            </a:endParaRPr>
          </a:p>
        </p:txBody>
      </p:sp>
      <p:sp>
        <p:nvSpPr>
          <p:cNvPr id="6" name="Text 1">
            <a:extLst>
              <a:ext uri="{FF2B5EF4-FFF2-40B4-BE49-F238E27FC236}">
                <a16:creationId xmlns:a16="http://schemas.microsoft.com/office/drawing/2014/main" id="{4CA25413-DEDE-6ADF-E3DF-0574133BFAFF}"/>
              </a:ext>
            </a:extLst>
          </p:cNvPr>
          <p:cNvSpPr/>
          <p:nvPr/>
        </p:nvSpPr>
        <p:spPr>
          <a:xfrm>
            <a:off x="548640" y="685800"/>
            <a:ext cx="10789920" cy="822960"/>
          </a:xfrm>
          <a:prstGeom prst="rect">
            <a:avLst/>
          </a:prstGeom>
          <a:noFill/>
          <a:ln/>
        </p:spPr>
        <p:txBody>
          <a:bodyPr wrap="square"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What This Project Set Out To Do</a:t>
            </a:r>
            <a:endParaRPr lang="en-US" sz="3200" dirty="0">
              <a:solidFill>
                <a:schemeClr val="bg1"/>
              </a:solidFill>
            </a:endParaRPr>
          </a:p>
        </p:txBody>
      </p:sp>
      <p:sp>
        <p:nvSpPr>
          <p:cNvPr id="8" name="Shape 2">
            <a:extLst>
              <a:ext uri="{FF2B5EF4-FFF2-40B4-BE49-F238E27FC236}">
                <a16:creationId xmlns:a16="http://schemas.microsoft.com/office/drawing/2014/main" id="{24D2E7B2-7A6A-5AB2-D7EC-A2077AC8E8A6}"/>
              </a:ext>
            </a:extLst>
          </p:cNvPr>
          <p:cNvSpPr/>
          <p:nvPr/>
        </p:nvSpPr>
        <p:spPr>
          <a:xfrm>
            <a:off x="548640" y="1783080"/>
            <a:ext cx="5257800" cy="1965960"/>
          </a:xfrm>
          <a:prstGeom prst="roundRect">
            <a:avLst>
              <a:gd name="adj" fmla="val 4186"/>
            </a:avLst>
          </a:prstGeom>
          <a:solidFill>
            <a:srgbClr val="F4F7F9"/>
          </a:solidFill>
          <a:ln/>
        </p:spPr>
        <p:txBody>
          <a:bodyPr/>
          <a:lstStyle/>
          <a:p>
            <a:endParaRPr lang="en-US"/>
          </a:p>
        </p:txBody>
      </p:sp>
      <p:sp>
        <p:nvSpPr>
          <p:cNvPr id="10" name="Shape 3">
            <a:extLst>
              <a:ext uri="{FF2B5EF4-FFF2-40B4-BE49-F238E27FC236}">
                <a16:creationId xmlns:a16="http://schemas.microsoft.com/office/drawing/2014/main" id="{1628C16F-B0DA-E11D-717C-422ED8D0EC52}"/>
              </a:ext>
            </a:extLst>
          </p:cNvPr>
          <p:cNvSpPr/>
          <p:nvPr/>
        </p:nvSpPr>
        <p:spPr>
          <a:xfrm>
            <a:off x="822960" y="2057400"/>
            <a:ext cx="548640" cy="548640"/>
          </a:xfrm>
          <a:prstGeom prst="ellipse">
            <a:avLst/>
          </a:prstGeom>
          <a:solidFill>
            <a:srgbClr val="FFFFFF"/>
          </a:solidFill>
          <a:ln/>
        </p:spPr>
        <p:txBody>
          <a:bodyPr/>
          <a:lstStyle/>
          <a:p>
            <a:endParaRPr lang="en-US"/>
          </a:p>
        </p:txBody>
      </p:sp>
      <p:pic>
        <p:nvPicPr>
          <p:cNvPr id="12" name="Image 0" descr="icons/target_065A82.png">
            <a:extLst>
              <a:ext uri="{FF2B5EF4-FFF2-40B4-BE49-F238E27FC236}">
                <a16:creationId xmlns:a16="http://schemas.microsoft.com/office/drawing/2014/main" id="{32608CCC-69EA-959E-A6ED-AB874CEED9C1}"/>
              </a:ext>
            </a:extLst>
          </p:cNvPr>
          <p:cNvPicPr>
            <a:picLocks noChangeAspect="1"/>
          </p:cNvPicPr>
          <p:nvPr/>
        </p:nvPicPr>
        <p:blipFill>
          <a:blip r:embed="rId3"/>
          <a:stretch>
            <a:fillRect/>
          </a:stretch>
        </p:blipFill>
        <p:spPr>
          <a:xfrm>
            <a:off x="954634" y="2189074"/>
            <a:ext cx="285293" cy="285293"/>
          </a:xfrm>
          <a:prstGeom prst="rect">
            <a:avLst/>
          </a:prstGeom>
        </p:spPr>
      </p:pic>
      <p:sp>
        <p:nvSpPr>
          <p:cNvPr id="14" name="Text 4">
            <a:extLst>
              <a:ext uri="{FF2B5EF4-FFF2-40B4-BE49-F238E27FC236}">
                <a16:creationId xmlns:a16="http://schemas.microsoft.com/office/drawing/2014/main" id="{AE58EA07-923E-E8C2-EE10-8E6FCAA87568}"/>
              </a:ext>
            </a:extLst>
          </p:cNvPr>
          <p:cNvSpPr/>
          <p:nvPr/>
        </p:nvSpPr>
        <p:spPr>
          <a:xfrm>
            <a:off x="1554480" y="2039112"/>
            <a:ext cx="397764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Build an accurate classifier</a:t>
            </a:r>
            <a:endParaRPr lang="en-US" sz="1550" dirty="0"/>
          </a:p>
        </p:txBody>
      </p:sp>
      <p:sp>
        <p:nvSpPr>
          <p:cNvPr id="16" name="Text 5">
            <a:extLst>
              <a:ext uri="{FF2B5EF4-FFF2-40B4-BE49-F238E27FC236}">
                <a16:creationId xmlns:a16="http://schemas.microsoft.com/office/drawing/2014/main" id="{D2F4CF9B-6321-4068-86B2-ADB044D260DE}"/>
              </a:ext>
            </a:extLst>
          </p:cNvPr>
          <p:cNvSpPr/>
          <p:nvPr/>
        </p:nvSpPr>
        <p:spPr>
          <a:xfrm>
            <a:off x="822960" y="2651760"/>
            <a:ext cx="4709160" cy="960120"/>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Train a model that reliably distinguishes 6 oral disease categories from raw dental images.</a:t>
            </a:r>
            <a:endParaRPr lang="en-US" sz="1200" dirty="0"/>
          </a:p>
        </p:txBody>
      </p:sp>
      <p:sp>
        <p:nvSpPr>
          <p:cNvPr id="18" name="Shape 6">
            <a:extLst>
              <a:ext uri="{FF2B5EF4-FFF2-40B4-BE49-F238E27FC236}">
                <a16:creationId xmlns:a16="http://schemas.microsoft.com/office/drawing/2014/main" id="{E620BA53-54BC-2564-6091-A67D3FA7473F}"/>
              </a:ext>
            </a:extLst>
          </p:cNvPr>
          <p:cNvSpPr/>
          <p:nvPr/>
        </p:nvSpPr>
        <p:spPr>
          <a:xfrm>
            <a:off x="6126480" y="1783080"/>
            <a:ext cx="5257800" cy="1965960"/>
          </a:xfrm>
          <a:prstGeom prst="roundRect">
            <a:avLst>
              <a:gd name="adj" fmla="val 4186"/>
            </a:avLst>
          </a:prstGeom>
          <a:solidFill>
            <a:srgbClr val="F4F7F9"/>
          </a:solidFill>
          <a:ln/>
        </p:spPr>
        <p:txBody>
          <a:bodyPr/>
          <a:lstStyle/>
          <a:p>
            <a:endParaRPr lang="en-US"/>
          </a:p>
        </p:txBody>
      </p:sp>
      <p:sp>
        <p:nvSpPr>
          <p:cNvPr id="21" name="Shape 7">
            <a:extLst>
              <a:ext uri="{FF2B5EF4-FFF2-40B4-BE49-F238E27FC236}">
                <a16:creationId xmlns:a16="http://schemas.microsoft.com/office/drawing/2014/main" id="{838AAB2C-AFD4-00B3-2B3E-7A0118B55B91}"/>
              </a:ext>
            </a:extLst>
          </p:cNvPr>
          <p:cNvSpPr/>
          <p:nvPr/>
        </p:nvSpPr>
        <p:spPr>
          <a:xfrm>
            <a:off x="6400800" y="2057400"/>
            <a:ext cx="548640" cy="548640"/>
          </a:xfrm>
          <a:prstGeom prst="ellipse">
            <a:avLst/>
          </a:prstGeom>
          <a:solidFill>
            <a:srgbClr val="FFFFFF"/>
          </a:solidFill>
          <a:ln/>
        </p:spPr>
        <p:txBody>
          <a:bodyPr/>
          <a:lstStyle/>
          <a:p>
            <a:endParaRPr lang="en-US"/>
          </a:p>
        </p:txBody>
      </p:sp>
      <p:pic>
        <p:nvPicPr>
          <p:cNvPr id="23" name="Image 1" descr="icons/balance_065A82.png">
            <a:extLst>
              <a:ext uri="{FF2B5EF4-FFF2-40B4-BE49-F238E27FC236}">
                <a16:creationId xmlns:a16="http://schemas.microsoft.com/office/drawing/2014/main" id="{C5A8625C-427D-83E5-E7AC-B61E227BF414}"/>
              </a:ext>
            </a:extLst>
          </p:cNvPr>
          <p:cNvPicPr>
            <a:picLocks noChangeAspect="1"/>
          </p:cNvPicPr>
          <p:nvPr/>
        </p:nvPicPr>
        <p:blipFill>
          <a:blip r:embed="rId4"/>
          <a:stretch>
            <a:fillRect/>
          </a:stretch>
        </p:blipFill>
        <p:spPr>
          <a:xfrm>
            <a:off x="6532474" y="2189074"/>
            <a:ext cx="285293" cy="285293"/>
          </a:xfrm>
          <a:prstGeom prst="rect">
            <a:avLst/>
          </a:prstGeom>
        </p:spPr>
      </p:pic>
      <p:sp>
        <p:nvSpPr>
          <p:cNvPr id="26" name="Text 8">
            <a:extLst>
              <a:ext uri="{FF2B5EF4-FFF2-40B4-BE49-F238E27FC236}">
                <a16:creationId xmlns:a16="http://schemas.microsoft.com/office/drawing/2014/main" id="{924B0F04-1139-AA75-9DBE-63CED09B0244}"/>
              </a:ext>
            </a:extLst>
          </p:cNvPr>
          <p:cNvSpPr/>
          <p:nvPr/>
        </p:nvSpPr>
        <p:spPr>
          <a:xfrm>
            <a:off x="7132320" y="2039112"/>
            <a:ext cx="397764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Compare CNN vs. Transfer Learning</a:t>
            </a:r>
            <a:endParaRPr lang="en-US" sz="1550" dirty="0"/>
          </a:p>
        </p:txBody>
      </p:sp>
      <p:sp>
        <p:nvSpPr>
          <p:cNvPr id="29" name="Text 9">
            <a:extLst>
              <a:ext uri="{FF2B5EF4-FFF2-40B4-BE49-F238E27FC236}">
                <a16:creationId xmlns:a16="http://schemas.microsoft.com/office/drawing/2014/main" id="{CBC25189-38F7-4798-1E52-7D6CB5FA72AB}"/>
              </a:ext>
            </a:extLst>
          </p:cNvPr>
          <p:cNvSpPr/>
          <p:nvPr/>
        </p:nvSpPr>
        <p:spPr>
          <a:xfrm>
            <a:off x="6400800" y="2651760"/>
            <a:ext cx="4709160" cy="960120"/>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Benchmark a custom-built CNN against EfficientNetB0, ResNet50, and MobileNetV2 under identical conditions.</a:t>
            </a:r>
            <a:endParaRPr lang="en-US" sz="1200" dirty="0"/>
          </a:p>
        </p:txBody>
      </p:sp>
      <p:sp>
        <p:nvSpPr>
          <p:cNvPr id="31" name="Shape 10">
            <a:extLst>
              <a:ext uri="{FF2B5EF4-FFF2-40B4-BE49-F238E27FC236}">
                <a16:creationId xmlns:a16="http://schemas.microsoft.com/office/drawing/2014/main" id="{758E0901-44FD-3F0A-3BFF-FC0681585539}"/>
              </a:ext>
            </a:extLst>
          </p:cNvPr>
          <p:cNvSpPr/>
          <p:nvPr/>
        </p:nvSpPr>
        <p:spPr>
          <a:xfrm>
            <a:off x="548640" y="4069080"/>
            <a:ext cx="5257800" cy="1965960"/>
          </a:xfrm>
          <a:prstGeom prst="roundRect">
            <a:avLst>
              <a:gd name="adj" fmla="val 4186"/>
            </a:avLst>
          </a:prstGeom>
          <a:solidFill>
            <a:srgbClr val="F4F7F9"/>
          </a:solidFill>
          <a:ln/>
        </p:spPr>
        <p:txBody>
          <a:bodyPr/>
          <a:lstStyle/>
          <a:p>
            <a:endParaRPr lang="en-US"/>
          </a:p>
        </p:txBody>
      </p:sp>
      <p:sp>
        <p:nvSpPr>
          <p:cNvPr id="34" name="Shape 11">
            <a:extLst>
              <a:ext uri="{FF2B5EF4-FFF2-40B4-BE49-F238E27FC236}">
                <a16:creationId xmlns:a16="http://schemas.microsoft.com/office/drawing/2014/main" id="{8EF8C4F1-EBD0-3EC8-B9BB-58DFBB723943}"/>
              </a:ext>
            </a:extLst>
          </p:cNvPr>
          <p:cNvSpPr/>
          <p:nvPr/>
        </p:nvSpPr>
        <p:spPr>
          <a:xfrm>
            <a:off x="822960" y="4343400"/>
            <a:ext cx="548640" cy="548640"/>
          </a:xfrm>
          <a:prstGeom prst="ellipse">
            <a:avLst/>
          </a:prstGeom>
          <a:solidFill>
            <a:srgbClr val="FFFFFF"/>
          </a:solidFill>
          <a:ln/>
        </p:spPr>
        <p:txBody>
          <a:bodyPr/>
          <a:lstStyle/>
          <a:p>
            <a:endParaRPr lang="en-US"/>
          </a:p>
        </p:txBody>
      </p:sp>
      <p:pic>
        <p:nvPicPr>
          <p:cNvPr id="37" name="Image 2" descr="icons/diagram_065A82.png">
            <a:extLst>
              <a:ext uri="{FF2B5EF4-FFF2-40B4-BE49-F238E27FC236}">
                <a16:creationId xmlns:a16="http://schemas.microsoft.com/office/drawing/2014/main" id="{5843EBA4-0B63-A2C0-EA38-F514D09BAA26}"/>
              </a:ext>
            </a:extLst>
          </p:cNvPr>
          <p:cNvPicPr>
            <a:picLocks noChangeAspect="1"/>
          </p:cNvPicPr>
          <p:nvPr/>
        </p:nvPicPr>
        <p:blipFill>
          <a:blip r:embed="rId5"/>
          <a:stretch>
            <a:fillRect/>
          </a:stretch>
        </p:blipFill>
        <p:spPr>
          <a:xfrm>
            <a:off x="954634" y="4475074"/>
            <a:ext cx="285293" cy="285293"/>
          </a:xfrm>
          <a:prstGeom prst="rect">
            <a:avLst/>
          </a:prstGeom>
        </p:spPr>
      </p:pic>
      <p:sp>
        <p:nvSpPr>
          <p:cNvPr id="40" name="Text 12">
            <a:extLst>
              <a:ext uri="{FF2B5EF4-FFF2-40B4-BE49-F238E27FC236}">
                <a16:creationId xmlns:a16="http://schemas.microsoft.com/office/drawing/2014/main" id="{8A9297AF-321F-70AF-A3B5-200F829781B5}"/>
              </a:ext>
            </a:extLst>
          </p:cNvPr>
          <p:cNvSpPr/>
          <p:nvPr/>
        </p:nvSpPr>
        <p:spPr>
          <a:xfrm>
            <a:off x="1554480" y="4325112"/>
            <a:ext cx="397764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Build a reproducible pipeline</a:t>
            </a:r>
            <a:endParaRPr lang="en-US" sz="1550" dirty="0"/>
          </a:p>
        </p:txBody>
      </p:sp>
      <p:sp>
        <p:nvSpPr>
          <p:cNvPr id="44" name="Text 13">
            <a:extLst>
              <a:ext uri="{FF2B5EF4-FFF2-40B4-BE49-F238E27FC236}">
                <a16:creationId xmlns:a16="http://schemas.microsoft.com/office/drawing/2014/main" id="{AE8EFCA9-CB5C-CAD3-A524-D3B6172A44E1}"/>
              </a:ext>
            </a:extLst>
          </p:cNvPr>
          <p:cNvSpPr/>
          <p:nvPr/>
        </p:nvSpPr>
        <p:spPr>
          <a:xfrm>
            <a:off x="822960" y="4937760"/>
            <a:ext cx="4709160" cy="960120"/>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Standardize preprocessing, augmentation, and evaluation so every model is judged fairly on the same data.</a:t>
            </a:r>
            <a:endParaRPr lang="en-US" sz="1200" dirty="0"/>
          </a:p>
        </p:txBody>
      </p:sp>
      <p:sp>
        <p:nvSpPr>
          <p:cNvPr id="48" name="Shape 14">
            <a:extLst>
              <a:ext uri="{FF2B5EF4-FFF2-40B4-BE49-F238E27FC236}">
                <a16:creationId xmlns:a16="http://schemas.microsoft.com/office/drawing/2014/main" id="{FEDDD081-52EE-8952-F67E-ABE3083EAC61}"/>
              </a:ext>
            </a:extLst>
          </p:cNvPr>
          <p:cNvSpPr/>
          <p:nvPr/>
        </p:nvSpPr>
        <p:spPr>
          <a:xfrm>
            <a:off x="6126480" y="4069080"/>
            <a:ext cx="5257800" cy="1965960"/>
          </a:xfrm>
          <a:prstGeom prst="roundRect">
            <a:avLst>
              <a:gd name="adj" fmla="val 4186"/>
            </a:avLst>
          </a:prstGeom>
          <a:solidFill>
            <a:srgbClr val="F4F7F9"/>
          </a:solidFill>
          <a:ln/>
        </p:spPr>
        <p:txBody>
          <a:bodyPr/>
          <a:lstStyle/>
          <a:p>
            <a:endParaRPr lang="en-US"/>
          </a:p>
        </p:txBody>
      </p:sp>
      <p:sp>
        <p:nvSpPr>
          <p:cNvPr id="52" name="Shape 15">
            <a:extLst>
              <a:ext uri="{FF2B5EF4-FFF2-40B4-BE49-F238E27FC236}">
                <a16:creationId xmlns:a16="http://schemas.microsoft.com/office/drawing/2014/main" id="{E5334562-B872-60BC-6F8A-371C69C1E129}"/>
              </a:ext>
            </a:extLst>
          </p:cNvPr>
          <p:cNvSpPr/>
          <p:nvPr/>
        </p:nvSpPr>
        <p:spPr>
          <a:xfrm>
            <a:off x="6400800" y="4343400"/>
            <a:ext cx="548640" cy="548640"/>
          </a:xfrm>
          <a:prstGeom prst="ellipse">
            <a:avLst/>
          </a:prstGeom>
          <a:solidFill>
            <a:srgbClr val="FFFFFF"/>
          </a:solidFill>
          <a:ln/>
        </p:spPr>
        <p:txBody>
          <a:bodyPr/>
          <a:lstStyle/>
          <a:p>
            <a:endParaRPr lang="en-US"/>
          </a:p>
        </p:txBody>
      </p:sp>
      <p:pic>
        <p:nvPicPr>
          <p:cNvPr id="56" name="Image 3" descr="icons/chart_065A82.png">
            <a:extLst>
              <a:ext uri="{FF2B5EF4-FFF2-40B4-BE49-F238E27FC236}">
                <a16:creationId xmlns:a16="http://schemas.microsoft.com/office/drawing/2014/main" id="{866E3263-C728-1A4E-9B81-DE4213D6E44A}"/>
              </a:ext>
            </a:extLst>
          </p:cNvPr>
          <p:cNvPicPr>
            <a:picLocks noChangeAspect="1"/>
          </p:cNvPicPr>
          <p:nvPr/>
        </p:nvPicPr>
        <p:blipFill>
          <a:blip r:embed="rId6"/>
          <a:stretch>
            <a:fillRect/>
          </a:stretch>
        </p:blipFill>
        <p:spPr>
          <a:xfrm>
            <a:off x="6532474" y="4475074"/>
            <a:ext cx="285293" cy="285293"/>
          </a:xfrm>
          <a:prstGeom prst="rect">
            <a:avLst/>
          </a:prstGeom>
        </p:spPr>
      </p:pic>
      <p:sp>
        <p:nvSpPr>
          <p:cNvPr id="60" name="Text 16">
            <a:extLst>
              <a:ext uri="{FF2B5EF4-FFF2-40B4-BE49-F238E27FC236}">
                <a16:creationId xmlns:a16="http://schemas.microsoft.com/office/drawing/2014/main" id="{4C8F9501-EB46-1147-E1A9-A83E11AAEA28}"/>
              </a:ext>
            </a:extLst>
          </p:cNvPr>
          <p:cNvSpPr/>
          <p:nvPr/>
        </p:nvSpPr>
        <p:spPr>
          <a:xfrm>
            <a:off x="7132320" y="4325112"/>
            <a:ext cx="3977640" cy="365760"/>
          </a:xfrm>
          <a:prstGeom prst="rect">
            <a:avLst/>
          </a:prstGeom>
          <a:noFill/>
          <a:ln/>
        </p:spPr>
        <p:txBody>
          <a:bodyPr wrap="square"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Diagnose failure modes</a:t>
            </a:r>
            <a:endParaRPr lang="en-US" sz="1550" dirty="0"/>
          </a:p>
        </p:txBody>
      </p:sp>
      <p:sp>
        <p:nvSpPr>
          <p:cNvPr id="64" name="Text 17">
            <a:extLst>
              <a:ext uri="{FF2B5EF4-FFF2-40B4-BE49-F238E27FC236}">
                <a16:creationId xmlns:a16="http://schemas.microsoft.com/office/drawing/2014/main" id="{790FA22D-AC67-AF59-D974-8BE9CFF49F2C}"/>
              </a:ext>
            </a:extLst>
          </p:cNvPr>
          <p:cNvSpPr/>
          <p:nvPr/>
        </p:nvSpPr>
        <p:spPr>
          <a:xfrm>
            <a:off x="6400800" y="4937760"/>
            <a:ext cx="4709160" cy="960120"/>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Use precision/recall/F1 and confusion matrices to understand exactly where each model struggles, not just its overall accuracy.</a:t>
            </a:r>
            <a:endParaRPr lang="en-US" sz="1200" dirty="0"/>
          </a:p>
        </p:txBody>
      </p:sp>
      <p:sp>
        <p:nvSpPr>
          <p:cNvPr id="68" name="Text 18">
            <a:extLst>
              <a:ext uri="{FF2B5EF4-FFF2-40B4-BE49-F238E27FC236}">
                <a16:creationId xmlns:a16="http://schemas.microsoft.com/office/drawing/2014/main" id="{31EC22D1-A44F-E914-146F-15F4C9AAAE42}"/>
              </a:ext>
            </a:extLst>
          </p:cNvPr>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72" name="Text 19">
            <a:extLst>
              <a:ext uri="{FF2B5EF4-FFF2-40B4-BE49-F238E27FC236}">
                <a16:creationId xmlns:a16="http://schemas.microsoft.com/office/drawing/2014/main" id="{0727C73F-F348-ABB1-6436-73BC07C86398}"/>
              </a:ext>
            </a:extLst>
          </p:cNvPr>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extLst>
      <p:ext uri="{BB962C8B-B14F-4D97-AF65-F5344CB8AC3E}">
        <p14:creationId xmlns:p14="http://schemas.microsoft.com/office/powerpoint/2010/main" val="703904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517DCEAD-8C8A-967F-A227-DFB7728084B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E71C2059-4F3B-AA82-831A-A8479476B6E3}"/>
              </a:ext>
            </a:extLst>
          </p:cNvPr>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chemeClr val="bg1"/>
                </a:solidFill>
                <a:latin typeface="Calibri" pitchFamily="34" charset="0"/>
                <a:ea typeface="Calibri" pitchFamily="34" charset="-122"/>
                <a:cs typeface="Calibri" pitchFamily="34" charset="-120"/>
              </a:rPr>
              <a:t>DATASET</a:t>
            </a:r>
            <a:endParaRPr lang="en-US" sz="1300" dirty="0">
              <a:solidFill>
                <a:schemeClr val="bg1"/>
              </a:solidFill>
            </a:endParaRPr>
          </a:p>
        </p:txBody>
      </p:sp>
      <p:sp>
        <p:nvSpPr>
          <p:cNvPr id="7" name="Text 1">
            <a:extLst>
              <a:ext uri="{FF2B5EF4-FFF2-40B4-BE49-F238E27FC236}">
                <a16:creationId xmlns:a16="http://schemas.microsoft.com/office/drawing/2014/main" id="{2B567A69-A4AC-5375-CF49-023D48DD1C7D}"/>
              </a:ext>
            </a:extLst>
          </p:cNvPr>
          <p:cNvSpPr/>
          <p:nvPr/>
        </p:nvSpPr>
        <p:spPr>
          <a:xfrm>
            <a:off x="548640" y="685800"/>
            <a:ext cx="10789920" cy="822960"/>
          </a:xfrm>
          <a:prstGeom prst="rect">
            <a:avLst/>
          </a:prstGeom>
          <a:noFill/>
          <a:ln/>
        </p:spPr>
        <p:txBody>
          <a:bodyPr wrap="square"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Six Oral Disease Categories</a:t>
            </a:r>
            <a:endParaRPr lang="en-US" sz="3200" dirty="0">
              <a:solidFill>
                <a:schemeClr val="bg1"/>
              </a:solidFill>
            </a:endParaRPr>
          </a:p>
        </p:txBody>
      </p:sp>
      <p:sp>
        <p:nvSpPr>
          <p:cNvPr id="11" name="Text 2">
            <a:extLst>
              <a:ext uri="{FF2B5EF4-FFF2-40B4-BE49-F238E27FC236}">
                <a16:creationId xmlns:a16="http://schemas.microsoft.com/office/drawing/2014/main" id="{D879C14B-967F-D04C-7240-5A02EA631ACB}"/>
              </a:ext>
            </a:extLst>
          </p:cNvPr>
          <p:cNvSpPr/>
          <p:nvPr/>
        </p:nvSpPr>
        <p:spPr>
          <a:xfrm>
            <a:off x="548640" y="1737360"/>
            <a:ext cx="3657600" cy="274320"/>
          </a:xfrm>
          <a:prstGeom prst="rect">
            <a:avLst/>
          </a:prstGeom>
          <a:noFill/>
          <a:ln/>
        </p:spPr>
        <p:txBody>
          <a:bodyPr wrap="square" rtlCol="0" anchor="ctr"/>
          <a:lstStyle/>
          <a:p>
            <a:pPr marL="0" indent="0">
              <a:buNone/>
            </a:pPr>
            <a:r>
              <a:rPr lang="en-US" sz="1100" b="1" kern="0" spc="150" dirty="0">
                <a:solidFill>
                  <a:schemeClr val="bg1"/>
                </a:solidFill>
                <a:latin typeface="Calibri" pitchFamily="34" charset="0"/>
                <a:ea typeface="Calibri" pitchFamily="34" charset="-122"/>
                <a:cs typeface="Calibri" pitchFamily="34" charset="-120"/>
              </a:rPr>
              <a:t>CLASSES</a:t>
            </a:r>
            <a:endParaRPr lang="en-US" sz="1100" dirty="0">
              <a:solidFill>
                <a:schemeClr val="bg1"/>
              </a:solidFill>
            </a:endParaRPr>
          </a:p>
        </p:txBody>
      </p:sp>
      <p:sp>
        <p:nvSpPr>
          <p:cNvPr id="15" name="Shape 3">
            <a:extLst>
              <a:ext uri="{FF2B5EF4-FFF2-40B4-BE49-F238E27FC236}">
                <a16:creationId xmlns:a16="http://schemas.microsoft.com/office/drawing/2014/main" id="{3A2C1B6D-60D3-B1A7-3795-741C36D5895B}"/>
              </a:ext>
            </a:extLst>
          </p:cNvPr>
          <p:cNvSpPr/>
          <p:nvPr/>
        </p:nvSpPr>
        <p:spPr>
          <a:xfrm>
            <a:off x="548640" y="2103120"/>
            <a:ext cx="2788920" cy="502920"/>
          </a:xfrm>
          <a:prstGeom prst="roundRect">
            <a:avLst>
              <a:gd name="adj" fmla="val 14545"/>
            </a:avLst>
          </a:prstGeom>
          <a:solidFill>
            <a:srgbClr val="F4F7F9"/>
          </a:solidFill>
          <a:ln/>
        </p:spPr>
        <p:txBody>
          <a:bodyPr/>
          <a:lstStyle/>
          <a:p>
            <a:endParaRPr lang="en-US"/>
          </a:p>
        </p:txBody>
      </p:sp>
      <p:sp>
        <p:nvSpPr>
          <p:cNvPr id="19" name="Shape 4">
            <a:extLst>
              <a:ext uri="{FF2B5EF4-FFF2-40B4-BE49-F238E27FC236}">
                <a16:creationId xmlns:a16="http://schemas.microsoft.com/office/drawing/2014/main" id="{FBD37ED3-8D0F-AD57-3E03-251D960AE081}"/>
              </a:ext>
            </a:extLst>
          </p:cNvPr>
          <p:cNvSpPr/>
          <p:nvPr/>
        </p:nvSpPr>
        <p:spPr>
          <a:xfrm>
            <a:off x="685800" y="2267712"/>
            <a:ext cx="182880" cy="182880"/>
          </a:xfrm>
          <a:prstGeom prst="ellipse">
            <a:avLst/>
          </a:prstGeom>
          <a:solidFill>
            <a:srgbClr val="C0522D"/>
          </a:solidFill>
          <a:ln/>
        </p:spPr>
        <p:txBody>
          <a:bodyPr/>
          <a:lstStyle/>
          <a:p>
            <a:endParaRPr lang="en-US"/>
          </a:p>
        </p:txBody>
      </p:sp>
      <p:sp>
        <p:nvSpPr>
          <p:cNvPr id="22" name="Text 5">
            <a:extLst>
              <a:ext uri="{FF2B5EF4-FFF2-40B4-BE49-F238E27FC236}">
                <a16:creationId xmlns:a16="http://schemas.microsoft.com/office/drawing/2014/main" id="{6F87A5F2-7A01-0F76-A097-30780DF7F9B4}"/>
              </a:ext>
            </a:extLst>
          </p:cNvPr>
          <p:cNvSpPr/>
          <p:nvPr/>
        </p:nvSpPr>
        <p:spPr>
          <a:xfrm>
            <a:off x="987552" y="2103120"/>
            <a:ext cx="2286000" cy="50292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Calculus</a:t>
            </a:r>
            <a:endParaRPr lang="en-US" sz="1300" dirty="0"/>
          </a:p>
        </p:txBody>
      </p:sp>
      <p:sp>
        <p:nvSpPr>
          <p:cNvPr id="25" name="Shape 6">
            <a:extLst>
              <a:ext uri="{FF2B5EF4-FFF2-40B4-BE49-F238E27FC236}">
                <a16:creationId xmlns:a16="http://schemas.microsoft.com/office/drawing/2014/main" id="{3CFD22FD-3E7C-6D4A-4896-D6995CED70A5}"/>
              </a:ext>
            </a:extLst>
          </p:cNvPr>
          <p:cNvSpPr/>
          <p:nvPr/>
        </p:nvSpPr>
        <p:spPr>
          <a:xfrm>
            <a:off x="3566160" y="2103120"/>
            <a:ext cx="2788920" cy="502920"/>
          </a:xfrm>
          <a:prstGeom prst="roundRect">
            <a:avLst>
              <a:gd name="adj" fmla="val 14545"/>
            </a:avLst>
          </a:prstGeom>
          <a:solidFill>
            <a:srgbClr val="F4F7F9"/>
          </a:solidFill>
          <a:ln/>
        </p:spPr>
        <p:txBody>
          <a:bodyPr/>
          <a:lstStyle/>
          <a:p>
            <a:endParaRPr lang="en-US"/>
          </a:p>
        </p:txBody>
      </p:sp>
      <p:sp>
        <p:nvSpPr>
          <p:cNvPr id="28" name="Shape 7">
            <a:extLst>
              <a:ext uri="{FF2B5EF4-FFF2-40B4-BE49-F238E27FC236}">
                <a16:creationId xmlns:a16="http://schemas.microsoft.com/office/drawing/2014/main" id="{E76764D1-6DAD-3A21-9F87-9BD408425059}"/>
              </a:ext>
            </a:extLst>
          </p:cNvPr>
          <p:cNvSpPr/>
          <p:nvPr/>
        </p:nvSpPr>
        <p:spPr>
          <a:xfrm>
            <a:off x="3703320" y="2267712"/>
            <a:ext cx="182880" cy="182880"/>
          </a:xfrm>
          <a:prstGeom prst="ellipse">
            <a:avLst/>
          </a:prstGeom>
          <a:solidFill>
            <a:srgbClr val="065A82"/>
          </a:solidFill>
          <a:ln/>
        </p:spPr>
        <p:txBody>
          <a:bodyPr/>
          <a:lstStyle/>
          <a:p>
            <a:endParaRPr lang="en-US"/>
          </a:p>
        </p:txBody>
      </p:sp>
      <p:sp>
        <p:nvSpPr>
          <p:cNvPr id="32" name="Text 8">
            <a:extLst>
              <a:ext uri="{FF2B5EF4-FFF2-40B4-BE49-F238E27FC236}">
                <a16:creationId xmlns:a16="http://schemas.microsoft.com/office/drawing/2014/main" id="{4C38A418-43E2-73CB-5489-7840987EEA79}"/>
              </a:ext>
            </a:extLst>
          </p:cNvPr>
          <p:cNvSpPr/>
          <p:nvPr/>
        </p:nvSpPr>
        <p:spPr>
          <a:xfrm>
            <a:off x="4005072" y="2103120"/>
            <a:ext cx="2286000" cy="50292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Caries</a:t>
            </a:r>
            <a:endParaRPr lang="en-US" sz="1300" dirty="0"/>
          </a:p>
        </p:txBody>
      </p:sp>
      <p:sp>
        <p:nvSpPr>
          <p:cNvPr id="35" name="Shape 9">
            <a:extLst>
              <a:ext uri="{FF2B5EF4-FFF2-40B4-BE49-F238E27FC236}">
                <a16:creationId xmlns:a16="http://schemas.microsoft.com/office/drawing/2014/main" id="{975779D7-B6DE-5F81-B250-65FF26278F8B}"/>
              </a:ext>
            </a:extLst>
          </p:cNvPr>
          <p:cNvSpPr/>
          <p:nvPr/>
        </p:nvSpPr>
        <p:spPr>
          <a:xfrm>
            <a:off x="548640" y="2761488"/>
            <a:ext cx="2788920" cy="502920"/>
          </a:xfrm>
          <a:prstGeom prst="roundRect">
            <a:avLst>
              <a:gd name="adj" fmla="val 14545"/>
            </a:avLst>
          </a:prstGeom>
          <a:solidFill>
            <a:srgbClr val="F4F7F9"/>
          </a:solidFill>
          <a:ln/>
        </p:spPr>
        <p:txBody>
          <a:bodyPr/>
          <a:lstStyle/>
          <a:p>
            <a:endParaRPr lang="en-US"/>
          </a:p>
        </p:txBody>
      </p:sp>
      <p:sp>
        <p:nvSpPr>
          <p:cNvPr id="38" name="Shape 10">
            <a:extLst>
              <a:ext uri="{FF2B5EF4-FFF2-40B4-BE49-F238E27FC236}">
                <a16:creationId xmlns:a16="http://schemas.microsoft.com/office/drawing/2014/main" id="{4D0609DA-D08E-13B2-EA60-3F1848116AA0}"/>
              </a:ext>
            </a:extLst>
          </p:cNvPr>
          <p:cNvSpPr/>
          <p:nvPr/>
        </p:nvSpPr>
        <p:spPr>
          <a:xfrm>
            <a:off x="685800" y="2926080"/>
            <a:ext cx="182880" cy="182880"/>
          </a:xfrm>
          <a:prstGeom prst="ellipse">
            <a:avLst/>
          </a:prstGeom>
          <a:solidFill>
            <a:srgbClr val="1C7293"/>
          </a:solidFill>
          <a:ln/>
        </p:spPr>
        <p:txBody>
          <a:bodyPr/>
          <a:lstStyle/>
          <a:p>
            <a:endParaRPr lang="en-US"/>
          </a:p>
        </p:txBody>
      </p:sp>
      <p:sp>
        <p:nvSpPr>
          <p:cNvPr id="41" name="Text 11">
            <a:extLst>
              <a:ext uri="{FF2B5EF4-FFF2-40B4-BE49-F238E27FC236}">
                <a16:creationId xmlns:a16="http://schemas.microsoft.com/office/drawing/2014/main" id="{514DFEAD-5121-3855-E711-3D9BB4887D2F}"/>
              </a:ext>
            </a:extLst>
          </p:cNvPr>
          <p:cNvSpPr/>
          <p:nvPr/>
        </p:nvSpPr>
        <p:spPr>
          <a:xfrm>
            <a:off x="987552" y="2761488"/>
            <a:ext cx="2286000" cy="50292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Gingivitis</a:t>
            </a:r>
            <a:endParaRPr lang="en-US" sz="1300" dirty="0"/>
          </a:p>
        </p:txBody>
      </p:sp>
      <p:sp>
        <p:nvSpPr>
          <p:cNvPr id="43" name="Shape 12">
            <a:extLst>
              <a:ext uri="{FF2B5EF4-FFF2-40B4-BE49-F238E27FC236}">
                <a16:creationId xmlns:a16="http://schemas.microsoft.com/office/drawing/2014/main" id="{5942FD68-9553-8A0C-9724-B86EFB90CB44}"/>
              </a:ext>
            </a:extLst>
          </p:cNvPr>
          <p:cNvSpPr/>
          <p:nvPr/>
        </p:nvSpPr>
        <p:spPr>
          <a:xfrm>
            <a:off x="3566160" y="2761488"/>
            <a:ext cx="2788920" cy="502920"/>
          </a:xfrm>
          <a:prstGeom prst="roundRect">
            <a:avLst>
              <a:gd name="adj" fmla="val 14545"/>
            </a:avLst>
          </a:prstGeom>
          <a:solidFill>
            <a:srgbClr val="F4F7F9"/>
          </a:solidFill>
          <a:ln/>
        </p:spPr>
        <p:txBody>
          <a:bodyPr/>
          <a:lstStyle/>
          <a:p>
            <a:endParaRPr lang="en-US"/>
          </a:p>
        </p:txBody>
      </p:sp>
      <p:sp>
        <p:nvSpPr>
          <p:cNvPr id="46" name="Shape 13">
            <a:extLst>
              <a:ext uri="{FF2B5EF4-FFF2-40B4-BE49-F238E27FC236}">
                <a16:creationId xmlns:a16="http://schemas.microsoft.com/office/drawing/2014/main" id="{CB65378B-33F8-30D3-77F7-469BD46B9B3D}"/>
              </a:ext>
            </a:extLst>
          </p:cNvPr>
          <p:cNvSpPr/>
          <p:nvPr/>
        </p:nvSpPr>
        <p:spPr>
          <a:xfrm>
            <a:off x="3703320" y="2926080"/>
            <a:ext cx="182880" cy="182880"/>
          </a:xfrm>
          <a:prstGeom prst="ellipse">
            <a:avLst/>
          </a:prstGeom>
          <a:solidFill>
            <a:srgbClr val="21295C"/>
          </a:solidFill>
          <a:ln/>
        </p:spPr>
        <p:txBody>
          <a:bodyPr/>
          <a:lstStyle/>
          <a:p>
            <a:endParaRPr lang="en-US"/>
          </a:p>
        </p:txBody>
      </p:sp>
      <p:sp>
        <p:nvSpPr>
          <p:cNvPr id="49" name="Text 14">
            <a:extLst>
              <a:ext uri="{FF2B5EF4-FFF2-40B4-BE49-F238E27FC236}">
                <a16:creationId xmlns:a16="http://schemas.microsoft.com/office/drawing/2014/main" id="{0E0A8023-E5BF-D8CC-D6A2-19F40CCA984C}"/>
              </a:ext>
            </a:extLst>
          </p:cNvPr>
          <p:cNvSpPr/>
          <p:nvPr/>
        </p:nvSpPr>
        <p:spPr>
          <a:xfrm>
            <a:off x="4005072" y="2761488"/>
            <a:ext cx="2286000" cy="50292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Hypodontia</a:t>
            </a:r>
            <a:endParaRPr lang="en-US" sz="1300" dirty="0"/>
          </a:p>
        </p:txBody>
      </p:sp>
      <p:sp>
        <p:nvSpPr>
          <p:cNvPr id="51" name="Shape 15">
            <a:extLst>
              <a:ext uri="{FF2B5EF4-FFF2-40B4-BE49-F238E27FC236}">
                <a16:creationId xmlns:a16="http://schemas.microsoft.com/office/drawing/2014/main" id="{F63D5665-8F88-42F7-13EF-B86D02BEAD99}"/>
              </a:ext>
            </a:extLst>
          </p:cNvPr>
          <p:cNvSpPr/>
          <p:nvPr/>
        </p:nvSpPr>
        <p:spPr>
          <a:xfrm>
            <a:off x="548640" y="3419856"/>
            <a:ext cx="2788920" cy="502920"/>
          </a:xfrm>
          <a:prstGeom prst="roundRect">
            <a:avLst>
              <a:gd name="adj" fmla="val 14545"/>
            </a:avLst>
          </a:prstGeom>
          <a:solidFill>
            <a:srgbClr val="F4F7F9"/>
          </a:solidFill>
          <a:ln/>
        </p:spPr>
        <p:txBody>
          <a:bodyPr/>
          <a:lstStyle/>
          <a:p>
            <a:endParaRPr lang="en-US"/>
          </a:p>
        </p:txBody>
      </p:sp>
      <p:sp>
        <p:nvSpPr>
          <p:cNvPr id="54" name="Shape 16">
            <a:extLst>
              <a:ext uri="{FF2B5EF4-FFF2-40B4-BE49-F238E27FC236}">
                <a16:creationId xmlns:a16="http://schemas.microsoft.com/office/drawing/2014/main" id="{BD902544-0100-F480-B99C-1FC463F56357}"/>
              </a:ext>
            </a:extLst>
          </p:cNvPr>
          <p:cNvSpPr/>
          <p:nvPr/>
        </p:nvSpPr>
        <p:spPr>
          <a:xfrm>
            <a:off x="685800" y="3584448"/>
            <a:ext cx="182880" cy="182880"/>
          </a:xfrm>
          <a:prstGeom prst="ellipse">
            <a:avLst/>
          </a:prstGeom>
          <a:solidFill>
            <a:srgbClr val="1C9C6E"/>
          </a:solidFill>
          <a:ln/>
        </p:spPr>
        <p:txBody>
          <a:bodyPr/>
          <a:lstStyle/>
          <a:p>
            <a:endParaRPr lang="en-US"/>
          </a:p>
        </p:txBody>
      </p:sp>
      <p:sp>
        <p:nvSpPr>
          <p:cNvPr id="57" name="Text 17">
            <a:extLst>
              <a:ext uri="{FF2B5EF4-FFF2-40B4-BE49-F238E27FC236}">
                <a16:creationId xmlns:a16="http://schemas.microsoft.com/office/drawing/2014/main" id="{3E1419C8-0E01-BE64-7DB8-78EA1DF7E542}"/>
              </a:ext>
            </a:extLst>
          </p:cNvPr>
          <p:cNvSpPr/>
          <p:nvPr/>
        </p:nvSpPr>
        <p:spPr>
          <a:xfrm>
            <a:off x="987552" y="3419856"/>
            <a:ext cx="2286000" cy="50292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Mouth Ulcer</a:t>
            </a:r>
            <a:endParaRPr lang="en-US" sz="1300" dirty="0"/>
          </a:p>
        </p:txBody>
      </p:sp>
      <p:sp>
        <p:nvSpPr>
          <p:cNvPr id="59" name="Shape 18">
            <a:extLst>
              <a:ext uri="{FF2B5EF4-FFF2-40B4-BE49-F238E27FC236}">
                <a16:creationId xmlns:a16="http://schemas.microsoft.com/office/drawing/2014/main" id="{2D617A6E-ED8C-C7FD-DF9C-59BAF5DC2150}"/>
              </a:ext>
            </a:extLst>
          </p:cNvPr>
          <p:cNvSpPr/>
          <p:nvPr/>
        </p:nvSpPr>
        <p:spPr>
          <a:xfrm>
            <a:off x="3566160" y="3419856"/>
            <a:ext cx="2788920" cy="502920"/>
          </a:xfrm>
          <a:prstGeom prst="roundRect">
            <a:avLst>
              <a:gd name="adj" fmla="val 14545"/>
            </a:avLst>
          </a:prstGeom>
          <a:solidFill>
            <a:srgbClr val="F4F7F9"/>
          </a:solidFill>
          <a:ln/>
        </p:spPr>
        <p:txBody>
          <a:bodyPr/>
          <a:lstStyle/>
          <a:p>
            <a:endParaRPr lang="en-US"/>
          </a:p>
        </p:txBody>
      </p:sp>
      <p:sp>
        <p:nvSpPr>
          <p:cNvPr id="62" name="Shape 19">
            <a:extLst>
              <a:ext uri="{FF2B5EF4-FFF2-40B4-BE49-F238E27FC236}">
                <a16:creationId xmlns:a16="http://schemas.microsoft.com/office/drawing/2014/main" id="{7958C39A-9949-6D47-9A9E-3B84CB073382}"/>
              </a:ext>
            </a:extLst>
          </p:cNvPr>
          <p:cNvSpPr/>
          <p:nvPr/>
        </p:nvSpPr>
        <p:spPr>
          <a:xfrm>
            <a:off x="3703320" y="3584448"/>
            <a:ext cx="182880" cy="182880"/>
          </a:xfrm>
          <a:prstGeom prst="ellipse">
            <a:avLst/>
          </a:prstGeom>
          <a:solidFill>
            <a:srgbClr val="8A6D3B"/>
          </a:solidFill>
          <a:ln/>
        </p:spPr>
        <p:txBody>
          <a:bodyPr/>
          <a:lstStyle/>
          <a:p>
            <a:endParaRPr lang="en-US"/>
          </a:p>
        </p:txBody>
      </p:sp>
      <p:sp>
        <p:nvSpPr>
          <p:cNvPr id="65" name="Text 20">
            <a:extLst>
              <a:ext uri="{FF2B5EF4-FFF2-40B4-BE49-F238E27FC236}">
                <a16:creationId xmlns:a16="http://schemas.microsoft.com/office/drawing/2014/main" id="{161EB47B-41AB-F680-6F52-9F96DEC71950}"/>
              </a:ext>
            </a:extLst>
          </p:cNvPr>
          <p:cNvSpPr/>
          <p:nvPr/>
        </p:nvSpPr>
        <p:spPr>
          <a:xfrm>
            <a:off x="4005072" y="3419856"/>
            <a:ext cx="2286000" cy="502920"/>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Tooth Discoloration</a:t>
            </a:r>
            <a:endParaRPr lang="en-US" sz="1300" dirty="0"/>
          </a:p>
        </p:txBody>
      </p:sp>
      <p:sp>
        <p:nvSpPr>
          <p:cNvPr id="67" name="Text 21">
            <a:extLst>
              <a:ext uri="{FF2B5EF4-FFF2-40B4-BE49-F238E27FC236}">
                <a16:creationId xmlns:a16="http://schemas.microsoft.com/office/drawing/2014/main" id="{5F8C80F3-2188-5F09-9AE8-61391112A821}"/>
              </a:ext>
            </a:extLst>
          </p:cNvPr>
          <p:cNvSpPr/>
          <p:nvPr/>
        </p:nvSpPr>
        <p:spPr>
          <a:xfrm>
            <a:off x="6400800" y="1737360"/>
            <a:ext cx="5029200" cy="274320"/>
          </a:xfrm>
          <a:prstGeom prst="rect">
            <a:avLst/>
          </a:prstGeom>
          <a:noFill/>
          <a:ln/>
        </p:spPr>
        <p:txBody>
          <a:bodyPr wrap="square"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DATA PREPARATION</a:t>
            </a:r>
            <a:endParaRPr lang="en-US" sz="1100" dirty="0"/>
          </a:p>
        </p:txBody>
      </p:sp>
      <p:sp>
        <p:nvSpPr>
          <p:cNvPr id="70" name="Text 22">
            <a:extLst>
              <a:ext uri="{FF2B5EF4-FFF2-40B4-BE49-F238E27FC236}">
                <a16:creationId xmlns:a16="http://schemas.microsoft.com/office/drawing/2014/main" id="{E01ED8F7-2AB8-5F8C-B53D-4F9DE41D82B4}"/>
              </a:ext>
            </a:extLst>
          </p:cNvPr>
          <p:cNvSpPr/>
          <p:nvPr/>
        </p:nvSpPr>
        <p:spPr>
          <a:xfrm>
            <a:off x="6400800" y="2057400"/>
            <a:ext cx="5120640" cy="777240"/>
          </a:xfrm>
          <a:prstGeom prst="rect">
            <a:avLst/>
          </a:prstGeom>
          <a:noFill/>
          <a:ln/>
        </p:spPr>
        <p:txBody>
          <a:bodyPr wrap="square" rtlCol="0" anchor="ctr"/>
          <a:lstStyle/>
          <a:p>
            <a:pPr marL="0" indent="0">
              <a:lnSpc>
                <a:spcPct val="120000"/>
              </a:lnSpc>
              <a:buNone/>
            </a:pPr>
            <a:r>
              <a:rPr lang="en-US" sz="1250" dirty="0">
                <a:solidFill>
                  <a:schemeClr val="bg1"/>
                </a:solidFill>
                <a:latin typeface="Calibri" pitchFamily="34" charset="0"/>
                <a:ea typeface="Calibri" pitchFamily="34" charset="-122"/>
                <a:cs typeface="Calibri" pitchFamily="34" charset="-120"/>
              </a:rPr>
              <a:t>Images were organized into class folders, then converted into a single Pandas DataFrame of (filepath, label) pairs for consistent downstream processing.</a:t>
            </a:r>
            <a:endParaRPr lang="en-US" sz="1250" dirty="0">
              <a:solidFill>
                <a:schemeClr val="bg1"/>
              </a:solidFill>
            </a:endParaRPr>
          </a:p>
        </p:txBody>
      </p:sp>
      <p:sp>
        <p:nvSpPr>
          <p:cNvPr id="73" name="Text 23">
            <a:extLst>
              <a:ext uri="{FF2B5EF4-FFF2-40B4-BE49-F238E27FC236}">
                <a16:creationId xmlns:a16="http://schemas.microsoft.com/office/drawing/2014/main" id="{3B6789D8-432E-0D6C-8B1B-B4AAAD66586E}"/>
              </a:ext>
            </a:extLst>
          </p:cNvPr>
          <p:cNvSpPr/>
          <p:nvPr/>
        </p:nvSpPr>
        <p:spPr>
          <a:xfrm>
            <a:off x="6400800" y="2971800"/>
            <a:ext cx="5029200" cy="274320"/>
          </a:xfrm>
          <a:prstGeom prst="rect">
            <a:avLst/>
          </a:prstGeom>
          <a:noFill/>
          <a:ln/>
        </p:spPr>
        <p:txBody>
          <a:bodyPr wrap="square" rtlCol="0" anchor="ctr"/>
          <a:lstStyle/>
          <a:p>
            <a:pPr marL="0" indent="0">
              <a:buNone/>
            </a:pPr>
            <a:r>
              <a:rPr lang="en-US" sz="1100" b="1" kern="0" spc="150" dirty="0">
                <a:solidFill>
                  <a:schemeClr val="bg1"/>
                </a:solidFill>
                <a:latin typeface="Calibri" pitchFamily="34" charset="0"/>
                <a:ea typeface="Calibri" pitchFamily="34" charset="-122"/>
                <a:cs typeface="Calibri" pitchFamily="34" charset="-120"/>
              </a:rPr>
              <a:t>STRATIFIED SPLIT</a:t>
            </a:r>
            <a:endParaRPr lang="en-US" sz="1100" dirty="0">
              <a:solidFill>
                <a:schemeClr val="bg1"/>
              </a:solidFill>
            </a:endParaRPr>
          </a:p>
        </p:txBody>
      </p:sp>
      <p:graphicFrame>
        <p:nvGraphicFramePr>
          <p:cNvPr id="75" name="Chart 0">
            <a:extLst>
              <a:ext uri="{FF2B5EF4-FFF2-40B4-BE49-F238E27FC236}">
                <a16:creationId xmlns:a16="http://schemas.microsoft.com/office/drawing/2014/main" id="{B109FA39-771B-67F1-437A-1F76CAA62C21}"/>
              </a:ext>
            </a:extLst>
          </p:cNvPr>
          <p:cNvGraphicFramePr/>
          <p:nvPr>
            <p:extLst>
              <p:ext uri="{D42A27DB-BD31-4B8C-83A1-F6EECF244321}">
                <p14:modId xmlns:p14="http://schemas.microsoft.com/office/powerpoint/2010/main" val="3962580330"/>
              </p:ext>
            </p:extLst>
          </p:nvPr>
        </p:nvGraphicFramePr>
        <p:xfrm>
          <a:off x="6400800" y="3291840"/>
          <a:ext cx="512064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77" name="Text 24">
            <a:extLst>
              <a:ext uri="{FF2B5EF4-FFF2-40B4-BE49-F238E27FC236}">
                <a16:creationId xmlns:a16="http://schemas.microsoft.com/office/drawing/2014/main" id="{B6C3A82F-89E5-9A1F-3884-EFB9BF073E2F}"/>
              </a:ext>
            </a:extLst>
          </p:cNvPr>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79" name="Text 25">
            <a:extLst>
              <a:ext uri="{FF2B5EF4-FFF2-40B4-BE49-F238E27FC236}">
                <a16:creationId xmlns:a16="http://schemas.microsoft.com/office/drawing/2014/main" id="{12E9D194-F679-4EF4-8506-1944D7727A11}"/>
              </a:ext>
            </a:extLst>
          </p:cNvPr>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extLst>
      <p:ext uri="{BB962C8B-B14F-4D97-AF65-F5344CB8AC3E}">
        <p14:creationId xmlns:p14="http://schemas.microsoft.com/office/powerpoint/2010/main" val="578480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76D8D11D-15C5-420E-22D0-7990AE69BC17}"/>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353BE307-3AE2-BC66-E5EF-07D075712E3F}"/>
              </a:ext>
            </a:extLst>
          </p:cNvPr>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chemeClr val="bg1"/>
                </a:solidFill>
                <a:latin typeface="Calibri" pitchFamily="34" charset="0"/>
                <a:ea typeface="Calibri" pitchFamily="34" charset="-122"/>
                <a:cs typeface="Calibri" pitchFamily="34" charset="-120"/>
              </a:rPr>
              <a:t>EXPLORATORY DATA ANALYSIS</a:t>
            </a:r>
            <a:endParaRPr lang="en-US" sz="1300" dirty="0">
              <a:solidFill>
                <a:schemeClr val="bg1"/>
              </a:solidFill>
            </a:endParaRPr>
          </a:p>
        </p:txBody>
      </p:sp>
      <p:sp>
        <p:nvSpPr>
          <p:cNvPr id="6" name="Text 1">
            <a:extLst>
              <a:ext uri="{FF2B5EF4-FFF2-40B4-BE49-F238E27FC236}">
                <a16:creationId xmlns:a16="http://schemas.microsoft.com/office/drawing/2014/main" id="{132BC2C0-AF93-67FD-9B21-CDFB959BF6BA}"/>
              </a:ext>
            </a:extLst>
          </p:cNvPr>
          <p:cNvSpPr/>
          <p:nvPr/>
        </p:nvSpPr>
        <p:spPr>
          <a:xfrm>
            <a:off x="548640" y="685800"/>
            <a:ext cx="10789920" cy="822960"/>
          </a:xfrm>
          <a:prstGeom prst="rect">
            <a:avLst/>
          </a:prstGeom>
          <a:noFill/>
          <a:ln/>
        </p:spPr>
        <p:txBody>
          <a:bodyPr wrap="square"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Understanding Class Balance &amp; Image Properties</a:t>
            </a:r>
            <a:endParaRPr lang="en-US" sz="3200" dirty="0">
              <a:solidFill>
                <a:schemeClr val="bg1"/>
              </a:solidFill>
            </a:endParaRPr>
          </a:p>
        </p:txBody>
      </p:sp>
      <p:sp>
        <p:nvSpPr>
          <p:cNvPr id="9" name="Shape 2">
            <a:extLst>
              <a:ext uri="{FF2B5EF4-FFF2-40B4-BE49-F238E27FC236}">
                <a16:creationId xmlns:a16="http://schemas.microsoft.com/office/drawing/2014/main" id="{4512957B-995C-BA19-B3DE-FED29547D5A4}"/>
              </a:ext>
            </a:extLst>
          </p:cNvPr>
          <p:cNvSpPr/>
          <p:nvPr/>
        </p:nvSpPr>
        <p:spPr>
          <a:xfrm>
            <a:off x="548640" y="1783080"/>
            <a:ext cx="5486400" cy="4206240"/>
          </a:xfrm>
          <a:prstGeom prst="roundRect">
            <a:avLst>
              <a:gd name="adj" fmla="val 1957"/>
            </a:avLst>
          </a:prstGeom>
          <a:solidFill>
            <a:srgbClr val="F4F7F9"/>
          </a:solidFill>
          <a:ln/>
        </p:spPr>
        <p:txBody>
          <a:bodyPr/>
          <a:lstStyle/>
          <a:p>
            <a:endParaRPr lang="en-US"/>
          </a:p>
        </p:txBody>
      </p:sp>
      <p:sp>
        <p:nvSpPr>
          <p:cNvPr id="12" name="Text 3">
            <a:extLst>
              <a:ext uri="{FF2B5EF4-FFF2-40B4-BE49-F238E27FC236}">
                <a16:creationId xmlns:a16="http://schemas.microsoft.com/office/drawing/2014/main" id="{DF0F2941-03F6-C148-4461-AC5FE6D9347A}"/>
              </a:ext>
            </a:extLst>
          </p:cNvPr>
          <p:cNvSpPr/>
          <p:nvPr/>
        </p:nvSpPr>
        <p:spPr>
          <a:xfrm>
            <a:off x="822960" y="2011680"/>
            <a:ext cx="4937760" cy="274320"/>
          </a:xfrm>
          <a:prstGeom prst="rect">
            <a:avLst/>
          </a:prstGeom>
          <a:noFill/>
          <a:ln/>
        </p:spPr>
        <p:txBody>
          <a:bodyPr wrap="square"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WHAT WE EXAMINED</a:t>
            </a:r>
            <a:endParaRPr lang="en-US" sz="1100" dirty="0"/>
          </a:p>
        </p:txBody>
      </p:sp>
      <p:sp>
        <p:nvSpPr>
          <p:cNvPr id="14" name="Shape 4">
            <a:extLst>
              <a:ext uri="{FF2B5EF4-FFF2-40B4-BE49-F238E27FC236}">
                <a16:creationId xmlns:a16="http://schemas.microsoft.com/office/drawing/2014/main" id="{C0F1CA00-219E-A961-F7A6-7301271D090E}"/>
              </a:ext>
            </a:extLst>
          </p:cNvPr>
          <p:cNvSpPr/>
          <p:nvPr/>
        </p:nvSpPr>
        <p:spPr>
          <a:xfrm>
            <a:off x="868680" y="2505456"/>
            <a:ext cx="82296" cy="82296"/>
          </a:xfrm>
          <a:prstGeom prst="ellipse">
            <a:avLst/>
          </a:prstGeom>
          <a:solidFill>
            <a:srgbClr val="065A82"/>
          </a:solidFill>
          <a:ln/>
        </p:spPr>
        <p:txBody>
          <a:bodyPr/>
          <a:lstStyle/>
          <a:p>
            <a:endParaRPr lang="en-US"/>
          </a:p>
        </p:txBody>
      </p:sp>
      <p:sp>
        <p:nvSpPr>
          <p:cNvPr id="17" name="Text 5">
            <a:extLst>
              <a:ext uri="{FF2B5EF4-FFF2-40B4-BE49-F238E27FC236}">
                <a16:creationId xmlns:a16="http://schemas.microsoft.com/office/drawing/2014/main" id="{09146F6C-D95B-2FEA-FCE4-EC4992B4876D}"/>
              </a:ext>
            </a:extLst>
          </p:cNvPr>
          <p:cNvSpPr/>
          <p:nvPr/>
        </p:nvSpPr>
        <p:spPr>
          <a:xfrm>
            <a:off x="1097280" y="2350008"/>
            <a:ext cx="4709160" cy="457200"/>
          </a:xfrm>
          <a:prstGeom prst="rect">
            <a:avLst/>
          </a:prstGeom>
          <a:noFill/>
          <a:ln/>
        </p:spPr>
        <p:txBody>
          <a:bodyPr wrap="square" rtlCol="0" anchor="ctr"/>
          <a:lstStyle/>
          <a:p>
            <a:pPr marL="0" indent="0">
              <a:lnSpc>
                <a:spcPct val="110000"/>
              </a:lnSpc>
              <a:buNone/>
            </a:pPr>
            <a:r>
              <a:rPr lang="en-US" sz="1300" dirty="0">
                <a:solidFill>
                  <a:srgbClr val="1B2430"/>
                </a:solidFill>
                <a:latin typeface="Calibri" pitchFamily="34" charset="0"/>
                <a:ea typeface="Calibri" pitchFamily="34" charset="-122"/>
                <a:cs typeface="Calibri" pitchFamily="34" charset="-120"/>
              </a:rPr>
              <a:t>Per-class image counts to detect imbalance</a:t>
            </a:r>
            <a:endParaRPr lang="en-US" sz="1300" dirty="0"/>
          </a:p>
        </p:txBody>
      </p:sp>
      <p:sp>
        <p:nvSpPr>
          <p:cNvPr id="20" name="Shape 6">
            <a:extLst>
              <a:ext uri="{FF2B5EF4-FFF2-40B4-BE49-F238E27FC236}">
                <a16:creationId xmlns:a16="http://schemas.microsoft.com/office/drawing/2014/main" id="{7EFE2D99-8567-F7DF-4BC9-5D93304311D5}"/>
              </a:ext>
            </a:extLst>
          </p:cNvPr>
          <p:cNvSpPr/>
          <p:nvPr/>
        </p:nvSpPr>
        <p:spPr>
          <a:xfrm>
            <a:off x="868680" y="3163824"/>
            <a:ext cx="82296" cy="82296"/>
          </a:xfrm>
          <a:prstGeom prst="ellipse">
            <a:avLst/>
          </a:prstGeom>
          <a:solidFill>
            <a:srgbClr val="065A82"/>
          </a:solidFill>
          <a:ln/>
        </p:spPr>
        <p:txBody>
          <a:bodyPr/>
          <a:lstStyle/>
          <a:p>
            <a:endParaRPr lang="en-US"/>
          </a:p>
        </p:txBody>
      </p:sp>
      <p:sp>
        <p:nvSpPr>
          <p:cNvPr id="23" name="Text 7">
            <a:extLst>
              <a:ext uri="{FF2B5EF4-FFF2-40B4-BE49-F238E27FC236}">
                <a16:creationId xmlns:a16="http://schemas.microsoft.com/office/drawing/2014/main" id="{331F3920-DF2C-49F9-A524-456C6FBBB3E6}"/>
              </a:ext>
            </a:extLst>
          </p:cNvPr>
          <p:cNvSpPr/>
          <p:nvPr/>
        </p:nvSpPr>
        <p:spPr>
          <a:xfrm>
            <a:off x="1097280" y="3008376"/>
            <a:ext cx="4709160" cy="457200"/>
          </a:xfrm>
          <a:prstGeom prst="rect">
            <a:avLst/>
          </a:prstGeom>
          <a:noFill/>
          <a:ln/>
        </p:spPr>
        <p:txBody>
          <a:bodyPr wrap="square" rtlCol="0" anchor="ctr"/>
          <a:lstStyle/>
          <a:p>
            <a:pPr marL="0" indent="0">
              <a:lnSpc>
                <a:spcPct val="110000"/>
              </a:lnSpc>
              <a:buNone/>
            </a:pPr>
            <a:r>
              <a:rPr lang="en-US" sz="1300" dirty="0">
                <a:solidFill>
                  <a:srgbClr val="1B2430"/>
                </a:solidFill>
                <a:latin typeface="Calibri" pitchFamily="34" charset="0"/>
                <a:ea typeface="Calibri" pitchFamily="34" charset="-122"/>
                <a:cs typeface="Calibri" pitchFamily="34" charset="-120"/>
              </a:rPr>
              <a:t>Sample image grids per class for visual sanity checks</a:t>
            </a:r>
            <a:endParaRPr lang="en-US" sz="1300" dirty="0"/>
          </a:p>
        </p:txBody>
      </p:sp>
      <p:sp>
        <p:nvSpPr>
          <p:cNvPr id="26" name="Shape 8">
            <a:extLst>
              <a:ext uri="{FF2B5EF4-FFF2-40B4-BE49-F238E27FC236}">
                <a16:creationId xmlns:a16="http://schemas.microsoft.com/office/drawing/2014/main" id="{5120D1FC-C421-F71B-09A1-7F5F4325D77D}"/>
              </a:ext>
            </a:extLst>
          </p:cNvPr>
          <p:cNvSpPr/>
          <p:nvPr/>
        </p:nvSpPr>
        <p:spPr>
          <a:xfrm>
            <a:off x="868680" y="3822192"/>
            <a:ext cx="82296" cy="82296"/>
          </a:xfrm>
          <a:prstGeom prst="ellipse">
            <a:avLst/>
          </a:prstGeom>
          <a:solidFill>
            <a:srgbClr val="065A82"/>
          </a:solidFill>
          <a:ln/>
        </p:spPr>
        <p:txBody>
          <a:bodyPr/>
          <a:lstStyle/>
          <a:p>
            <a:endParaRPr lang="en-US"/>
          </a:p>
        </p:txBody>
      </p:sp>
      <p:sp>
        <p:nvSpPr>
          <p:cNvPr id="29" name="Text 9">
            <a:extLst>
              <a:ext uri="{FF2B5EF4-FFF2-40B4-BE49-F238E27FC236}">
                <a16:creationId xmlns:a16="http://schemas.microsoft.com/office/drawing/2014/main" id="{F967EB47-469E-D0B4-08FC-73A2F1F3343C}"/>
              </a:ext>
            </a:extLst>
          </p:cNvPr>
          <p:cNvSpPr/>
          <p:nvPr/>
        </p:nvSpPr>
        <p:spPr>
          <a:xfrm>
            <a:off x="1097280" y="3666744"/>
            <a:ext cx="4709160" cy="457200"/>
          </a:xfrm>
          <a:prstGeom prst="rect">
            <a:avLst/>
          </a:prstGeom>
          <a:noFill/>
          <a:ln/>
        </p:spPr>
        <p:txBody>
          <a:bodyPr wrap="square" rtlCol="0" anchor="ctr"/>
          <a:lstStyle/>
          <a:p>
            <a:pPr marL="0" indent="0">
              <a:lnSpc>
                <a:spcPct val="110000"/>
              </a:lnSpc>
              <a:buNone/>
            </a:pPr>
            <a:r>
              <a:rPr lang="en-US" sz="1300" dirty="0">
                <a:solidFill>
                  <a:srgbClr val="1B2430"/>
                </a:solidFill>
                <a:latin typeface="Calibri" pitchFamily="34" charset="0"/>
                <a:ea typeface="Calibri" pitchFamily="34" charset="-122"/>
                <a:cs typeface="Calibri" pitchFamily="34" charset="-120"/>
              </a:rPr>
              <a:t>Image dimension &amp; aspect ratio distribution</a:t>
            </a:r>
            <a:endParaRPr lang="en-US" sz="1300" dirty="0"/>
          </a:p>
        </p:txBody>
      </p:sp>
      <p:sp>
        <p:nvSpPr>
          <p:cNvPr id="31" name="Shape 10">
            <a:extLst>
              <a:ext uri="{FF2B5EF4-FFF2-40B4-BE49-F238E27FC236}">
                <a16:creationId xmlns:a16="http://schemas.microsoft.com/office/drawing/2014/main" id="{31BFEF9C-32C7-7BA5-9586-22005E51E839}"/>
              </a:ext>
            </a:extLst>
          </p:cNvPr>
          <p:cNvSpPr/>
          <p:nvPr/>
        </p:nvSpPr>
        <p:spPr>
          <a:xfrm>
            <a:off x="868680" y="4480560"/>
            <a:ext cx="82296" cy="82296"/>
          </a:xfrm>
          <a:prstGeom prst="ellipse">
            <a:avLst/>
          </a:prstGeom>
          <a:solidFill>
            <a:srgbClr val="065A82"/>
          </a:solidFill>
          <a:ln/>
        </p:spPr>
        <p:txBody>
          <a:bodyPr/>
          <a:lstStyle/>
          <a:p>
            <a:endParaRPr lang="en-US"/>
          </a:p>
        </p:txBody>
      </p:sp>
      <p:sp>
        <p:nvSpPr>
          <p:cNvPr id="34" name="Text 11">
            <a:extLst>
              <a:ext uri="{FF2B5EF4-FFF2-40B4-BE49-F238E27FC236}">
                <a16:creationId xmlns:a16="http://schemas.microsoft.com/office/drawing/2014/main" id="{0AAFD92C-9F50-A835-FE03-1E5182B9E7BD}"/>
              </a:ext>
            </a:extLst>
          </p:cNvPr>
          <p:cNvSpPr/>
          <p:nvPr/>
        </p:nvSpPr>
        <p:spPr>
          <a:xfrm>
            <a:off x="1097280" y="4325112"/>
            <a:ext cx="4709160" cy="457200"/>
          </a:xfrm>
          <a:prstGeom prst="rect">
            <a:avLst/>
          </a:prstGeom>
          <a:noFill/>
          <a:ln/>
        </p:spPr>
        <p:txBody>
          <a:bodyPr wrap="square" rtlCol="0" anchor="ctr"/>
          <a:lstStyle/>
          <a:p>
            <a:pPr marL="0" indent="0">
              <a:lnSpc>
                <a:spcPct val="110000"/>
              </a:lnSpc>
              <a:buNone/>
            </a:pPr>
            <a:r>
              <a:rPr lang="en-US" sz="1300" dirty="0">
                <a:solidFill>
                  <a:srgbClr val="1B2430"/>
                </a:solidFill>
                <a:latin typeface="Calibri" pitchFamily="34" charset="0"/>
                <a:ea typeface="Calibri" pitchFamily="34" charset="-122"/>
                <a:cs typeface="Calibri" pitchFamily="34" charset="-120"/>
              </a:rPr>
              <a:t>Color/brightness range across source images</a:t>
            </a:r>
            <a:endParaRPr lang="en-US" sz="1300" dirty="0"/>
          </a:p>
        </p:txBody>
      </p:sp>
      <p:sp>
        <p:nvSpPr>
          <p:cNvPr id="37" name="Shape 12">
            <a:extLst>
              <a:ext uri="{FF2B5EF4-FFF2-40B4-BE49-F238E27FC236}">
                <a16:creationId xmlns:a16="http://schemas.microsoft.com/office/drawing/2014/main" id="{E99E984C-3DE0-C7AB-2CA3-2F16AFF2D8B9}"/>
              </a:ext>
            </a:extLst>
          </p:cNvPr>
          <p:cNvSpPr/>
          <p:nvPr/>
        </p:nvSpPr>
        <p:spPr>
          <a:xfrm>
            <a:off x="868680" y="5138928"/>
            <a:ext cx="82296" cy="82296"/>
          </a:xfrm>
          <a:prstGeom prst="ellipse">
            <a:avLst/>
          </a:prstGeom>
          <a:solidFill>
            <a:srgbClr val="065A82"/>
          </a:solidFill>
          <a:ln/>
        </p:spPr>
        <p:txBody>
          <a:bodyPr/>
          <a:lstStyle/>
          <a:p>
            <a:endParaRPr lang="en-US"/>
          </a:p>
        </p:txBody>
      </p:sp>
      <p:sp>
        <p:nvSpPr>
          <p:cNvPr id="40" name="Text 13">
            <a:extLst>
              <a:ext uri="{FF2B5EF4-FFF2-40B4-BE49-F238E27FC236}">
                <a16:creationId xmlns:a16="http://schemas.microsoft.com/office/drawing/2014/main" id="{DD532C1C-FFDB-07C9-8BC1-1351F3720DCE}"/>
              </a:ext>
            </a:extLst>
          </p:cNvPr>
          <p:cNvSpPr/>
          <p:nvPr/>
        </p:nvSpPr>
        <p:spPr>
          <a:xfrm>
            <a:off x="1097280" y="4983480"/>
            <a:ext cx="4709160" cy="457200"/>
          </a:xfrm>
          <a:prstGeom prst="rect">
            <a:avLst/>
          </a:prstGeom>
          <a:noFill/>
          <a:ln/>
        </p:spPr>
        <p:txBody>
          <a:bodyPr wrap="square" rtlCol="0" anchor="ctr"/>
          <a:lstStyle/>
          <a:p>
            <a:pPr marL="0" indent="0">
              <a:lnSpc>
                <a:spcPct val="110000"/>
              </a:lnSpc>
              <a:buNone/>
            </a:pPr>
            <a:r>
              <a:rPr lang="en-US" sz="1300" dirty="0">
                <a:solidFill>
                  <a:srgbClr val="1B2430"/>
                </a:solidFill>
                <a:latin typeface="Calibri" pitchFamily="34" charset="0"/>
                <a:ea typeface="Calibri" pitchFamily="34" charset="-122"/>
                <a:cs typeface="Calibri" pitchFamily="34" charset="-120"/>
              </a:rPr>
              <a:t>Duplicate or corrupted file checks</a:t>
            </a:r>
            <a:endParaRPr lang="en-US" sz="1300" dirty="0"/>
          </a:p>
        </p:txBody>
      </p:sp>
      <p:sp>
        <p:nvSpPr>
          <p:cNvPr id="44" name="Text 14">
            <a:extLst>
              <a:ext uri="{FF2B5EF4-FFF2-40B4-BE49-F238E27FC236}">
                <a16:creationId xmlns:a16="http://schemas.microsoft.com/office/drawing/2014/main" id="{87D9AF0B-1BEA-9122-3543-5692612A462A}"/>
              </a:ext>
            </a:extLst>
          </p:cNvPr>
          <p:cNvSpPr/>
          <p:nvPr/>
        </p:nvSpPr>
        <p:spPr>
          <a:xfrm>
            <a:off x="6355080" y="1783080"/>
            <a:ext cx="5212080" cy="274320"/>
          </a:xfrm>
          <a:prstGeom prst="rect">
            <a:avLst/>
          </a:prstGeom>
          <a:noFill/>
          <a:ln/>
        </p:spPr>
        <p:txBody>
          <a:bodyPr wrap="square" rtlCol="0" anchor="ctr"/>
          <a:lstStyle/>
          <a:p>
            <a:pPr marL="0" indent="0">
              <a:buNone/>
            </a:pPr>
            <a:r>
              <a:rPr lang="en-US" sz="1100" b="1" kern="0" spc="130" dirty="0">
                <a:solidFill>
                  <a:schemeClr val="bg1"/>
                </a:solidFill>
                <a:latin typeface="Calibri" pitchFamily="34" charset="0"/>
                <a:ea typeface="Calibri" pitchFamily="34" charset="-122"/>
                <a:cs typeface="Calibri" pitchFamily="34" charset="-120"/>
              </a:rPr>
              <a:t>CLASS IMBALANCE — A CENTRAL CHALLENGE</a:t>
            </a:r>
            <a:endParaRPr lang="en-US" sz="1100" dirty="0">
              <a:solidFill>
                <a:schemeClr val="bg1"/>
              </a:solidFill>
            </a:endParaRPr>
          </a:p>
        </p:txBody>
      </p:sp>
      <p:graphicFrame>
        <p:nvGraphicFramePr>
          <p:cNvPr id="47" name="Chart 0">
            <a:extLst>
              <a:ext uri="{FF2B5EF4-FFF2-40B4-BE49-F238E27FC236}">
                <a16:creationId xmlns:a16="http://schemas.microsoft.com/office/drawing/2014/main" id="{61975931-360A-DB67-612E-6625B7D72EA7}"/>
              </a:ext>
            </a:extLst>
          </p:cNvPr>
          <p:cNvGraphicFramePr/>
          <p:nvPr>
            <p:extLst>
              <p:ext uri="{D42A27DB-BD31-4B8C-83A1-F6EECF244321}">
                <p14:modId xmlns:p14="http://schemas.microsoft.com/office/powerpoint/2010/main" val="1545564300"/>
              </p:ext>
            </p:extLst>
          </p:nvPr>
        </p:nvGraphicFramePr>
        <p:xfrm>
          <a:off x="6309360" y="2148840"/>
          <a:ext cx="52120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0" name="Text 15">
            <a:extLst>
              <a:ext uri="{FF2B5EF4-FFF2-40B4-BE49-F238E27FC236}">
                <a16:creationId xmlns:a16="http://schemas.microsoft.com/office/drawing/2014/main" id="{8B35CB2A-BEEF-DEFC-71B9-FC1007EDB1B9}"/>
              </a:ext>
            </a:extLst>
          </p:cNvPr>
          <p:cNvSpPr/>
          <p:nvPr/>
        </p:nvSpPr>
        <p:spPr>
          <a:xfrm>
            <a:off x="6309360" y="5440680"/>
            <a:ext cx="5212080" cy="457200"/>
          </a:xfrm>
          <a:prstGeom prst="rect">
            <a:avLst/>
          </a:prstGeom>
          <a:noFill/>
          <a:ln/>
        </p:spPr>
        <p:txBody>
          <a:bodyPr wrap="square" rtlCol="0" anchor="ctr"/>
          <a:lstStyle/>
          <a:p>
            <a:pPr marL="0" indent="0">
              <a:buNone/>
            </a:pPr>
            <a:r>
              <a:rPr lang="en-US" sz="1050" i="1" dirty="0">
                <a:solidFill>
                  <a:schemeClr val="bg1"/>
                </a:solidFill>
                <a:latin typeface="Calibri" pitchFamily="34" charset="0"/>
                <a:ea typeface="Calibri" pitchFamily="34" charset="-122"/>
                <a:cs typeface="Calibri" pitchFamily="34" charset="-120"/>
              </a:rPr>
              <a:t>Illustrative relative volumes — motivates the augmentation &amp; class-weighting decisions covered next.</a:t>
            </a:r>
            <a:endParaRPr lang="en-US" sz="1050" dirty="0">
              <a:solidFill>
                <a:schemeClr val="bg1"/>
              </a:solidFill>
            </a:endParaRPr>
          </a:p>
        </p:txBody>
      </p:sp>
      <p:sp>
        <p:nvSpPr>
          <p:cNvPr id="53" name="Text 16">
            <a:extLst>
              <a:ext uri="{FF2B5EF4-FFF2-40B4-BE49-F238E27FC236}">
                <a16:creationId xmlns:a16="http://schemas.microsoft.com/office/drawing/2014/main" id="{3240E1A2-54A0-3BAE-D49C-D2C682BD50C4}"/>
              </a:ext>
            </a:extLst>
          </p:cNvPr>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56" name="Text 17">
            <a:extLst>
              <a:ext uri="{FF2B5EF4-FFF2-40B4-BE49-F238E27FC236}">
                <a16:creationId xmlns:a16="http://schemas.microsoft.com/office/drawing/2014/main" id="{CA9525EA-CEC6-30B6-23CF-F89657B03F56}"/>
              </a:ext>
            </a:extLst>
          </p:cNvPr>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extLst>
      <p:ext uri="{BB962C8B-B14F-4D97-AF65-F5344CB8AC3E}">
        <p14:creationId xmlns:p14="http://schemas.microsoft.com/office/powerpoint/2010/main" val="1644193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26908CF5-9223-5D5E-FB49-A59DE2AF92A0}"/>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05CBEB0-1C5B-A638-3F7D-ABB9852E2134}"/>
              </a:ext>
            </a:extLst>
          </p:cNvPr>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chemeClr val="bg1"/>
                </a:solidFill>
                <a:latin typeface="Calibri" pitchFamily="34" charset="0"/>
                <a:ea typeface="Calibri" pitchFamily="34" charset="-122"/>
                <a:cs typeface="Calibri" pitchFamily="34" charset="-120"/>
              </a:rPr>
              <a:t>DATA PIPELINE</a:t>
            </a:r>
            <a:endParaRPr lang="en-US" sz="1300" dirty="0">
              <a:solidFill>
                <a:schemeClr val="bg1"/>
              </a:solidFill>
            </a:endParaRPr>
          </a:p>
        </p:txBody>
      </p:sp>
      <p:sp>
        <p:nvSpPr>
          <p:cNvPr id="7" name="Text 1">
            <a:extLst>
              <a:ext uri="{FF2B5EF4-FFF2-40B4-BE49-F238E27FC236}">
                <a16:creationId xmlns:a16="http://schemas.microsoft.com/office/drawing/2014/main" id="{C519C246-89E3-9B6F-5D16-C929000D7F00}"/>
              </a:ext>
            </a:extLst>
          </p:cNvPr>
          <p:cNvSpPr/>
          <p:nvPr/>
        </p:nvSpPr>
        <p:spPr>
          <a:xfrm>
            <a:off x="548640" y="704088"/>
            <a:ext cx="10789920" cy="822960"/>
          </a:xfrm>
          <a:prstGeom prst="rect">
            <a:avLst/>
          </a:prstGeom>
          <a:noFill/>
          <a:ln/>
        </p:spPr>
        <p:txBody>
          <a:bodyPr wrap="square"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Preprocessing Pipeline</a:t>
            </a:r>
            <a:endParaRPr lang="en-US" sz="3200" dirty="0">
              <a:solidFill>
                <a:schemeClr val="bg1"/>
              </a:solidFill>
            </a:endParaRPr>
          </a:p>
        </p:txBody>
      </p:sp>
      <p:sp>
        <p:nvSpPr>
          <p:cNvPr id="10" name="Shape 2">
            <a:extLst>
              <a:ext uri="{FF2B5EF4-FFF2-40B4-BE49-F238E27FC236}">
                <a16:creationId xmlns:a16="http://schemas.microsoft.com/office/drawing/2014/main" id="{9C8E6068-A141-5476-0630-092C8BCA9444}"/>
              </a:ext>
            </a:extLst>
          </p:cNvPr>
          <p:cNvSpPr/>
          <p:nvPr/>
        </p:nvSpPr>
        <p:spPr>
          <a:xfrm>
            <a:off x="548640" y="2148840"/>
            <a:ext cx="1691640" cy="1417320"/>
          </a:xfrm>
          <a:prstGeom prst="roundRect">
            <a:avLst>
              <a:gd name="adj" fmla="val 5806"/>
            </a:avLst>
          </a:prstGeom>
          <a:solidFill>
            <a:srgbClr val="065A82"/>
          </a:solidFill>
          <a:ln/>
        </p:spPr>
        <p:txBody>
          <a:bodyPr/>
          <a:lstStyle/>
          <a:p>
            <a:endParaRPr lang="en-US"/>
          </a:p>
        </p:txBody>
      </p:sp>
      <p:sp>
        <p:nvSpPr>
          <p:cNvPr id="13" name="Shape 3">
            <a:extLst>
              <a:ext uri="{FF2B5EF4-FFF2-40B4-BE49-F238E27FC236}">
                <a16:creationId xmlns:a16="http://schemas.microsoft.com/office/drawing/2014/main" id="{2E338509-6B1E-897C-4A6F-906A93F76231}"/>
              </a:ext>
            </a:extLst>
          </p:cNvPr>
          <p:cNvSpPr/>
          <p:nvPr/>
        </p:nvSpPr>
        <p:spPr>
          <a:xfrm>
            <a:off x="1120140" y="2313432"/>
            <a:ext cx="548640" cy="548640"/>
          </a:xfrm>
          <a:prstGeom prst="ellipse">
            <a:avLst/>
          </a:prstGeom>
          <a:solidFill>
            <a:srgbClr val="FFFFFF"/>
          </a:solidFill>
          <a:ln/>
        </p:spPr>
        <p:txBody>
          <a:bodyPr/>
          <a:lstStyle/>
          <a:p>
            <a:endParaRPr lang="en-US"/>
          </a:p>
        </p:txBody>
      </p:sp>
      <p:pic>
        <p:nvPicPr>
          <p:cNvPr id="16" name="Image 0" descr="icons/database_065A82.png">
            <a:extLst>
              <a:ext uri="{FF2B5EF4-FFF2-40B4-BE49-F238E27FC236}">
                <a16:creationId xmlns:a16="http://schemas.microsoft.com/office/drawing/2014/main" id="{7D2263C6-B115-C97C-FAFC-AB2D01A029C3}"/>
              </a:ext>
            </a:extLst>
          </p:cNvPr>
          <p:cNvPicPr>
            <a:picLocks noChangeAspect="1"/>
          </p:cNvPicPr>
          <p:nvPr/>
        </p:nvPicPr>
        <p:blipFill>
          <a:blip r:embed="rId3"/>
          <a:stretch>
            <a:fillRect/>
          </a:stretch>
        </p:blipFill>
        <p:spPr>
          <a:xfrm>
            <a:off x="1251814" y="2445106"/>
            <a:ext cx="285293" cy="285293"/>
          </a:xfrm>
          <a:prstGeom prst="rect">
            <a:avLst/>
          </a:prstGeom>
        </p:spPr>
      </p:pic>
      <p:sp>
        <p:nvSpPr>
          <p:cNvPr id="19" name="Text 4">
            <a:extLst>
              <a:ext uri="{FF2B5EF4-FFF2-40B4-BE49-F238E27FC236}">
                <a16:creationId xmlns:a16="http://schemas.microsoft.com/office/drawing/2014/main" id="{769E75B7-32D0-FFE5-B398-AE5EAE3563E8}"/>
              </a:ext>
            </a:extLst>
          </p:cNvPr>
          <p:cNvSpPr/>
          <p:nvPr/>
        </p:nvSpPr>
        <p:spPr>
          <a:xfrm>
            <a:off x="640080" y="2857500"/>
            <a:ext cx="1545336" cy="365760"/>
          </a:xfrm>
          <a:prstGeom prst="rect">
            <a:avLst/>
          </a:prstGeom>
          <a:noFill/>
          <a:ln/>
        </p:spPr>
        <p:txBody>
          <a:bodyPr wrap="square"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Folder-Based Loading</a:t>
            </a:r>
            <a:endParaRPr lang="en-US" sz="1150" dirty="0"/>
          </a:p>
        </p:txBody>
      </p:sp>
      <p:sp>
        <p:nvSpPr>
          <p:cNvPr id="22" name="Text 5">
            <a:extLst>
              <a:ext uri="{FF2B5EF4-FFF2-40B4-BE49-F238E27FC236}">
                <a16:creationId xmlns:a16="http://schemas.microsoft.com/office/drawing/2014/main" id="{D77E0A1D-2DCF-7F35-85A4-336BE68B8390}"/>
              </a:ext>
            </a:extLst>
          </p:cNvPr>
          <p:cNvSpPr/>
          <p:nvPr/>
        </p:nvSpPr>
        <p:spPr>
          <a:xfrm>
            <a:off x="667512" y="3155750"/>
            <a:ext cx="1545336" cy="457200"/>
          </a:xfrm>
          <a:prstGeom prst="rect">
            <a:avLst/>
          </a:prstGeom>
          <a:noFill/>
          <a:ln/>
        </p:spPr>
        <p:txBody>
          <a:bodyPr wrap="square" rtlCol="0" anchor="ctr"/>
          <a:lstStyle/>
          <a:p>
            <a:pPr marL="0" indent="0" algn="ctr">
              <a:lnSpc>
                <a:spcPct val="105000"/>
              </a:lnSpc>
              <a:buNone/>
            </a:pPr>
            <a:r>
              <a:rPr lang="en-US" sz="900" dirty="0">
                <a:solidFill>
                  <a:srgbClr val="E4EEF3"/>
                </a:solidFill>
                <a:latin typeface="Calibri" pitchFamily="34" charset="0"/>
                <a:ea typeface="Calibri" pitchFamily="34" charset="-122"/>
                <a:cs typeface="Calibri" pitchFamily="34" charset="-120"/>
              </a:rPr>
              <a:t>Images read from class folders</a:t>
            </a:r>
            <a:endParaRPr lang="en-US" sz="900" dirty="0"/>
          </a:p>
        </p:txBody>
      </p:sp>
      <p:sp>
        <p:nvSpPr>
          <p:cNvPr id="25" name="Text 6">
            <a:extLst>
              <a:ext uri="{FF2B5EF4-FFF2-40B4-BE49-F238E27FC236}">
                <a16:creationId xmlns:a16="http://schemas.microsoft.com/office/drawing/2014/main" id="{2C7F1DAD-55B6-9311-277D-7A4F36FE8F4D}"/>
              </a:ext>
            </a:extLst>
          </p:cNvPr>
          <p:cNvSpPr/>
          <p:nvPr/>
        </p:nvSpPr>
        <p:spPr>
          <a:xfrm>
            <a:off x="2084832" y="2606040"/>
            <a:ext cx="365760" cy="457200"/>
          </a:xfrm>
          <a:prstGeom prst="rect">
            <a:avLst/>
          </a:prstGeom>
          <a:noFill/>
          <a:ln/>
        </p:spPr>
        <p:txBody>
          <a:bodyPr wrap="square" rtlCol="0" anchor="ctr"/>
          <a:lstStyle/>
          <a:p>
            <a:pPr marL="0" indent="0" algn="ctr">
              <a:buNone/>
            </a:pPr>
            <a:r>
              <a:rPr lang="en-US" sz="2200" b="1" dirty="0">
                <a:solidFill>
                  <a:srgbClr val="5B6B79"/>
                </a:solidFill>
                <a:latin typeface="Calibri" pitchFamily="34" charset="0"/>
                <a:ea typeface="Calibri" pitchFamily="34" charset="-122"/>
                <a:cs typeface="Calibri" pitchFamily="34" charset="-120"/>
              </a:rPr>
              <a:t>→</a:t>
            </a:r>
            <a:endParaRPr lang="en-US" sz="2200" dirty="0"/>
          </a:p>
        </p:txBody>
      </p:sp>
      <p:sp>
        <p:nvSpPr>
          <p:cNvPr id="28" name="Shape 7">
            <a:extLst>
              <a:ext uri="{FF2B5EF4-FFF2-40B4-BE49-F238E27FC236}">
                <a16:creationId xmlns:a16="http://schemas.microsoft.com/office/drawing/2014/main" id="{052FF9B9-43D9-08F9-5961-8D7E7199BEF6}"/>
              </a:ext>
            </a:extLst>
          </p:cNvPr>
          <p:cNvSpPr/>
          <p:nvPr/>
        </p:nvSpPr>
        <p:spPr>
          <a:xfrm>
            <a:off x="2258568" y="2148840"/>
            <a:ext cx="1691640" cy="1417320"/>
          </a:xfrm>
          <a:prstGeom prst="roundRect">
            <a:avLst>
              <a:gd name="adj" fmla="val 5806"/>
            </a:avLst>
          </a:prstGeom>
          <a:solidFill>
            <a:srgbClr val="1C7293"/>
          </a:solidFill>
          <a:ln/>
        </p:spPr>
        <p:txBody>
          <a:bodyPr/>
          <a:lstStyle/>
          <a:p>
            <a:endParaRPr lang="en-US"/>
          </a:p>
        </p:txBody>
      </p:sp>
      <p:sp>
        <p:nvSpPr>
          <p:cNvPr id="32" name="Shape 8">
            <a:extLst>
              <a:ext uri="{FF2B5EF4-FFF2-40B4-BE49-F238E27FC236}">
                <a16:creationId xmlns:a16="http://schemas.microsoft.com/office/drawing/2014/main" id="{E31EB903-8274-C782-E989-C787778D43E4}"/>
              </a:ext>
            </a:extLst>
          </p:cNvPr>
          <p:cNvSpPr/>
          <p:nvPr/>
        </p:nvSpPr>
        <p:spPr>
          <a:xfrm>
            <a:off x="2830068" y="2313432"/>
            <a:ext cx="548640" cy="548640"/>
          </a:xfrm>
          <a:prstGeom prst="ellipse">
            <a:avLst/>
          </a:prstGeom>
          <a:solidFill>
            <a:srgbClr val="FFFFFF"/>
          </a:solidFill>
          <a:ln/>
        </p:spPr>
        <p:txBody>
          <a:bodyPr/>
          <a:lstStyle/>
          <a:p>
            <a:endParaRPr lang="en-US"/>
          </a:p>
        </p:txBody>
      </p:sp>
      <p:pic>
        <p:nvPicPr>
          <p:cNvPr id="35" name="Image 1" descr="icons/clipboard_1C7293.png">
            <a:extLst>
              <a:ext uri="{FF2B5EF4-FFF2-40B4-BE49-F238E27FC236}">
                <a16:creationId xmlns:a16="http://schemas.microsoft.com/office/drawing/2014/main" id="{2C66822A-FBF1-88F2-0732-F05F0A42A0AF}"/>
              </a:ext>
            </a:extLst>
          </p:cNvPr>
          <p:cNvPicPr>
            <a:picLocks noChangeAspect="1"/>
          </p:cNvPicPr>
          <p:nvPr/>
        </p:nvPicPr>
        <p:blipFill>
          <a:blip r:embed="rId4"/>
          <a:stretch>
            <a:fillRect/>
          </a:stretch>
        </p:blipFill>
        <p:spPr>
          <a:xfrm>
            <a:off x="2961742" y="2445106"/>
            <a:ext cx="285293" cy="285293"/>
          </a:xfrm>
          <a:prstGeom prst="rect">
            <a:avLst/>
          </a:prstGeom>
        </p:spPr>
      </p:pic>
      <p:sp>
        <p:nvSpPr>
          <p:cNvPr id="38" name="Text 9">
            <a:extLst>
              <a:ext uri="{FF2B5EF4-FFF2-40B4-BE49-F238E27FC236}">
                <a16:creationId xmlns:a16="http://schemas.microsoft.com/office/drawing/2014/main" id="{99FD6A4F-4B81-7DF4-160F-E239AF49FCF5}"/>
              </a:ext>
            </a:extLst>
          </p:cNvPr>
          <p:cNvSpPr/>
          <p:nvPr/>
        </p:nvSpPr>
        <p:spPr>
          <a:xfrm>
            <a:off x="2350008" y="2843784"/>
            <a:ext cx="1545336" cy="365760"/>
          </a:xfrm>
          <a:prstGeom prst="rect">
            <a:avLst/>
          </a:prstGeom>
          <a:noFill/>
          <a:ln/>
        </p:spPr>
        <p:txBody>
          <a:bodyPr wrap="square"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DataFrame Creation</a:t>
            </a:r>
            <a:endParaRPr lang="en-US" sz="1150" dirty="0"/>
          </a:p>
        </p:txBody>
      </p:sp>
      <p:sp>
        <p:nvSpPr>
          <p:cNvPr id="41" name="Text 10">
            <a:extLst>
              <a:ext uri="{FF2B5EF4-FFF2-40B4-BE49-F238E27FC236}">
                <a16:creationId xmlns:a16="http://schemas.microsoft.com/office/drawing/2014/main" id="{042C44FC-4A76-8EFB-5A49-0828738BFAE8}"/>
              </a:ext>
            </a:extLst>
          </p:cNvPr>
          <p:cNvSpPr/>
          <p:nvPr/>
        </p:nvSpPr>
        <p:spPr>
          <a:xfrm>
            <a:off x="2350008" y="3081178"/>
            <a:ext cx="1545336" cy="457200"/>
          </a:xfrm>
          <a:prstGeom prst="rect">
            <a:avLst/>
          </a:prstGeom>
          <a:noFill/>
          <a:ln/>
        </p:spPr>
        <p:txBody>
          <a:bodyPr wrap="square" rtlCol="0" anchor="ctr"/>
          <a:lstStyle/>
          <a:p>
            <a:pPr marL="0" indent="0" algn="ctr">
              <a:lnSpc>
                <a:spcPct val="105000"/>
              </a:lnSpc>
              <a:buNone/>
            </a:pPr>
            <a:r>
              <a:rPr lang="en-US" sz="900" dirty="0">
                <a:solidFill>
                  <a:srgbClr val="E4EEF3"/>
                </a:solidFill>
                <a:latin typeface="Calibri" pitchFamily="34" charset="0"/>
                <a:ea typeface="Calibri" pitchFamily="34" charset="-122"/>
                <a:cs typeface="Calibri" pitchFamily="34" charset="-120"/>
              </a:rPr>
              <a:t>Filepath + label table (Pandas)</a:t>
            </a:r>
            <a:endParaRPr lang="en-US" sz="900" dirty="0"/>
          </a:p>
        </p:txBody>
      </p:sp>
      <p:sp>
        <p:nvSpPr>
          <p:cNvPr id="43" name="Text 11">
            <a:extLst>
              <a:ext uri="{FF2B5EF4-FFF2-40B4-BE49-F238E27FC236}">
                <a16:creationId xmlns:a16="http://schemas.microsoft.com/office/drawing/2014/main" id="{115AD5E8-163E-4BD9-067E-C2F9C9B69F26}"/>
              </a:ext>
            </a:extLst>
          </p:cNvPr>
          <p:cNvSpPr/>
          <p:nvPr/>
        </p:nvSpPr>
        <p:spPr>
          <a:xfrm>
            <a:off x="3794760" y="2606040"/>
            <a:ext cx="365760" cy="457200"/>
          </a:xfrm>
          <a:prstGeom prst="rect">
            <a:avLst/>
          </a:prstGeom>
          <a:noFill/>
          <a:ln/>
        </p:spPr>
        <p:txBody>
          <a:bodyPr wrap="square" rtlCol="0" anchor="ctr"/>
          <a:lstStyle/>
          <a:p>
            <a:pPr marL="0" indent="0" algn="ctr">
              <a:buNone/>
            </a:pPr>
            <a:r>
              <a:rPr lang="en-US" sz="2200" b="1" dirty="0">
                <a:solidFill>
                  <a:srgbClr val="5B6B79"/>
                </a:solidFill>
                <a:latin typeface="Calibri" pitchFamily="34" charset="0"/>
                <a:ea typeface="Calibri" pitchFamily="34" charset="-122"/>
                <a:cs typeface="Calibri" pitchFamily="34" charset="-120"/>
              </a:rPr>
              <a:t>→</a:t>
            </a:r>
            <a:endParaRPr lang="en-US" sz="2200" dirty="0"/>
          </a:p>
        </p:txBody>
      </p:sp>
      <p:sp>
        <p:nvSpPr>
          <p:cNvPr id="46" name="Shape 12">
            <a:extLst>
              <a:ext uri="{FF2B5EF4-FFF2-40B4-BE49-F238E27FC236}">
                <a16:creationId xmlns:a16="http://schemas.microsoft.com/office/drawing/2014/main" id="{963E89C5-5E00-0294-0F99-6AA543F4EFA5}"/>
              </a:ext>
            </a:extLst>
          </p:cNvPr>
          <p:cNvSpPr/>
          <p:nvPr/>
        </p:nvSpPr>
        <p:spPr>
          <a:xfrm>
            <a:off x="3968496" y="2189307"/>
            <a:ext cx="1691640" cy="1417320"/>
          </a:xfrm>
          <a:prstGeom prst="roundRect">
            <a:avLst>
              <a:gd name="adj" fmla="val 5806"/>
            </a:avLst>
          </a:prstGeom>
          <a:solidFill>
            <a:srgbClr val="065A82"/>
          </a:solidFill>
          <a:ln/>
        </p:spPr>
        <p:txBody>
          <a:bodyPr/>
          <a:lstStyle/>
          <a:p>
            <a:endParaRPr lang="en-US"/>
          </a:p>
        </p:txBody>
      </p:sp>
      <p:sp>
        <p:nvSpPr>
          <p:cNvPr id="49" name="Shape 13">
            <a:extLst>
              <a:ext uri="{FF2B5EF4-FFF2-40B4-BE49-F238E27FC236}">
                <a16:creationId xmlns:a16="http://schemas.microsoft.com/office/drawing/2014/main" id="{C4D0E382-E794-846D-F2E4-CFBA95D834B3}"/>
              </a:ext>
            </a:extLst>
          </p:cNvPr>
          <p:cNvSpPr/>
          <p:nvPr/>
        </p:nvSpPr>
        <p:spPr>
          <a:xfrm>
            <a:off x="4539996" y="2313432"/>
            <a:ext cx="548640" cy="548640"/>
          </a:xfrm>
          <a:prstGeom prst="ellipse">
            <a:avLst/>
          </a:prstGeom>
          <a:solidFill>
            <a:srgbClr val="FFFFFF"/>
          </a:solidFill>
          <a:ln/>
        </p:spPr>
        <p:txBody>
          <a:bodyPr/>
          <a:lstStyle/>
          <a:p>
            <a:endParaRPr lang="en-US"/>
          </a:p>
        </p:txBody>
      </p:sp>
      <p:pic>
        <p:nvPicPr>
          <p:cNvPr id="52" name="Image 2" descr="icons/balance_065A82.png">
            <a:extLst>
              <a:ext uri="{FF2B5EF4-FFF2-40B4-BE49-F238E27FC236}">
                <a16:creationId xmlns:a16="http://schemas.microsoft.com/office/drawing/2014/main" id="{AC31FEAB-844A-1243-F830-C0DFE52DF978}"/>
              </a:ext>
            </a:extLst>
          </p:cNvPr>
          <p:cNvPicPr>
            <a:picLocks noChangeAspect="1"/>
          </p:cNvPicPr>
          <p:nvPr/>
        </p:nvPicPr>
        <p:blipFill>
          <a:blip r:embed="rId5"/>
          <a:stretch>
            <a:fillRect/>
          </a:stretch>
        </p:blipFill>
        <p:spPr>
          <a:xfrm>
            <a:off x="4671670" y="2445106"/>
            <a:ext cx="285293" cy="285293"/>
          </a:xfrm>
          <a:prstGeom prst="rect">
            <a:avLst/>
          </a:prstGeom>
        </p:spPr>
      </p:pic>
      <p:sp>
        <p:nvSpPr>
          <p:cNvPr id="55" name="Text 14">
            <a:extLst>
              <a:ext uri="{FF2B5EF4-FFF2-40B4-BE49-F238E27FC236}">
                <a16:creationId xmlns:a16="http://schemas.microsoft.com/office/drawing/2014/main" id="{90154490-96B2-CE51-60D4-FD254EBA39AF}"/>
              </a:ext>
            </a:extLst>
          </p:cNvPr>
          <p:cNvSpPr/>
          <p:nvPr/>
        </p:nvSpPr>
        <p:spPr>
          <a:xfrm>
            <a:off x="4041648" y="2953512"/>
            <a:ext cx="1545336" cy="365760"/>
          </a:xfrm>
          <a:prstGeom prst="rect">
            <a:avLst/>
          </a:prstGeom>
          <a:noFill/>
          <a:ln/>
        </p:spPr>
        <p:txBody>
          <a:bodyPr wrap="square"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Stratified Split</a:t>
            </a:r>
            <a:endParaRPr lang="en-US" sz="1150" dirty="0"/>
          </a:p>
        </p:txBody>
      </p:sp>
      <p:sp>
        <p:nvSpPr>
          <p:cNvPr id="58" name="Text 15">
            <a:extLst>
              <a:ext uri="{FF2B5EF4-FFF2-40B4-BE49-F238E27FC236}">
                <a16:creationId xmlns:a16="http://schemas.microsoft.com/office/drawing/2014/main" id="{05909AEC-2986-A6AF-3A44-D52C1A606C9D}"/>
              </a:ext>
            </a:extLst>
          </p:cNvPr>
          <p:cNvSpPr/>
          <p:nvPr/>
        </p:nvSpPr>
        <p:spPr>
          <a:xfrm>
            <a:off x="4078224" y="3175789"/>
            <a:ext cx="1545336" cy="457200"/>
          </a:xfrm>
          <a:prstGeom prst="rect">
            <a:avLst/>
          </a:prstGeom>
          <a:noFill/>
          <a:ln/>
        </p:spPr>
        <p:txBody>
          <a:bodyPr wrap="square" rtlCol="0" anchor="ctr"/>
          <a:lstStyle/>
          <a:p>
            <a:pPr marL="0" indent="0" algn="ctr">
              <a:lnSpc>
                <a:spcPct val="105000"/>
              </a:lnSpc>
              <a:buNone/>
            </a:pPr>
            <a:r>
              <a:rPr lang="en-US" sz="900" dirty="0">
                <a:solidFill>
                  <a:srgbClr val="E4EEF3"/>
                </a:solidFill>
                <a:latin typeface="Calibri" pitchFamily="34" charset="0"/>
                <a:ea typeface="Calibri" pitchFamily="34" charset="-122"/>
                <a:cs typeface="Calibri" pitchFamily="34" charset="-120"/>
              </a:rPr>
              <a:t>70 / 15 / 15 train-val-test</a:t>
            </a:r>
            <a:endParaRPr lang="en-US" sz="900" dirty="0"/>
          </a:p>
        </p:txBody>
      </p:sp>
      <p:sp>
        <p:nvSpPr>
          <p:cNvPr id="60" name="Text 16">
            <a:extLst>
              <a:ext uri="{FF2B5EF4-FFF2-40B4-BE49-F238E27FC236}">
                <a16:creationId xmlns:a16="http://schemas.microsoft.com/office/drawing/2014/main" id="{5C50FB2C-CD69-0926-09CE-5B71DD255FA5}"/>
              </a:ext>
            </a:extLst>
          </p:cNvPr>
          <p:cNvSpPr/>
          <p:nvPr/>
        </p:nvSpPr>
        <p:spPr>
          <a:xfrm>
            <a:off x="5504688" y="2606040"/>
            <a:ext cx="365760" cy="457200"/>
          </a:xfrm>
          <a:prstGeom prst="rect">
            <a:avLst/>
          </a:prstGeom>
          <a:noFill/>
          <a:ln/>
        </p:spPr>
        <p:txBody>
          <a:bodyPr wrap="square" rtlCol="0" anchor="ctr"/>
          <a:lstStyle/>
          <a:p>
            <a:pPr marL="0" indent="0" algn="ctr">
              <a:buNone/>
            </a:pPr>
            <a:r>
              <a:rPr lang="en-US" sz="2200" b="1" dirty="0">
                <a:solidFill>
                  <a:srgbClr val="5B6B79"/>
                </a:solidFill>
                <a:latin typeface="Calibri" pitchFamily="34" charset="0"/>
                <a:ea typeface="Calibri" pitchFamily="34" charset="-122"/>
                <a:cs typeface="Calibri" pitchFamily="34" charset="-120"/>
              </a:rPr>
              <a:t>→</a:t>
            </a:r>
            <a:endParaRPr lang="en-US" sz="2200" dirty="0"/>
          </a:p>
        </p:txBody>
      </p:sp>
      <p:sp>
        <p:nvSpPr>
          <p:cNvPr id="62" name="Shape 17">
            <a:extLst>
              <a:ext uri="{FF2B5EF4-FFF2-40B4-BE49-F238E27FC236}">
                <a16:creationId xmlns:a16="http://schemas.microsoft.com/office/drawing/2014/main" id="{D117BE93-6055-586D-5DA1-5C3C2D2B9D45}"/>
              </a:ext>
            </a:extLst>
          </p:cNvPr>
          <p:cNvSpPr/>
          <p:nvPr/>
        </p:nvSpPr>
        <p:spPr>
          <a:xfrm>
            <a:off x="5678424" y="2148840"/>
            <a:ext cx="1691640" cy="1417320"/>
          </a:xfrm>
          <a:prstGeom prst="roundRect">
            <a:avLst>
              <a:gd name="adj" fmla="val 5806"/>
            </a:avLst>
          </a:prstGeom>
          <a:solidFill>
            <a:srgbClr val="1C7293"/>
          </a:solidFill>
          <a:ln/>
        </p:spPr>
        <p:txBody>
          <a:bodyPr/>
          <a:lstStyle/>
          <a:p>
            <a:endParaRPr lang="en-US"/>
          </a:p>
        </p:txBody>
      </p:sp>
      <p:sp>
        <p:nvSpPr>
          <p:cNvPr id="64" name="Shape 18">
            <a:extLst>
              <a:ext uri="{FF2B5EF4-FFF2-40B4-BE49-F238E27FC236}">
                <a16:creationId xmlns:a16="http://schemas.microsoft.com/office/drawing/2014/main" id="{3E876485-A2BE-72AC-DC6E-661A1BDC7432}"/>
              </a:ext>
            </a:extLst>
          </p:cNvPr>
          <p:cNvSpPr/>
          <p:nvPr/>
        </p:nvSpPr>
        <p:spPr>
          <a:xfrm>
            <a:off x="6249924" y="2313432"/>
            <a:ext cx="548640" cy="548640"/>
          </a:xfrm>
          <a:prstGeom prst="ellipse">
            <a:avLst/>
          </a:prstGeom>
          <a:solidFill>
            <a:srgbClr val="FFFFFF"/>
          </a:solidFill>
          <a:ln/>
        </p:spPr>
        <p:txBody>
          <a:bodyPr/>
          <a:lstStyle/>
          <a:p>
            <a:endParaRPr lang="en-US"/>
          </a:p>
        </p:txBody>
      </p:sp>
      <p:pic>
        <p:nvPicPr>
          <p:cNvPr id="66" name="Image 3" descr="icons/images_1C7293.png">
            <a:extLst>
              <a:ext uri="{FF2B5EF4-FFF2-40B4-BE49-F238E27FC236}">
                <a16:creationId xmlns:a16="http://schemas.microsoft.com/office/drawing/2014/main" id="{D226EB34-D7EA-A8E7-EC37-30F8228DC084}"/>
              </a:ext>
            </a:extLst>
          </p:cNvPr>
          <p:cNvPicPr>
            <a:picLocks noChangeAspect="1"/>
          </p:cNvPicPr>
          <p:nvPr/>
        </p:nvPicPr>
        <p:blipFill>
          <a:blip r:embed="rId6"/>
          <a:stretch>
            <a:fillRect/>
          </a:stretch>
        </p:blipFill>
        <p:spPr>
          <a:xfrm>
            <a:off x="6381598" y="2445106"/>
            <a:ext cx="285293" cy="285293"/>
          </a:xfrm>
          <a:prstGeom prst="rect">
            <a:avLst/>
          </a:prstGeom>
        </p:spPr>
      </p:pic>
      <p:sp>
        <p:nvSpPr>
          <p:cNvPr id="68" name="Text 19">
            <a:extLst>
              <a:ext uri="{FF2B5EF4-FFF2-40B4-BE49-F238E27FC236}">
                <a16:creationId xmlns:a16="http://schemas.microsoft.com/office/drawing/2014/main" id="{1FE15F91-546E-16F2-612F-AD107DB87A69}"/>
              </a:ext>
            </a:extLst>
          </p:cNvPr>
          <p:cNvSpPr/>
          <p:nvPr/>
        </p:nvSpPr>
        <p:spPr>
          <a:xfrm>
            <a:off x="5751576" y="2953512"/>
            <a:ext cx="1545336" cy="365760"/>
          </a:xfrm>
          <a:prstGeom prst="rect">
            <a:avLst/>
          </a:prstGeom>
          <a:noFill/>
          <a:ln/>
        </p:spPr>
        <p:txBody>
          <a:bodyPr wrap="square"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Resize to 224×224</a:t>
            </a:r>
            <a:endParaRPr lang="en-US" sz="1150" dirty="0"/>
          </a:p>
        </p:txBody>
      </p:sp>
      <p:sp>
        <p:nvSpPr>
          <p:cNvPr id="70" name="Text 20">
            <a:extLst>
              <a:ext uri="{FF2B5EF4-FFF2-40B4-BE49-F238E27FC236}">
                <a16:creationId xmlns:a16="http://schemas.microsoft.com/office/drawing/2014/main" id="{B40586A0-0477-4C64-0D0C-AA039378EF65}"/>
              </a:ext>
            </a:extLst>
          </p:cNvPr>
          <p:cNvSpPr/>
          <p:nvPr/>
        </p:nvSpPr>
        <p:spPr>
          <a:xfrm>
            <a:off x="5760720" y="3147132"/>
            <a:ext cx="1545336" cy="457200"/>
          </a:xfrm>
          <a:prstGeom prst="rect">
            <a:avLst/>
          </a:prstGeom>
          <a:noFill/>
          <a:ln/>
        </p:spPr>
        <p:txBody>
          <a:bodyPr wrap="square" rtlCol="0" anchor="ctr"/>
          <a:lstStyle/>
          <a:p>
            <a:pPr marL="0" indent="0" algn="ctr">
              <a:lnSpc>
                <a:spcPct val="105000"/>
              </a:lnSpc>
              <a:buNone/>
            </a:pPr>
            <a:r>
              <a:rPr lang="en-US" sz="900" dirty="0">
                <a:solidFill>
                  <a:srgbClr val="E4EEF3"/>
                </a:solidFill>
                <a:latin typeface="Calibri" pitchFamily="34" charset="0"/>
                <a:ea typeface="Calibri" pitchFamily="34" charset="-122"/>
                <a:cs typeface="Calibri" pitchFamily="34" charset="-120"/>
              </a:rPr>
              <a:t>Uniform input size for all models</a:t>
            </a:r>
            <a:endParaRPr lang="en-US" sz="900" dirty="0"/>
          </a:p>
        </p:txBody>
      </p:sp>
      <p:sp>
        <p:nvSpPr>
          <p:cNvPr id="72" name="Text 21">
            <a:extLst>
              <a:ext uri="{FF2B5EF4-FFF2-40B4-BE49-F238E27FC236}">
                <a16:creationId xmlns:a16="http://schemas.microsoft.com/office/drawing/2014/main" id="{2E536002-61AD-941B-3CAA-17E4312FBAE1}"/>
              </a:ext>
            </a:extLst>
          </p:cNvPr>
          <p:cNvSpPr/>
          <p:nvPr/>
        </p:nvSpPr>
        <p:spPr>
          <a:xfrm>
            <a:off x="7214616" y="2606040"/>
            <a:ext cx="365760" cy="457200"/>
          </a:xfrm>
          <a:prstGeom prst="rect">
            <a:avLst/>
          </a:prstGeom>
          <a:noFill/>
          <a:ln/>
        </p:spPr>
        <p:txBody>
          <a:bodyPr wrap="square" rtlCol="0" anchor="ctr"/>
          <a:lstStyle/>
          <a:p>
            <a:pPr marL="0" indent="0" algn="ctr">
              <a:buNone/>
            </a:pPr>
            <a:r>
              <a:rPr lang="en-US" sz="2200" b="1" dirty="0">
                <a:solidFill>
                  <a:srgbClr val="5B6B79"/>
                </a:solidFill>
                <a:latin typeface="Calibri" pitchFamily="34" charset="0"/>
                <a:ea typeface="Calibri" pitchFamily="34" charset="-122"/>
                <a:cs typeface="Calibri" pitchFamily="34" charset="-120"/>
              </a:rPr>
              <a:t>→</a:t>
            </a:r>
            <a:endParaRPr lang="en-US" sz="2200" dirty="0"/>
          </a:p>
        </p:txBody>
      </p:sp>
      <p:sp>
        <p:nvSpPr>
          <p:cNvPr id="74" name="Shape 22">
            <a:extLst>
              <a:ext uri="{FF2B5EF4-FFF2-40B4-BE49-F238E27FC236}">
                <a16:creationId xmlns:a16="http://schemas.microsoft.com/office/drawing/2014/main" id="{3C52F13F-3DF3-8561-96ED-8F77647756E7}"/>
              </a:ext>
            </a:extLst>
          </p:cNvPr>
          <p:cNvSpPr/>
          <p:nvPr/>
        </p:nvSpPr>
        <p:spPr>
          <a:xfrm>
            <a:off x="7388352" y="2148840"/>
            <a:ext cx="1691640" cy="1417320"/>
          </a:xfrm>
          <a:prstGeom prst="roundRect">
            <a:avLst>
              <a:gd name="adj" fmla="val 5806"/>
            </a:avLst>
          </a:prstGeom>
          <a:solidFill>
            <a:srgbClr val="065A82"/>
          </a:solidFill>
          <a:ln/>
        </p:spPr>
        <p:txBody>
          <a:bodyPr/>
          <a:lstStyle/>
          <a:p>
            <a:endParaRPr lang="en-US"/>
          </a:p>
        </p:txBody>
      </p:sp>
      <p:sp>
        <p:nvSpPr>
          <p:cNvPr id="76" name="Shape 23">
            <a:extLst>
              <a:ext uri="{FF2B5EF4-FFF2-40B4-BE49-F238E27FC236}">
                <a16:creationId xmlns:a16="http://schemas.microsoft.com/office/drawing/2014/main" id="{AAB96905-1005-9B14-C3EC-DCB1FB6DAA24}"/>
              </a:ext>
            </a:extLst>
          </p:cNvPr>
          <p:cNvSpPr/>
          <p:nvPr/>
        </p:nvSpPr>
        <p:spPr>
          <a:xfrm>
            <a:off x="7959852" y="2313432"/>
            <a:ext cx="548640" cy="548640"/>
          </a:xfrm>
          <a:prstGeom prst="ellipse">
            <a:avLst/>
          </a:prstGeom>
          <a:solidFill>
            <a:srgbClr val="FFFFFF"/>
          </a:solidFill>
          <a:ln/>
        </p:spPr>
        <p:txBody>
          <a:bodyPr/>
          <a:lstStyle/>
          <a:p>
            <a:endParaRPr lang="en-US"/>
          </a:p>
        </p:txBody>
      </p:sp>
      <p:pic>
        <p:nvPicPr>
          <p:cNvPr id="78" name="Image 4" descr="icons/random_065A82.png">
            <a:extLst>
              <a:ext uri="{FF2B5EF4-FFF2-40B4-BE49-F238E27FC236}">
                <a16:creationId xmlns:a16="http://schemas.microsoft.com/office/drawing/2014/main" id="{6AF32B80-02E3-C98D-D8CC-09A4C9FA28CF}"/>
              </a:ext>
            </a:extLst>
          </p:cNvPr>
          <p:cNvPicPr>
            <a:picLocks noChangeAspect="1"/>
          </p:cNvPicPr>
          <p:nvPr/>
        </p:nvPicPr>
        <p:blipFill>
          <a:blip r:embed="rId7"/>
          <a:stretch>
            <a:fillRect/>
          </a:stretch>
        </p:blipFill>
        <p:spPr>
          <a:xfrm>
            <a:off x="8091526" y="2445106"/>
            <a:ext cx="285293" cy="285293"/>
          </a:xfrm>
          <a:prstGeom prst="rect">
            <a:avLst/>
          </a:prstGeom>
        </p:spPr>
      </p:pic>
      <p:sp>
        <p:nvSpPr>
          <p:cNvPr id="80" name="Text 24">
            <a:extLst>
              <a:ext uri="{FF2B5EF4-FFF2-40B4-BE49-F238E27FC236}">
                <a16:creationId xmlns:a16="http://schemas.microsoft.com/office/drawing/2014/main" id="{D14D2A17-3669-2C57-7A68-E9BD3E95AE34}"/>
              </a:ext>
            </a:extLst>
          </p:cNvPr>
          <p:cNvSpPr/>
          <p:nvPr/>
        </p:nvSpPr>
        <p:spPr>
          <a:xfrm>
            <a:off x="7461504" y="2953512"/>
            <a:ext cx="1545336" cy="365760"/>
          </a:xfrm>
          <a:prstGeom prst="rect">
            <a:avLst/>
          </a:prstGeom>
          <a:noFill/>
          <a:ln/>
        </p:spPr>
        <p:txBody>
          <a:bodyPr wrap="square"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Augmentation</a:t>
            </a:r>
            <a:endParaRPr lang="en-US" sz="1150" dirty="0"/>
          </a:p>
        </p:txBody>
      </p:sp>
      <p:sp>
        <p:nvSpPr>
          <p:cNvPr id="82" name="Text 25">
            <a:extLst>
              <a:ext uri="{FF2B5EF4-FFF2-40B4-BE49-F238E27FC236}">
                <a16:creationId xmlns:a16="http://schemas.microsoft.com/office/drawing/2014/main" id="{C4419526-BD13-5A20-4B15-CD7A3546A311}"/>
              </a:ext>
            </a:extLst>
          </p:cNvPr>
          <p:cNvSpPr/>
          <p:nvPr/>
        </p:nvSpPr>
        <p:spPr>
          <a:xfrm>
            <a:off x="7479792" y="3218688"/>
            <a:ext cx="1545336" cy="457200"/>
          </a:xfrm>
          <a:prstGeom prst="rect">
            <a:avLst/>
          </a:prstGeom>
          <a:noFill/>
          <a:ln/>
        </p:spPr>
        <p:txBody>
          <a:bodyPr wrap="square" rtlCol="0" anchor="ctr"/>
          <a:lstStyle/>
          <a:p>
            <a:pPr marL="0" indent="0" algn="ctr">
              <a:lnSpc>
                <a:spcPct val="105000"/>
              </a:lnSpc>
              <a:buNone/>
            </a:pPr>
            <a:r>
              <a:rPr lang="en-US" sz="900" dirty="0">
                <a:solidFill>
                  <a:srgbClr val="E4EEF3"/>
                </a:solidFill>
                <a:latin typeface="Calibri" pitchFamily="34" charset="0"/>
                <a:ea typeface="Calibri" pitchFamily="34" charset="-122"/>
                <a:cs typeface="Calibri" pitchFamily="34" charset="-120"/>
              </a:rPr>
              <a:t>ImageDataGenerator transforms</a:t>
            </a:r>
            <a:endParaRPr lang="en-US" sz="900" dirty="0"/>
          </a:p>
        </p:txBody>
      </p:sp>
      <p:sp>
        <p:nvSpPr>
          <p:cNvPr id="84" name="Text 26">
            <a:extLst>
              <a:ext uri="{FF2B5EF4-FFF2-40B4-BE49-F238E27FC236}">
                <a16:creationId xmlns:a16="http://schemas.microsoft.com/office/drawing/2014/main" id="{8A2E5119-D8D2-5804-418B-2F5ECB27B71C}"/>
              </a:ext>
            </a:extLst>
          </p:cNvPr>
          <p:cNvSpPr/>
          <p:nvPr/>
        </p:nvSpPr>
        <p:spPr>
          <a:xfrm>
            <a:off x="8924544" y="2606040"/>
            <a:ext cx="365760" cy="457200"/>
          </a:xfrm>
          <a:prstGeom prst="rect">
            <a:avLst/>
          </a:prstGeom>
          <a:noFill/>
          <a:ln/>
        </p:spPr>
        <p:txBody>
          <a:bodyPr wrap="square" rtlCol="0" anchor="ctr"/>
          <a:lstStyle/>
          <a:p>
            <a:pPr marL="0" indent="0" algn="ctr">
              <a:buNone/>
            </a:pPr>
            <a:r>
              <a:rPr lang="en-US" sz="2200" b="1" dirty="0">
                <a:solidFill>
                  <a:srgbClr val="5B6B79"/>
                </a:solidFill>
                <a:latin typeface="Calibri" pitchFamily="34" charset="0"/>
                <a:ea typeface="Calibri" pitchFamily="34" charset="-122"/>
                <a:cs typeface="Calibri" pitchFamily="34" charset="-120"/>
              </a:rPr>
              <a:t>→</a:t>
            </a:r>
            <a:endParaRPr lang="en-US" sz="2200" dirty="0"/>
          </a:p>
        </p:txBody>
      </p:sp>
      <p:sp>
        <p:nvSpPr>
          <p:cNvPr id="86" name="Shape 27">
            <a:extLst>
              <a:ext uri="{FF2B5EF4-FFF2-40B4-BE49-F238E27FC236}">
                <a16:creationId xmlns:a16="http://schemas.microsoft.com/office/drawing/2014/main" id="{20833BD0-E2D4-6CBA-0ABC-6F30BF5A8DDE}"/>
              </a:ext>
            </a:extLst>
          </p:cNvPr>
          <p:cNvSpPr/>
          <p:nvPr/>
        </p:nvSpPr>
        <p:spPr>
          <a:xfrm>
            <a:off x="9098280" y="2143003"/>
            <a:ext cx="1691640" cy="1417320"/>
          </a:xfrm>
          <a:prstGeom prst="roundRect">
            <a:avLst>
              <a:gd name="adj" fmla="val 5806"/>
            </a:avLst>
          </a:prstGeom>
          <a:solidFill>
            <a:srgbClr val="1C7293"/>
          </a:solidFill>
          <a:ln/>
        </p:spPr>
        <p:txBody>
          <a:bodyPr/>
          <a:lstStyle/>
          <a:p>
            <a:endParaRPr lang="en-US"/>
          </a:p>
        </p:txBody>
      </p:sp>
      <p:sp>
        <p:nvSpPr>
          <p:cNvPr id="88" name="Shape 28">
            <a:extLst>
              <a:ext uri="{FF2B5EF4-FFF2-40B4-BE49-F238E27FC236}">
                <a16:creationId xmlns:a16="http://schemas.microsoft.com/office/drawing/2014/main" id="{D4B6C336-4BD5-FA0E-8F21-7A2D33E6793F}"/>
              </a:ext>
            </a:extLst>
          </p:cNvPr>
          <p:cNvSpPr/>
          <p:nvPr/>
        </p:nvSpPr>
        <p:spPr>
          <a:xfrm>
            <a:off x="9669780" y="2313432"/>
            <a:ext cx="548640" cy="548640"/>
          </a:xfrm>
          <a:prstGeom prst="ellipse">
            <a:avLst/>
          </a:prstGeom>
          <a:solidFill>
            <a:srgbClr val="FFFFFF"/>
          </a:solidFill>
          <a:ln/>
        </p:spPr>
        <p:txBody>
          <a:bodyPr/>
          <a:lstStyle/>
          <a:p>
            <a:endParaRPr lang="en-US"/>
          </a:p>
        </p:txBody>
      </p:sp>
      <p:pic>
        <p:nvPicPr>
          <p:cNvPr id="90" name="Image 5" descr="icons/cogs_1C7293.png">
            <a:extLst>
              <a:ext uri="{FF2B5EF4-FFF2-40B4-BE49-F238E27FC236}">
                <a16:creationId xmlns:a16="http://schemas.microsoft.com/office/drawing/2014/main" id="{7DA9BA76-3A41-D2C1-5661-69863B43DAA7}"/>
              </a:ext>
            </a:extLst>
          </p:cNvPr>
          <p:cNvPicPr>
            <a:picLocks noChangeAspect="1"/>
          </p:cNvPicPr>
          <p:nvPr/>
        </p:nvPicPr>
        <p:blipFill>
          <a:blip r:embed="rId8"/>
          <a:stretch>
            <a:fillRect/>
          </a:stretch>
        </p:blipFill>
        <p:spPr>
          <a:xfrm>
            <a:off x="9801454" y="2445106"/>
            <a:ext cx="285293" cy="285293"/>
          </a:xfrm>
          <a:prstGeom prst="rect">
            <a:avLst/>
          </a:prstGeom>
        </p:spPr>
      </p:pic>
      <p:sp>
        <p:nvSpPr>
          <p:cNvPr id="92" name="Text 29">
            <a:extLst>
              <a:ext uri="{FF2B5EF4-FFF2-40B4-BE49-F238E27FC236}">
                <a16:creationId xmlns:a16="http://schemas.microsoft.com/office/drawing/2014/main" id="{84C0E447-8987-9CFF-EDEA-AB2EDE09318C}"/>
              </a:ext>
            </a:extLst>
          </p:cNvPr>
          <p:cNvSpPr/>
          <p:nvPr/>
        </p:nvSpPr>
        <p:spPr>
          <a:xfrm>
            <a:off x="9171432" y="2953512"/>
            <a:ext cx="1545336" cy="365760"/>
          </a:xfrm>
          <a:prstGeom prst="rect">
            <a:avLst/>
          </a:prstGeom>
          <a:noFill/>
          <a:ln/>
        </p:spPr>
        <p:txBody>
          <a:bodyPr wrap="square"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Model-Specific Normalization</a:t>
            </a:r>
            <a:endParaRPr lang="en-US" sz="1150" dirty="0"/>
          </a:p>
        </p:txBody>
      </p:sp>
      <p:sp>
        <p:nvSpPr>
          <p:cNvPr id="94" name="Text 30">
            <a:extLst>
              <a:ext uri="{FF2B5EF4-FFF2-40B4-BE49-F238E27FC236}">
                <a16:creationId xmlns:a16="http://schemas.microsoft.com/office/drawing/2014/main" id="{2A5F7031-3108-5561-D1D8-DFA5939CB9C1}"/>
              </a:ext>
            </a:extLst>
          </p:cNvPr>
          <p:cNvSpPr/>
          <p:nvPr/>
        </p:nvSpPr>
        <p:spPr>
          <a:xfrm>
            <a:off x="9171432" y="3282696"/>
            <a:ext cx="1545336" cy="457200"/>
          </a:xfrm>
          <a:prstGeom prst="rect">
            <a:avLst/>
          </a:prstGeom>
          <a:noFill/>
          <a:ln/>
        </p:spPr>
        <p:txBody>
          <a:bodyPr wrap="square" rtlCol="0" anchor="ctr"/>
          <a:lstStyle/>
          <a:p>
            <a:pPr marL="0" indent="0" algn="ctr">
              <a:lnSpc>
                <a:spcPct val="105000"/>
              </a:lnSpc>
              <a:buNone/>
            </a:pPr>
            <a:r>
              <a:rPr lang="en-US" sz="900" dirty="0">
                <a:solidFill>
                  <a:srgbClr val="E4EEF3"/>
                </a:solidFill>
                <a:latin typeface="Calibri" pitchFamily="34" charset="0"/>
                <a:ea typeface="Calibri" pitchFamily="34" charset="-122"/>
                <a:cs typeface="Calibri" pitchFamily="34" charset="-120"/>
              </a:rPr>
              <a:t>preprocess_input per architecture</a:t>
            </a:r>
            <a:endParaRPr lang="en-US" sz="900" dirty="0"/>
          </a:p>
        </p:txBody>
      </p:sp>
      <p:sp>
        <p:nvSpPr>
          <p:cNvPr id="96" name="Shape 31">
            <a:extLst>
              <a:ext uri="{FF2B5EF4-FFF2-40B4-BE49-F238E27FC236}">
                <a16:creationId xmlns:a16="http://schemas.microsoft.com/office/drawing/2014/main" id="{3FB7C4A6-8BCB-A772-9635-25D3038B29BB}"/>
              </a:ext>
            </a:extLst>
          </p:cNvPr>
          <p:cNvSpPr/>
          <p:nvPr/>
        </p:nvSpPr>
        <p:spPr>
          <a:xfrm>
            <a:off x="548640" y="3931920"/>
            <a:ext cx="11064240" cy="1737360"/>
          </a:xfrm>
          <a:prstGeom prst="roundRect">
            <a:avLst>
              <a:gd name="adj" fmla="val 4737"/>
            </a:avLst>
          </a:prstGeom>
          <a:solidFill>
            <a:srgbClr val="F4F7F9"/>
          </a:solidFill>
          <a:ln/>
        </p:spPr>
        <p:txBody>
          <a:bodyPr/>
          <a:lstStyle/>
          <a:p>
            <a:endParaRPr lang="en-US"/>
          </a:p>
        </p:txBody>
      </p:sp>
      <p:sp>
        <p:nvSpPr>
          <p:cNvPr id="98" name="Text 32">
            <a:extLst>
              <a:ext uri="{FF2B5EF4-FFF2-40B4-BE49-F238E27FC236}">
                <a16:creationId xmlns:a16="http://schemas.microsoft.com/office/drawing/2014/main" id="{E4FA162C-BF93-BAB8-9DE6-0A6FC8748F30}"/>
              </a:ext>
            </a:extLst>
          </p:cNvPr>
          <p:cNvSpPr/>
          <p:nvPr/>
        </p:nvSpPr>
        <p:spPr>
          <a:xfrm>
            <a:off x="822960" y="4114800"/>
            <a:ext cx="10515600" cy="274320"/>
          </a:xfrm>
          <a:prstGeom prst="rect">
            <a:avLst/>
          </a:prstGeom>
          <a:noFill/>
          <a:ln/>
        </p:spPr>
        <p:txBody>
          <a:bodyPr wrap="square" rtlCol="0" anchor="ctr"/>
          <a:lstStyle/>
          <a:p>
            <a:pPr marL="0" indent="0">
              <a:buNone/>
            </a:pPr>
            <a:r>
              <a:rPr lang="en-US" sz="1100" b="1" kern="0" spc="130" dirty="0">
                <a:solidFill>
                  <a:srgbClr val="1C7293"/>
                </a:solidFill>
                <a:latin typeface="Calibri" pitchFamily="34" charset="0"/>
                <a:ea typeface="Calibri" pitchFamily="34" charset="-122"/>
                <a:cs typeface="Calibri" pitchFamily="34" charset="-120"/>
              </a:rPr>
              <a:t>WHY MODEL-SPECIFIC NORMALIZATION MATTERS</a:t>
            </a:r>
            <a:endParaRPr lang="en-US" sz="1100" dirty="0"/>
          </a:p>
        </p:txBody>
      </p:sp>
      <p:sp>
        <p:nvSpPr>
          <p:cNvPr id="100" name="Text 33">
            <a:extLst>
              <a:ext uri="{FF2B5EF4-FFF2-40B4-BE49-F238E27FC236}">
                <a16:creationId xmlns:a16="http://schemas.microsoft.com/office/drawing/2014/main" id="{68B96611-E1FC-77A4-2507-30C4346C1EE4}"/>
              </a:ext>
            </a:extLst>
          </p:cNvPr>
          <p:cNvSpPr/>
          <p:nvPr/>
        </p:nvSpPr>
        <p:spPr>
          <a:xfrm>
            <a:off x="822960" y="4434840"/>
            <a:ext cx="10515600" cy="1097280"/>
          </a:xfrm>
          <a:prstGeom prst="rect">
            <a:avLst/>
          </a:prstGeom>
          <a:noFill/>
          <a:ln/>
        </p:spPr>
        <p:txBody>
          <a:bodyPr wrap="square" rtlCol="0" anchor="ctr"/>
          <a:lstStyle/>
          <a:p>
            <a:pPr marL="0" indent="0">
              <a:lnSpc>
                <a:spcPct val="125000"/>
              </a:lnSpc>
              <a:buNone/>
            </a:pPr>
            <a:r>
              <a:rPr lang="en-US" sz="1300" dirty="0">
                <a:solidFill>
                  <a:srgbClr val="1B2430"/>
                </a:solidFill>
                <a:latin typeface="Calibri" pitchFamily="34" charset="0"/>
                <a:ea typeface="Calibri" pitchFamily="34" charset="-122"/>
                <a:cs typeface="Calibri" pitchFamily="34" charset="-120"/>
              </a:rPr>
              <a:t>Each pretrained backbone was trained on ImageNet with its own expected pixel scaling — e.g. EfficientNet expects a different range than ResNet50 or MobileNetV2. Using the wrong preprocess_input silently degrades transfer learning performance without throwing an error, which made this one of the trickiest bugs to catch (see Challenges).</a:t>
            </a:r>
            <a:endParaRPr lang="en-US" sz="1300" dirty="0"/>
          </a:p>
        </p:txBody>
      </p:sp>
      <p:sp>
        <p:nvSpPr>
          <p:cNvPr id="102" name="Text 34">
            <a:extLst>
              <a:ext uri="{FF2B5EF4-FFF2-40B4-BE49-F238E27FC236}">
                <a16:creationId xmlns:a16="http://schemas.microsoft.com/office/drawing/2014/main" id="{C3FE2BC9-60E4-48CE-E27A-DB004098B054}"/>
              </a:ext>
            </a:extLst>
          </p:cNvPr>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104" name="Text 35">
            <a:extLst>
              <a:ext uri="{FF2B5EF4-FFF2-40B4-BE49-F238E27FC236}">
                <a16:creationId xmlns:a16="http://schemas.microsoft.com/office/drawing/2014/main" id="{9D251AEB-8E2A-C2A3-83FC-031D378F35D2}"/>
              </a:ext>
            </a:extLst>
          </p:cNvPr>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extLst>
      <p:ext uri="{BB962C8B-B14F-4D97-AF65-F5344CB8AC3E}">
        <p14:creationId xmlns:p14="http://schemas.microsoft.com/office/powerpoint/2010/main" val="2516806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4BA62779-3CDD-9ECA-AA20-4D75B902CFCB}"/>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8533C8FC-F8FA-9DAD-0E17-945DED08326F}"/>
              </a:ext>
            </a:extLst>
          </p:cNvPr>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chemeClr val="bg1"/>
                </a:solidFill>
                <a:latin typeface="Calibri" pitchFamily="34" charset="0"/>
                <a:ea typeface="Calibri" pitchFamily="34" charset="-122"/>
                <a:cs typeface="Calibri" pitchFamily="34" charset="-120"/>
              </a:rPr>
              <a:t>DATA PIPELINE</a:t>
            </a:r>
            <a:endParaRPr lang="en-US" sz="1300" dirty="0">
              <a:solidFill>
                <a:schemeClr val="bg1"/>
              </a:solidFill>
            </a:endParaRPr>
          </a:p>
        </p:txBody>
      </p:sp>
      <p:sp>
        <p:nvSpPr>
          <p:cNvPr id="6" name="Text 1">
            <a:extLst>
              <a:ext uri="{FF2B5EF4-FFF2-40B4-BE49-F238E27FC236}">
                <a16:creationId xmlns:a16="http://schemas.microsoft.com/office/drawing/2014/main" id="{A28BDFC0-AB47-65CC-22B9-64F6C862A3EB}"/>
              </a:ext>
            </a:extLst>
          </p:cNvPr>
          <p:cNvSpPr/>
          <p:nvPr/>
        </p:nvSpPr>
        <p:spPr>
          <a:xfrm>
            <a:off x="548640" y="685800"/>
            <a:ext cx="10789920" cy="822960"/>
          </a:xfrm>
          <a:prstGeom prst="rect">
            <a:avLst/>
          </a:prstGeom>
          <a:noFill/>
          <a:ln/>
        </p:spPr>
        <p:txBody>
          <a:bodyPr wrap="square"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Data Augmentation Strategy</a:t>
            </a:r>
            <a:endParaRPr lang="en-US" sz="3200" dirty="0">
              <a:solidFill>
                <a:schemeClr val="bg1"/>
              </a:solidFill>
            </a:endParaRPr>
          </a:p>
        </p:txBody>
      </p:sp>
      <p:sp>
        <p:nvSpPr>
          <p:cNvPr id="9" name="Shape 2">
            <a:extLst>
              <a:ext uri="{FF2B5EF4-FFF2-40B4-BE49-F238E27FC236}">
                <a16:creationId xmlns:a16="http://schemas.microsoft.com/office/drawing/2014/main" id="{6FA90BB8-CA2C-455F-B4E0-6102C594215E}"/>
              </a:ext>
            </a:extLst>
          </p:cNvPr>
          <p:cNvSpPr/>
          <p:nvPr/>
        </p:nvSpPr>
        <p:spPr>
          <a:xfrm>
            <a:off x="548640" y="1783080"/>
            <a:ext cx="3520440" cy="1691640"/>
          </a:xfrm>
          <a:prstGeom prst="roundRect">
            <a:avLst>
              <a:gd name="adj" fmla="val 4865"/>
            </a:avLst>
          </a:prstGeom>
          <a:solidFill>
            <a:srgbClr val="F4F7F9"/>
          </a:solidFill>
          <a:ln/>
        </p:spPr>
        <p:txBody>
          <a:bodyPr/>
          <a:lstStyle/>
          <a:p>
            <a:endParaRPr lang="en-US"/>
          </a:p>
        </p:txBody>
      </p:sp>
      <p:sp>
        <p:nvSpPr>
          <p:cNvPr id="12" name="Shape 3">
            <a:extLst>
              <a:ext uri="{FF2B5EF4-FFF2-40B4-BE49-F238E27FC236}">
                <a16:creationId xmlns:a16="http://schemas.microsoft.com/office/drawing/2014/main" id="{23CFBF6D-3B85-EFA3-57F7-3BC0387F04CE}"/>
              </a:ext>
            </a:extLst>
          </p:cNvPr>
          <p:cNvSpPr/>
          <p:nvPr/>
        </p:nvSpPr>
        <p:spPr>
          <a:xfrm>
            <a:off x="777240" y="2011680"/>
            <a:ext cx="502920" cy="502920"/>
          </a:xfrm>
          <a:prstGeom prst="ellipse">
            <a:avLst/>
          </a:prstGeom>
          <a:solidFill>
            <a:srgbClr val="FFFFFF"/>
          </a:solidFill>
          <a:ln/>
        </p:spPr>
        <p:txBody>
          <a:bodyPr/>
          <a:lstStyle/>
          <a:p>
            <a:endParaRPr lang="en-US"/>
          </a:p>
        </p:txBody>
      </p:sp>
      <p:pic>
        <p:nvPicPr>
          <p:cNvPr id="15" name="Image 0" descr="icons/random_1C7293.png">
            <a:extLst>
              <a:ext uri="{FF2B5EF4-FFF2-40B4-BE49-F238E27FC236}">
                <a16:creationId xmlns:a16="http://schemas.microsoft.com/office/drawing/2014/main" id="{41989D12-BBC0-FD59-E257-7BEDE50ADB4F}"/>
              </a:ext>
            </a:extLst>
          </p:cNvPr>
          <p:cNvPicPr>
            <a:picLocks noChangeAspect="1"/>
          </p:cNvPicPr>
          <p:nvPr/>
        </p:nvPicPr>
        <p:blipFill>
          <a:blip r:embed="rId3"/>
          <a:stretch>
            <a:fillRect/>
          </a:stretch>
        </p:blipFill>
        <p:spPr>
          <a:xfrm>
            <a:off x="897941" y="2132381"/>
            <a:ext cx="261518" cy="261518"/>
          </a:xfrm>
          <a:prstGeom prst="rect">
            <a:avLst/>
          </a:prstGeom>
        </p:spPr>
      </p:pic>
      <p:sp>
        <p:nvSpPr>
          <p:cNvPr id="18" name="Text 4">
            <a:extLst>
              <a:ext uri="{FF2B5EF4-FFF2-40B4-BE49-F238E27FC236}">
                <a16:creationId xmlns:a16="http://schemas.microsoft.com/office/drawing/2014/main" id="{1DA9C252-F86F-ADB4-489B-403AF2DC7263}"/>
              </a:ext>
            </a:extLst>
          </p:cNvPr>
          <p:cNvSpPr/>
          <p:nvPr/>
        </p:nvSpPr>
        <p:spPr>
          <a:xfrm>
            <a:off x="777240" y="2651760"/>
            <a:ext cx="3063240" cy="36576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Random Rotation</a:t>
            </a:r>
            <a:endParaRPr lang="en-US" sz="1450" dirty="0"/>
          </a:p>
        </p:txBody>
      </p:sp>
      <p:sp>
        <p:nvSpPr>
          <p:cNvPr id="21" name="Text 5">
            <a:extLst>
              <a:ext uri="{FF2B5EF4-FFF2-40B4-BE49-F238E27FC236}">
                <a16:creationId xmlns:a16="http://schemas.microsoft.com/office/drawing/2014/main" id="{925E830A-67A5-F669-FCF2-761A6E747BC5}"/>
              </a:ext>
            </a:extLst>
          </p:cNvPr>
          <p:cNvSpPr/>
          <p:nvPr/>
        </p:nvSpPr>
        <p:spPr>
          <a:xfrm>
            <a:off x="777240" y="2990088"/>
            <a:ext cx="3063240" cy="457200"/>
          </a:xfrm>
          <a:prstGeom prst="rect">
            <a:avLst/>
          </a:prstGeom>
          <a:noFill/>
          <a:ln/>
        </p:spPr>
        <p:txBody>
          <a:bodyPr wrap="square" rtlCol="0" anchor="ctr"/>
          <a:lstStyle/>
          <a:p>
            <a:pPr marL="0" indent="0">
              <a:lnSpc>
                <a:spcPct val="115000"/>
              </a:lnSpc>
              <a:buNone/>
            </a:pPr>
            <a:r>
              <a:rPr lang="en-US" sz="1150" dirty="0">
                <a:solidFill>
                  <a:srgbClr val="5B6B79"/>
                </a:solidFill>
                <a:latin typeface="Calibri" pitchFamily="34" charset="0"/>
                <a:ea typeface="Calibri" pitchFamily="34" charset="-122"/>
                <a:cs typeface="Calibri" pitchFamily="34" charset="-120"/>
              </a:rPr>
              <a:t>Simulates camera/head angle variation</a:t>
            </a:r>
            <a:endParaRPr lang="en-US" sz="1150" dirty="0"/>
          </a:p>
        </p:txBody>
      </p:sp>
      <p:sp>
        <p:nvSpPr>
          <p:cNvPr id="24" name="Shape 6">
            <a:extLst>
              <a:ext uri="{FF2B5EF4-FFF2-40B4-BE49-F238E27FC236}">
                <a16:creationId xmlns:a16="http://schemas.microsoft.com/office/drawing/2014/main" id="{AF40CBBD-ECA2-F635-FF3A-4BC874670182}"/>
              </a:ext>
            </a:extLst>
          </p:cNvPr>
          <p:cNvSpPr/>
          <p:nvPr/>
        </p:nvSpPr>
        <p:spPr>
          <a:xfrm>
            <a:off x="4343400" y="1783080"/>
            <a:ext cx="3520440" cy="1691640"/>
          </a:xfrm>
          <a:prstGeom prst="roundRect">
            <a:avLst>
              <a:gd name="adj" fmla="val 4865"/>
            </a:avLst>
          </a:prstGeom>
          <a:solidFill>
            <a:srgbClr val="F4F7F9"/>
          </a:solidFill>
          <a:ln/>
        </p:spPr>
        <p:txBody>
          <a:bodyPr/>
          <a:lstStyle/>
          <a:p>
            <a:endParaRPr lang="en-US"/>
          </a:p>
        </p:txBody>
      </p:sp>
      <p:sp>
        <p:nvSpPr>
          <p:cNvPr id="27" name="Shape 7">
            <a:extLst>
              <a:ext uri="{FF2B5EF4-FFF2-40B4-BE49-F238E27FC236}">
                <a16:creationId xmlns:a16="http://schemas.microsoft.com/office/drawing/2014/main" id="{E6DADA23-A23D-D4FE-BF28-BAF898B9C65A}"/>
              </a:ext>
            </a:extLst>
          </p:cNvPr>
          <p:cNvSpPr/>
          <p:nvPr/>
        </p:nvSpPr>
        <p:spPr>
          <a:xfrm>
            <a:off x="4572000" y="2011680"/>
            <a:ext cx="502920" cy="502920"/>
          </a:xfrm>
          <a:prstGeom prst="ellipse">
            <a:avLst/>
          </a:prstGeom>
          <a:solidFill>
            <a:srgbClr val="FFFFFF"/>
          </a:solidFill>
          <a:ln/>
        </p:spPr>
        <p:txBody>
          <a:bodyPr/>
          <a:lstStyle/>
          <a:p>
            <a:endParaRPr lang="en-US"/>
          </a:p>
        </p:txBody>
      </p:sp>
      <p:pic>
        <p:nvPicPr>
          <p:cNvPr id="30" name="Image 1" descr="icons/random_1C7293.png">
            <a:extLst>
              <a:ext uri="{FF2B5EF4-FFF2-40B4-BE49-F238E27FC236}">
                <a16:creationId xmlns:a16="http://schemas.microsoft.com/office/drawing/2014/main" id="{25E6D3C3-E9E7-2AFC-D8A9-AEC06ED8B8EE}"/>
              </a:ext>
            </a:extLst>
          </p:cNvPr>
          <p:cNvPicPr>
            <a:picLocks noChangeAspect="1"/>
          </p:cNvPicPr>
          <p:nvPr/>
        </p:nvPicPr>
        <p:blipFill>
          <a:blip r:embed="rId3"/>
          <a:stretch>
            <a:fillRect/>
          </a:stretch>
        </p:blipFill>
        <p:spPr>
          <a:xfrm>
            <a:off x="4692701" y="2132381"/>
            <a:ext cx="261518" cy="261518"/>
          </a:xfrm>
          <a:prstGeom prst="rect">
            <a:avLst/>
          </a:prstGeom>
        </p:spPr>
      </p:pic>
      <p:sp>
        <p:nvSpPr>
          <p:cNvPr id="33" name="Text 8">
            <a:extLst>
              <a:ext uri="{FF2B5EF4-FFF2-40B4-BE49-F238E27FC236}">
                <a16:creationId xmlns:a16="http://schemas.microsoft.com/office/drawing/2014/main" id="{2D5E0356-31B9-E7F9-AD49-84E894559B52}"/>
              </a:ext>
            </a:extLst>
          </p:cNvPr>
          <p:cNvSpPr/>
          <p:nvPr/>
        </p:nvSpPr>
        <p:spPr>
          <a:xfrm>
            <a:off x="4572000" y="2651760"/>
            <a:ext cx="3063240" cy="36576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Random Zoom</a:t>
            </a:r>
            <a:endParaRPr lang="en-US" sz="1450" dirty="0"/>
          </a:p>
        </p:txBody>
      </p:sp>
      <p:sp>
        <p:nvSpPr>
          <p:cNvPr id="36" name="Text 9">
            <a:extLst>
              <a:ext uri="{FF2B5EF4-FFF2-40B4-BE49-F238E27FC236}">
                <a16:creationId xmlns:a16="http://schemas.microsoft.com/office/drawing/2014/main" id="{E2B71399-9922-2EB4-03CF-6ABB79C1D906}"/>
              </a:ext>
            </a:extLst>
          </p:cNvPr>
          <p:cNvSpPr/>
          <p:nvPr/>
        </p:nvSpPr>
        <p:spPr>
          <a:xfrm>
            <a:off x="4572000" y="2990088"/>
            <a:ext cx="3063240" cy="457200"/>
          </a:xfrm>
          <a:prstGeom prst="rect">
            <a:avLst/>
          </a:prstGeom>
          <a:noFill/>
          <a:ln/>
        </p:spPr>
        <p:txBody>
          <a:bodyPr wrap="square" rtlCol="0" anchor="ctr"/>
          <a:lstStyle/>
          <a:p>
            <a:pPr marL="0" indent="0">
              <a:lnSpc>
                <a:spcPct val="115000"/>
              </a:lnSpc>
              <a:buNone/>
            </a:pPr>
            <a:r>
              <a:rPr lang="en-US" sz="1150" dirty="0">
                <a:solidFill>
                  <a:srgbClr val="5B6B79"/>
                </a:solidFill>
                <a:latin typeface="Calibri" pitchFamily="34" charset="0"/>
                <a:ea typeface="Calibri" pitchFamily="34" charset="-122"/>
                <a:cs typeface="Calibri" pitchFamily="34" charset="-120"/>
              </a:rPr>
              <a:t>Handles varying capture distances</a:t>
            </a:r>
            <a:endParaRPr lang="en-US" sz="1150" dirty="0"/>
          </a:p>
        </p:txBody>
      </p:sp>
      <p:sp>
        <p:nvSpPr>
          <p:cNvPr id="39" name="Shape 10">
            <a:extLst>
              <a:ext uri="{FF2B5EF4-FFF2-40B4-BE49-F238E27FC236}">
                <a16:creationId xmlns:a16="http://schemas.microsoft.com/office/drawing/2014/main" id="{4D9B63F3-7920-8213-34D9-1D712B45882F}"/>
              </a:ext>
            </a:extLst>
          </p:cNvPr>
          <p:cNvSpPr/>
          <p:nvPr/>
        </p:nvSpPr>
        <p:spPr>
          <a:xfrm>
            <a:off x="8138160" y="1783080"/>
            <a:ext cx="3520440" cy="1691640"/>
          </a:xfrm>
          <a:prstGeom prst="roundRect">
            <a:avLst>
              <a:gd name="adj" fmla="val 4865"/>
            </a:avLst>
          </a:prstGeom>
          <a:solidFill>
            <a:srgbClr val="F4F7F9"/>
          </a:solidFill>
          <a:ln/>
        </p:spPr>
        <p:txBody>
          <a:bodyPr/>
          <a:lstStyle/>
          <a:p>
            <a:endParaRPr lang="en-US"/>
          </a:p>
        </p:txBody>
      </p:sp>
      <p:sp>
        <p:nvSpPr>
          <p:cNvPr id="42" name="Shape 11">
            <a:extLst>
              <a:ext uri="{FF2B5EF4-FFF2-40B4-BE49-F238E27FC236}">
                <a16:creationId xmlns:a16="http://schemas.microsoft.com/office/drawing/2014/main" id="{32C11424-066B-27C1-1082-1D778C8A8F48}"/>
              </a:ext>
            </a:extLst>
          </p:cNvPr>
          <p:cNvSpPr/>
          <p:nvPr/>
        </p:nvSpPr>
        <p:spPr>
          <a:xfrm>
            <a:off x="8366760" y="2011680"/>
            <a:ext cx="502920" cy="502920"/>
          </a:xfrm>
          <a:prstGeom prst="ellipse">
            <a:avLst/>
          </a:prstGeom>
          <a:solidFill>
            <a:srgbClr val="FFFFFF"/>
          </a:solidFill>
          <a:ln/>
        </p:spPr>
        <p:txBody>
          <a:bodyPr/>
          <a:lstStyle/>
          <a:p>
            <a:endParaRPr lang="en-US"/>
          </a:p>
        </p:txBody>
      </p:sp>
      <p:pic>
        <p:nvPicPr>
          <p:cNvPr id="45" name="Image 2" descr="icons/random_1C7293.png">
            <a:extLst>
              <a:ext uri="{FF2B5EF4-FFF2-40B4-BE49-F238E27FC236}">
                <a16:creationId xmlns:a16="http://schemas.microsoft.com/office/drawing/2014/main" id="{A2C41B5A-81F4-0216-38BF-44AC9C0D44AC}"/>
              </a:ext>
            </a:extLst>
          </p:cNvPr>
          <p:cNvPicPr>
            <a:picLocks noChangeAspect="1"/>
          </p:cNvPicPr>
          <p:nvPr/>
        </p:nvPicPr>
        <p:blipFill>
          <a:blip r:embed="rId3"/>
          <a:stretch>
            <a:fillRect/>
          </a:stretch>
        </p:blipFill>
        <p:spPr>
          <a:xfrm>
            <a:off x="8487461" y="2132381"/>
            <a:ext cx="261518" cy="261518"/>
          </a:xfrm>
          <a:prstGeom prst="rect">
            <a:avLst/>
          </a:prstGeom>
        </p:spPr>
      </p:pic>
      <p:sp>
        <p:nvSpPr>
          <p:cNvPr id="48" name="Text 12">
            <a:extLst>
              <a:ext uri="{FF2B5EF4-FFF2-40B4-BE49-F238E27FC236}">
                <a16:creationId xmlns:a16="http://schemas.microsoft.com/office/drawing/2014/main" id="{C9672A1C-AC62-954C-8F64-C1F9C837C7D3}"/>
              </a:ext>
            </a:extLst>
          </p:cNvPr>
          <p:cNvSpPr/>
          <p:nvPr/>
        </p:nvSpPr>
        <p:spPr>
          <a:xfrm>
            <a:off x="8366760" y="2651760"/>
            <a:ext cx="3063240" cy="36576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Width Shift</a:t>
            </a:r>
            <a:endParaRPr lang="en-US" sz="1450" dirty="0"/>
          </a:p>
        </p:txBody>
      </p:sp>
      <p:sp>
        <p:nvSpPr>
          <p:cNvPr id="51" name="Text 13">
            <a:extLst>
              <a:ext uri="{FF2B5EF4-FFF2-40B4-BE49-F238E27FC236}">
                <a16:creationId xmlns:a16="http://schemas.microsoft.com/office/drawing/2014/main" id="{DBE1C625-A3D1-4EB3-6115-89B5861D6292}"/>
              </a:ext>
            </a:extLst>
          </p:cNvPr>
          <p:cNvSpPr/>
          <p:nvPr/>
        </p:nvSpPr>
        <p:spPr>
          <a:xfrm>
            <a:off x="8366760" y="2990088"/>
            <a:ext cx="3063240" cy="457200"/>
          </a:xfrm>
          <a:prstGeom prst="rect">
            <a:avLst/>
          </a:prstGeom>
          <a:noFill/>
          <a:ln/>
        </p:spPr>
        <p:txBody>
          <a:bodyPr wrap="square" rtlCol="0" anchor="ctr"/>
          <a:lstStyle/>
          <a:p>
            <a:pPr marL="0" indent="0">
              <a:lnSpc>
                <a:spcPct val="115000"/>
              </a:lnSpc>
              <a:buNone/>
            </a:pPr>
            <a:r>
              <a:rPr lang="en-US" sz="1150" dirty="0">
                <a:solidFill>
                  <a:srgbClr val="5B6B79"/>
                </a:solidFill>
                <a:latin typeface="Calibri" pitchFamily="34" charset="0"/>
                <a:ea typeface="Calibri" pitchFamily="34" charset="-122"/>
                <a:cs typeface="Calibri" pitchFamily="34" charset="-120"/>
              </a:rPr>
              <a:t>Corrects off-center framing</a:t>
            </a:r>
            <a:endParaRPr lang="en-US" sz="1150" dirty="0"/>
          </a:p>
        </p:txBody>
      </p:sp>
      <p:sp>
        <p:nvSpPr>
          <p:cNvPr id="54" name="Shape 14">
            <a:extLst>
              <a:ext uri="{FF2B5EF4-FFF2-40B4-BE49-F238E27FC236}">
                <a16:creationId xmlns:a16="http://schemas.microsoft.com/office/drawing/2014/main" id="{01DEB718-0CD9-AFAC-1B5A-6A80F220B772}"/>
              </a:ext>
            </a:extLst>
          </p:cNvPr>
          <p:cNvSpPr/>
          <p:nvPr/>
        </p:nvSpPr>
        <p:spPr>
          <a:xfrm>
            <a:off x="548640" y="3749040"/>
            <a:ext cx="3520440" cy="1691640"/>
          </a:xfrm>
          <a:prstGeom prst="roundRect">
            <a:avLst>
              <a:gd name="adj" fmla="val 4865"/>
            </a:avLst>
          </a:prstGeom>
          <a:solidFill>
            <a:srgbClr val="F4F7F9"/>
          </a:solidFill>
          <a:ln/>
        </p:spPr>
        <p:txBody>
          <a:bodyPr/>
          <a:lstStyle/>
          <a:p>
            <a:endParaRPr lang="en-US"/>
          </a:p>
        </p:txBody>
      </p:sp>
      <p:sp>
        <p:nvSpPr>
          <p:cNvPr id="57" name="Shape 15">
            <a:extLst>
              <a:ext uri="{FF2B5EF4-FFF2-40B4-BE49-F238E27FC236}">
                <a16:creationId xmlns:a16="http://schemas.microsoft.com/office/drawing/2014/main" id="{9CB90E54-C096-79C0-2A2D-9AF2F24409D0}"/>
              </a:ext>
            </a:extLst>
          </p:cNvPr>
          <p:cNvSpPr/>
          <p:nvPr/>
        </p:nvSpPr>
        <p:spPr>
          <a:xfrm>
            <a:off x="777240" y="3977640"/>
            <a:ext cx="502920" cy="502920"/>
          </a:xfrm>
          <a:prstGeom prst="ellipse">
            <a:avLst/>
          </a:prstGeom>
          <a:solidFill>
            <a:srgbClr val="FFFFFF"/>
          </a:solidFill>
          <a:ln/>
        </p:spPr>
        <p:txBody>
          <a:bodyPr/>
          <a:lstStyle/>
          <a:p>
            <a:endParaRPr lang="en-US"/>
          </a:p>
        </p:txBody>
      </p:sp>
      <p:pic>
        <p:nvPicPr>
          <p:cNvPr id="61" name="Image 3" descr="icons/random_1C7293.png">
            <a:extLst>
              <a:ext uri="{FF2B5EF4-FFF2-40B4-BE49-F238E27FC236}">
                <a16:creationId xmlns:a16="http://schemas.microsoft.com/office/drawing/2014/main" id="{874A7FAD-8F3E-0498-AB85-D2CF88359C05}"/>
              </a:ext>
            </a:extLst>
          </p:cNvPr>
          <p:cNvPicPr>
            <a:picLocks noChangeAspect="1"/>
          </p:cNvPicPr>
          <p:nvPr/>
        </p:nvPicPr>
        <p:blipFill>
          <a:blip r:embed="rId3"/>
          <a:stretch>
            <a:fillRect/>
          </a:stretch>
        </p:blipFill>
        <p:spPr>
          <a:xfrm>
            <a:off x="897941" y="4098341"/>
            <a:ext cx="261518" cy="261518"/>
          </a:xfrm>
          <a:prstGeom prst="rect">
            <a:avLst/>
          </a:prstGeom>
        </p:spPr>
      </p:pic>
      <p:sp>
        <p:nvSpPr>
          <p:cNvPr id="65" name="Text 16">
            <a:extLst>
              <a:ext uri="{FF2B5EF4-FFF2-40B4-BE49-F238E27FC236}">
                <a16:creationId xmlns:a16="http://schemas.microsoft.com/office/drawing/2014/main" id="{8E4B8436-CA75-E518-E5D6-F13B65922A54}"/>
              </a:ext>
            </a:extLst>
          </p:cNvPr>
          <p:cNvSpPr/>
          <p:nvPr/>
        </p:nvSpPr>
        <p:spPr>
          <a:xfrm>
            <a:off x="777240" y="4617720"/>
            <a:ext cx="3063240" cy="36576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Height Shift</a:t>
            </a:r>
            <a:endParaRPr lang="en-US" sz="1450" dirty="0"/>
          </a:p>
        </p:txBody>
      </p:sp>
      <p:sp>
        <p:nvSpPr>
          <p:cNvPr id="69" name="Text 17">
            <a:extLst>
              <a:ext uri="{FF2B5EF4-FFF2-40B4-BE49-F238E27FC236}">
                <a16:creationId xmlns:a16="http://schemas.microsoft.com/office/drawing/2014/main" id="{3A7440D8-A913-8180-0CF8-9F600B55DFB5}"/>
              </a:ext>
            </a:extLst>
          </p:cNvPr>
          <p:cNvSpPr/>
          <p:nvPr/>
        </p:nvSpPr>
        <p:spPr>
          <a:xfrm>
            <a:off x="777240" y="4956048"/>
            <a:ext cx="3063240" cy="457200"/>
          </a:xfrm>
          <a:prstGeom prst="rect">
            <a:avLst/>
          </a:prstGeom>
          <a:noFill/>
          <a:ln/>
        </p:spPr>
        <p:txBody>
          <a:bodyPr wrap="square" rtlCol="0" anchor="ctr"/>
          <a:lstStyle/>
          <a:p>
            <a:pPr marL="0" indent="0">
              <a:lnSpc>
                <a:spcPct val="115000"/>
              </a:lnSpc>
              <a:buNone/>
            </a:pPr>
            <a:r>
              <a:rPr lang="en-US" sz="1150" dirty="0">
                <a:solidFill>
                  <a:srgbClr val="5B6B79"/>
                </a:solidFill>
                <a:latin typeface="Calibri" pitchFamily="34" charset="0"/>
                <a:ea typeface="Calibri" pitchFamily="34" charset="-122"/>
                <a:cs typeface="Calibri" pitchFamily="34" charset="-120"/>
              </a:rPr>
              <a:t>Corrects vertical framing offset</a:t>
            </a:r>
            <a:endParaRPr lang="en-US" sz="1150" dirty="0"/>
          </a:p>
        </p:txBody>
      </p:sp>
      <p:sp>
        <p:nvSpPr>
          <p:cNvPr id="73" name="Shape 18">
            <a:extLst>
              <a:ext uri="{FF2B5EF4-FFF2-40B4-BE49-F238E27FC236}">
                <a16:creationId xmlns:a16="http://schemas.microsoft.com/office/drawing/2014/main" id="{984DCB04-B05A-4997-391E-F30D88E4B7F3}"/>
              </a:ext>
            </a:extLst>
          </p:cNvPr>
          <p:cNvSpPr/>
          <p:nvPr/>
        </p:nvSpPr>
        <p:spPr>
          <a:xfrm>
            <a:off x="4343400" y="3749040"/>
            <a:ext cx="3520440" cy="1691640"/>
          </a:xfrm>
          <a:prstGeom prst="roundRect">
            <a:avLst>
              <a:gd name="adj" fmla="val 4865"/>
            </a:avLst>
          </a:prstGeom>
          <a:solidFill>
            <a:srgbClr val="F4F7F9"/>
          </a:solidFill>
          <a:ln/>
        </p:spPr>
        <p:txBody>
          <a:bodyPr/>
          <a:lstStyle/>
          <a:p>
            <a:endParaRPr lang="en-US"/>
          </a:p>
        </p:txBody>
      </p:sp>
      <p:sp>
        <p:nvSpPr>
          <p:cNvPr id="77" name="Shape 19">
            <a:extLst>
              <a:ext uri="{FF2B5EF4-FFF2-40B4-BE49-F238E27FC236}">
                <a16:creationId xmlns:a16="http://schemas.microsoft.com/office/drawing/2014/main" id="{881BD63A-C8EC-F6AA-9AA0-221729D2BEEC}"/>
              </a:ext>
            </a:extLst>
          </p:cNvPr>
          <p:cNvSpPr/>
          <p:nvPr/>
        </p:nvSpPr>
        <p:spPr>
          <a:xfrm>
            <a:off x="4572000" y="3977640"/>
            <a:ext cx="502920" cy="502920"/>
          </a:xfrm>
          <a:prstGeom prst="ellipse">
            <a:avLst/>
          </a:prstGeom>
          <a:solidFill>
            <a:srgbClr val="FFFFFF"/>
          </a:solidFill>
          <a:ln/>
        </p:spPr>
        <p:txBody>
          <a:bodyPr/>
          <a:lstStyle/>
          <a:p>
            <a:endParaRPr lang="en-US"/>
          </a:p>
        </p:txBody>
      </p:sp>
      <p:pic>
        <p:nvPicPr>
          <p:cNvPr id="81" name="Image 4" descr="icons/random_1C7293.png">
            <a:extLst>
              <a:ext uri="{FF2B5EF4-FFF2-40B4-BE49-F238E27FC236}">
                <a16:creationId xmlns:a16="http://schemas.microsoft.com/office/drawing/2014/main" id="{CCA74295-6F01-3C1F-0AC5-3D84D1D9E903}"/>
              </a:ext>
            </a:extLst>
          </p:cNvPr>
          <p:cNvPicPr>
            <a:picLocks noChangeAspect="1"/>
          </p:cNvPicPr>
          <p:nvPr/>
        </p:nvPicPr>
        <p:blipFill>
          <a:blip r:embed="rId3"/>
          <a:stretch>
            <a:fillRect/>
          </a:stretch>
        </p:blipFill>
        <p:spPr>
          <a:xfrm>
            <a:off x="4692701" y="4098341"/>
            <a:ext cx="261518" cy="261518"/>
          </a:xfrm>
          <a:prstGeom prst="rect">
            <a:avLst/>
          </a:prstGeom>
        </p:spPr>
      </p:pic>
      <p:sp>
        <p:nvSpPr>
          <p:cNvPr id="85" name="Text 20">
            <a:extLst>
              <a:ext uri="{FF2B5EF4-FFF2-40B4-BE49-F238E27FC236}">
                <a16:creationId xmlns:a16="http://schemas.microsoft.com/office/drawing/2014/main" id="{1A5CC5CC-2A36-2F01-7746-AE885548EFB4}"/>
              </a:ext>
            </a:extLst>
          </p:cNvPr>
          <p:cNvSpPr/>
          <p:nvPr/>
        </p:nvSpPr>
        <p:spPr>
          <a:xfrm>
            <a:off x="4572000" y="4617720"/>
            <a:ext cx="3063240" cy="36576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Horizontal Flip</a:t>
            </a:r>
            <a:endParaRPr lang="en-US" sz="1450" dirty="0"/>
          </a:p>
        </p:txBody>
      </p:sp>
      <p:sp>
        <p:nvSpPr>
          <p:cNvPr id="89" name="Text 21">
            <a:extLst>
              <a:ext uri="{FF2B5EF4-FFF2-40B4-BE49-F238E27FC236}">
                <a16:creationId xmlns:a16="http://schemas.microsoft.com/office/drawing/2014/main" id="{D4D10DEF-49AA-D99F-57AF-DDD69D163F16}"/>
              </a:ext>
            </a:extLst>
          </p:cNvPr>
          <p:cNvSpPr/>
          <p:nvPr/>
        </p:nvSpPr>
        <p:spPr>
          <a:xfrm>
            <a:off x="4572000" y="4956048"/>
            <a:ext cx="3063240" cy="457200"/>
          </a:xfrm>
          <a:prstGeom prst="rect">
            <a:avLst/>
          </a:prstGeom>
          <a:noFill/>
          <a:ln/>
        </p:spPr>
        <p:txBody>
          <a:bodyPr wrap="square" rtlCol="0" anchor="ctr"/>
          <a:lstStyle/>
          <a:p>
            <a:pPr marL="0" indent="0">
              <a:lnSpc>
                <a:spcPct val="115000"/>
              </a:lnSpc>
              <a:buNone/>
            </a:pPr>
            <a:r>
              <a:rPr lang="en-US" sz="1150" dirty="0">
                <a:solidFill>
                  <a:srgbClr val="5B6B79"/>
                </a:solidFill>
                <a:latin typeface="Calibri" pitchFamily="34" charset="0"/>
                <a:ea typeface="Calibri" pitchFamily="34" charset="-122"/>
                <a:cs typeface="Calibri" pitchFamily="34" charset="-120"/>
              </a:rPr>
              <a:t>Doubles effective left/right variety</a:t>
            </a:r>
            <a:endParaRPr lang="en-US" sz="1150" dirty="0"/>
          </a:p>
        </p:txBody>
      </p:sp>
      <p:sp>
        <p:nvSpPr>
          <p:cNvPr id="93" name="Shape 22">
            <a:extLst>
              <a:ext uri="{FF2B5EF4-FFF2-40B4-BE49-F238E27FC236}">
                <a16:creationId xmlns:a16="http://schemas.microsoft.com/office/drawing/2014/main" id="{4C14BA7C-9220-4694-5261-5585EF79F182}"/>
              </a:ext>
            </a:extLst>
          </p:cNvPr>
          <p:cNvSpPr/>
          <p:nvPr/>
        </p:nvSpPr>
        <p:spPr>
          <a:xfrm>
            <a:off x="8138160" y="3749040"/>
            <a:ext cx="3520440" cy="1691640"/>
          </a:xfrm>
          <a:prstGeom prst="roundRect">
            <a:avLst>
              <a:gd name="adj" fmla="val 4865"/>
            </a:avLst>
          </a:prstGeom>
          <a:solidFill>
            <a:srgbClr val="F4F7F9"/>
          </a:solidFill>
          <a:ln/>
        </p:spPr>
        <p:txBody>
          <a:bodyPr/>
          <a:lstStyle/>
          <a:p>
            <a:endParaRPr lang="en-US"/>
          </a:p>
        </p:txBody>
      </p:sp>
      <p:sp>
        <p:nvSpPr>
          <p:cNvPr id="97" name="Shape 23">
            <a:extLst>
              <a:ext uri="{FF2B5EF4-FFF2-40B4-BE49-F238E27FC236}">
                <a16:creationId xmlns:a16="http://schemas.microsoft.com/office/drawing/2014/main" id="{1B84CEE7-FA1C-5FC7-0B46-EF2BD56A4967}"/>
              </a:ext>
            </a:extLst>
          </p:cNvPr>
          <p:cNvSpPr/>
          <p:nvPr/>
        </p:nvSpPr>
        <p:spPr>
          <a:xfrm>
            <a:off x="8366760" y="3977640"/>
            <a:ext cx="502920" cy="502920"/>
          </a:xfrm>
          <a:prstGeom prst="ellipse">
            <a:avLst/>
          </a:prstGeom>
          <a:solidFill>
            <a:srgbClr val="FFFFFF"/>
          </a:solidFill>
          <a:ln/>
        </p:spPr>
        <p:txBody>
          <a:bodyPr/>
          <a:lstStyle/>
          <a:p>
            <a:endParaRPr lang="en-US"/>
          </a:p>
        </p:txBody>
      </p:sp>
      <p:pic>
        <p:nvPicPr>
          <p:cNvPr id="101" name="Image 5" descr="icons/random_1C7293.png">
            <a:extLst>
              <a:ext uri="{FF2B5EF4-FFF2-40B4-BE49-F238E27FC236}">
                <a16:creationId xmlns:a16="http://schemas.microsoft.com/office/drawing/2014/main" id="{170418DE-DE5D-34A3-39AC-ACF522D471C3}"/>
              </a:ext>
            </a:extLst>
          </p:cNvPr>
          <p:cNvPicPr>
            <a:picLocks noChangeAspect="1"/>
          </p:cNvPicPr>
          <p:nvPr/>
        </p:nvPicPr>
        <p:blipFill>
          <a:blip r:embed="rId3"/>
          <a:stretch>
            <a:fillRect/>
          </a:stretch>
        </p:blipFill>
        <p:spPr>
          <a:xfrm>
            <a:off x="8487461" y="4098341"/>
            <a:ext cx="261518" cy="261518"/>
          </a:xfrm>
          <a:prstGeom prst="rect">
            <a:avLst/>
          </a:prstGeom>
        </p:spPr>
      </p:pic>
      <p:sp>
        <p:nvSpPr>
          <p:cNvPr id="105" name="Text 24">
            <a:extLst>
              <a:ext uri="{FF2B5EF4-FFF2-40B4-BE49-F238E27FC236}">
                <a16:creationId xmlns:a16="http://schemas.microsoft.com/office/drawing/2014/main" id="{C24EC74F-31B9-A08C-6CCB-B49080239439}"/>
              </a:ext>
            </a:extLst>
          </p:cNvPr>
          <p:cNvSpPr/>
          <p:nvPr/>
        </p:nvSpPr>
        <p:spPr>
          <a:xfrm>
            <a:off x="8366760" y="4617720"/>
            <a:ext cx="3063240" cy="36576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Brightness Adjustment</a:t>
            </a:r>
            <a:endParaRPr lang="en-US" sz="1450" dirty="0"/>
          </a:p>
        </p:txBody>
      </p:sp>
      <p:sp>
        <p:nvSpPr>
          <p:cNvPr id="107" name="Text 25">
            <a:extLst>
              <a:ext uri="{FF2B5EF4-FFF2-40B4-BE49-F238E27FC236}">
                <a16:creationId xmlns:a16="http://schemas.microsoft.com/office/drawing/2014/main" id="{9C53EB0D-4461-373C-C996-DD76CC3A7FDE}"/>
              </a:ext>
            </a:extLst>
          </p:cNvPr>
          <p:cNvSpPr/>
          <p:nvPr/>
        </p:nvSpPr>
        <p:spPr>
          <a:xfrm>
            <a:off x="8366760" y="4956048"/>
            <a:ext cx="3063240" cy="457200"/>
          </a:xfrm>
          <a:prstGeom prst="rect">
            <a:avLst/>
          </a:prstGeom>
          <a:noFill/>
          <a:ln/>
        </p:spPr>
        <p:txBody>
          <a:bodyPr wrap="square" rtlCol="0" anchor="ctr"/>
          <a:lstStyle/>
          <a:p>
            <a:pPr marL="0" indent="0">
              <a:lnSpc>
                <a:spcPct val="115000"/>
              </a:lnSpc>
              <a:buNone/>
            </a:pPr>
            <a:r>
              <a:rPr lang="en-US" sz="1150" dirty="0">
                <a:solidFill>
                  <a:srgbClr val="5B6B79"/>
                </a:solidFill>
                <a:latin typeface="Calibri" pitchFamily="34" charset="0"/>
                <a:ea typeface="Calibri" pitchFamily="34" charset="-122"/>
                <a:cs typeface="Calibri" pitchFamily="34" charset="-120"/>
              </a:rPr>
              <a:t>Compensates for inconsistent clinical lighting</a:t>
            </a:r>
            <a:endParaRPr lang="en-US" sz="1150" dirty="0"/>
          </a:p>
        </p:txBody>
      </p:sp>
      <p:sp>
        <p:nvSpPr>
          <p:cNvPr id="109" name="Text 26">
            <a:extLst>
              <a:ext uri="{FF2B5EF4-FFF2-40B4-BE49-F238E27FC236}">
                <a16:creationId xmlns:a16="http://schemas.microsoft.com/office/drawing/2014/main" id="{8A915C59-5983-689C-FD53-3C5B06122A6F}"/>
              </a:ext>
            </a:extLst>
          </p:cNvPr>
          <p:cNvSpPr/>
          <p:nvPr/>
        </p:nvSpPr>
        <p:spPr>
          <a:xfrm>
            <a:off x="548640" y="5623560"/>
            <a:ext cx="10881360" cy="457200"/>
          </a:xfrm>
          <a:prstGeom prst="rect">
            <a:avLst/>
          </a:prstGeom>
          <a:noFill/>
          <a:ln/>
        </p:spPr>
        <p:txBody>
          <a:bodyPr wrap="square" rtlCol="0" anchor="ctr"/>
          <a:lstStyle/>
          <a:p>
            <a:pPr marL="0" indent="0">
              <a:buNone/>
            </a:pPr>
            <a:r>
              <a:rPr lang="en-US" sz="1200" i="1" dirty="0">
                <a:solidFill>
                  <a:srgbClr val="5B6B79"/>
                </a:solidFill>
                <a:latin typeface="Calibri" pitchFamily="34" charset="0"/>
                <a:ea typeface="Calibri" pitchFamily="34" charset="-122"/>
                <a:cs typeface="Calibri" pitchFamily="34" charset="-120"/>
              </a:rPr>
              <a:t>Augmentation was applied only to the training split — validation and test data are evaluated on clean, unaugmented images to give an honest read of generalization.</a:t>
            </a:r>
            <a:endParaRPr lang="en-US" sz="1200" dirty="0"/>
          </a:p>
        </p:txBody>
      </p:sp>
      <p:sp>
        <p:nvSpPr>
          <p:cNvPr id="111" name="Text 27">
            <a:extLst>
              <a:ext uri="{FF2B5EF4-FFF2-40B4-BE49-F238E27FC236}">
                <a16:creationId xmlns:a16="http://schemas.microsoft.com/office/drawing/2014/main" id="{1D26E181-C869-5798-1EF6-69720360CA82}"/>
              </a:ext>
            </a:extLst>
          </p:cNvPr>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113" name="Text 28">
            <a:extLst>
              <a:ext uri="{FF2B5EF4-FFF2-40B4-BE49-F238E27FC236}">
                <a16:creationId xmlns:a16="http://schemas.microsoft.com/office/drawing/2014/main" id="{173EC597-60BF-6394-DCB9-72140B8A5B85}"/>
              </a:ext>
            </a:extLst>
          </p:cNvPr>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extLst>
      <p:ext uri="{BB962C8B-B14F-4D97-AF65-F5344CB8AC3E}">
        <p14:creationId xmlns:p14="http://schemas.microsoft.com/office/powerpoint/2010/main" val="2402657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77EC7487-EBCC-924F-3BCF-48028B6D467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AAB2A57E-434C-8EE0-5011-4080B995222E}"/>
              </a:ext>
            </a:extLst>
          </p:cNvPr>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chemeClr val="bg1"/>
                </a:solidFill>
                <a:latin typeface="Calibri" pitchFamily="34" charset="0"/>
                <a:ea typeface="Calibri" pitchFamily="34" charset="-122"/>
                <a:cs typeface="Calibri" pitchFamily="34" charset="-120"/>
              </a:rPr>
              <a:t>MODEL 1 OF 4</a:t>
            </a:r>
            <a:endParaRPr lang="en-US" sz="1300" dirty="0">
              <a:solidFill>
                <a:schemeClr val="bg1"/>
              </a:solidFill>
            </a:endParaRPr>
          </a:p>
        </p:txBody>
      </p:sp>
      <p:sp>
        <p:nvSpPr>
          <p:cNvPr id="7" name="Text 1">
            <a:extLst>
              <a:ext uri="{FF2B5EF4-FFF2-40B4-BE49-F238E27FC236}">
                <a16:creationId xmlns:a16="http://schemas.microsoft.com/office/drawing/2014/main" id="{75C73AAF-53A1-9FFB-9504-F85AC61D718C}"/>
              </a:ext>
            </a:extLst>
          </p:cNvPr>
          <p:cNvSpPr/>
          <p:nvPr/>
        </p:nvSpPr>
        <p:spPr>
          <a:xfrm>
            <a:off x="548640" y="685800"/>
            <a:ext cx="10789920" cy="822960"/>
          </a:xfrm>
          <a:prstGeom prst="rect">
            <a:avLst/>
          </a:prstGeom>
          <a:noFill/>
          <a:ln/>
        </p:spPr>
        <p:txBody>
          <a:bodyPr wrap="square"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Custom CNN — Built From Scratch</a:t>
            </a:r>
            <a:endParaRPr lang="en-US" sz="3200" dirty="0">
              <a:solidFill>
                <a:schemeClr val="bg1"/>
              </a:solidFill>
            </a:endParaRPr>
          </a:p>
        </p:txBody>
      </p:sp>
      <p:sp>
        <p:nvSpPr>
          <p:cNvPr id="10" name="Shape 2">
            <a:extLst>
              <a:ext uri="{FF2B5EF4-FFF2-40B4-BE49-F238E27FC236}">
                <a16:creationId xmlns:a16="http://schemas.microsoft.com/office/drawing/2014/main" id="{A7899CE9-CF7D-D4E8-41A8-3E07A3E801DE}"/>
              </a:ext>
            </a:extLst>
          </p:cNvPr>
          <p:cNvSpPr/>
          <p:nvPr/>
        </p:nvSpPr>
        <p:spPr>
          <a:xfrm>
            <a:off x="548640" y="1783080"/>
            <a:ext cx="5029200" cy="420624"/>
          </a:xfrm>
          <a:prstGeom prst="roundRect">
            <a:avLst>
              <a:gd name="adj" fmla="val 13043"/>
            </a:avLst>
          </a:prstGeom>
          <a:solidFill>
            <a:srgbClr val="065A82"/>
          </a:solidFill>
          <a:ln/>
        </p:spPr>
        <p:txBody>
          <a:bodyPr/>
          <a:lstStyle/>
          <a:p>
            <a:endParaRPr lang="en-US"/>
          </a:p>
        </p:txBody>
      </p:sp>
      <p:sp>
        <p:nvSpPr>
          <p:cNvPr id="13" name="Text 3">
            <a:extLst>
              <a:ext uri="{FF2B5EF4-FFF2-40B4-BE49-F238E27FC236}">
                <a16:creationId xmlns:a16="http://schemas.microsoft.com/office/drawing/2014/main" id="{743FC22F-5D06-B60F-DBFD-3B128AE3CDAD}"/>
              </a:ext>
            </a:extLst>
          </p:cNvPr>
          <p:cNvSpPr/>
          <p:nvPr/>
        </p:nvSpPr>
        <p:spPr>
          <a:xfrm>
            <a:off x="731520" y="1783080"/>
            <a:ext cx="4663440" cy="420624"/>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Conv2D → Conv2D → BatchNorm → MaxPool</a:t>
            </a:r>
            <a:endParaRPr lang="en-US" sz="1250" dirty="0"/>
          </a:p>
        </p:txBody>
      </p:sp>
      <p:sp>
        <p:nvSpPr>
          <p:cNvPr id="16" name="Shape 4">
            <a:extLst>
              <a:ext uri="{FF2B5EF4-FFF2-40B4-BE49-F238E27FC236}">
                <a16:creationId xmlns:a16="http://schemas.microsoft.com/office/drawing/2014/main" id="{6B5C9A95-DE60-7B0D-7BD6-1C16F48F01A8}"/>
              </a:ext>
            </a:extLst>
          </p:cNvPr>
          <p:cNvSpPr/>
          <p:nvPr/>
        </p:nvSpPr>
        <p:spPr>
          <a:xfrm>
            <a:off x="548640" y="2286000"/>
            <a:ext cx="5029200" cy="420624"/>
          </a:xfrm>
          <a:prstGeom prst="roundRect">
            <a:avLst>
              <a:gd name="adj" fmla="val 13043"/>
            </a:avLst>
          </a:prstGeom>
          <a:solidFill>
            <a:srgbClr val="065A82"/>
          </a:solidFill>
          <a:ln/>
        </p:spPr>
        <p:txBody>
          <a:bodyPr/>
          <a:lstStyle/>
          <a:p>
            <a:endParaRPr lang="en-US"/>
          </a:p>
        </p:txBody>
      </p:sp>
      <p:sp>
        <p:nvSpPr>
          <p:cNvPr id="19" name="Text 5">
            <a:extLst>
              <a:ext uri="{FF2B5EF4-FFF2-40B4-BE49-F238E27FC236}">
                <a16:creationId xmlns:a16="http://schemas.microsoft.com/office/drawing/2014/main" id="{D8EA7CA7-CECC-A9E1-FC2A-0BB3F08FA234}"/>
              </a:ext>
            </a:extLst>
          </p:cNvPr>
          <p:cNvSpPr/>
          <p:nvPr/>
        </p:nvSpPr>
        <p:spPr>
          <a:xfrm>
            <a:off x="731520" y="2286000"/>
            <a:ext cx="4663440" cy="420624"/>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Conv2D → Conv2D → BatchNorm → MaxPool</a:t>
            </a:r>
            <a:endParaRPr lang="en-US" sz="1250" dirty="0"/>
          </a:p>
        </p:txBody>
      </p:sp>
      <p:sp>
        <p:nvSpPr>
          <p:cNvPr id="22" name="Shape 6">
            <a:extLst>
              <a:ext uri="{FF2B5EF4-FFF2-40B4-BE49-F238E27FC236}">
                <a16:creationId xmlns:a16="http://schemas.microsoft.com/office/drawing/2014/main" id="{FDF85782-6836-2EC4-06EE-1BA423C77FD0}"/>
              </a:ext>
            </a:extLst>
          </p:cNvPr>
          <p:cNvSpPr/>
          <p:nvPr/>
        </p:nvSpPr>
        <p:spPr>
          <a:xfrm>
            <a:off x="548640" y="2788920"/>
            <a:ext cx="5029200" cy="420624"/>
          </a:xfrm>
          <a:prstGeom prst="roundRect">
            <a:avLst>
              <a:gd name="adj" fmla="val 13043"/>
            </a:avLst>
          </a:prstGeom>
          <a:solidFill>
            <a:srgbClr val="065A82"/>
          </a:solidFill>
          <a:ln/>
        </p:spPr>
        <p:txBody>
          <a:bodyPr/>
          <a:lstStyle/>
          <a:p>
            <a:endParaRPr lang="en-US"/>
          </a:p>
        </p:txBody>
      </p:sp>
      <p:sp>
        <p:nvSpPr>
          <p:cNvPr id="25" name="Text 7">
            <a:extLst>
              <a:ext uri="{FF2B5EF4-FFF2-40B4-BE49-F238E27FC236}">
                <a16:creationId xmlns:a16="http://schemas.microsoft.com/office/drawing/2014/main" id="{BA5EB6CE-4D57-DBAF-2741-C9321F7FDC07}"/>
              </a:ext>
            </a:extLst>
          </p:cNvPr>
          <p:cNvSpPr/>
          <p:nvPr/>
        </p:nvSpPr>
        <p:spPr>
          <a:xfrm>
            <a:off x="731520" y="2788920"/>
            <a:ext cx="4663440" cy="420624"/>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Conv2D → Conv2D → BatchNorm → MaxPool</a:t>
            </a:r>
            <a:endParaRPr lang="en-US" sz="1250" dirty="0"/>
          </a:p>
        </p:txBody>
      </p:sp>
      <p:sp>
        <p:nvSpPr>
          <p:cNvPr id="28" name="Shape 8">
            <a:extLst>
              <a:ext uri="{FF2B5EF4-FFF2-40B4-BE49-F238E27FC236}">
                <a16:creationId xmlns:a16="http://schemas.microsoft.com/office/drawing/2014/main" id="{3D3C4D84-977A-391C-3798-E2C06DDEEFC8}"/>
              </a:ext>
            </a:extLst>
          </p:cNvPr>
          <p:cNvSpPr/>
          <p:nvPr/>
        </p:nvSpPr>
        <p:spPr>
          <a:xfrm>
            <a:off x="548640" y="3291840"/>
            <a:ext cx="5029200" cy="420624"/>
          </a:xfrm>
          <a:prstGeom prst="roundRect">
            <a:avLst>
              <a:gd name="adj" fmla="val 13043"/>
            </a:avLst>
          </a:prstGeom>
          <a:solidFill>
            <a:srgbClr val="065A82"/>
          </a:solidFill>
          <a:ln/>
        </p:spPr>
        <p:txBody>
          <a:bodyPr/>
          <a:lstStyle/>
          <a:p>
            <a:endParaRPr lang="en-US"/>
          </a:p>
        </p:txBody>
      </p:sp>
      <p:sp>
        <p:nvSpPr>
          <p:cNvPr id="31" name="Text 9">
            <a:extLst>
              <a:ext uri="{FF2B5EF4-FFF2-40B4-BE49-F238E27FC236}">
                <a16:creationId xmlns:a16="http://schemas.microsoft.com/office/drawing/2014/main" id="{167ACA44-44A7-BBF4-102F-53FC4BF9258F}"/>
              </a:ext>
            </a:extLst>
          </p:cNvPr>
          <p:cNvSpPr/>
          <p:nvPr/>
        </p:nvSpPr>
        <p:spPr>
          <a:xfrm>
            <a:off x="731520" y="3291840"/>
            <a:ext cx="4663440" cy="420624"/>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Conv2D → Conv2D → BatchNorm → MaxPool</a:t>
            </a:r>
            <a:endParaRPr lang="en-US" sz="1250" dirty="0"/>
          </a:p>
        </p:txBody>
      </p:sp>
      <p:sp>
        <p:nvSpPr>
          <p:cNvPr id="34" name="Shape 10">
            <a:extLst>
              <a:ext uri="{FF2B5EF4-FFF2-40B4-BE49-F238E27FC236}">
                <a16:creationId xmlns:a16="http://schemas.microsoft.com/office/drawing/2014/main" id="{5B91EC80-90C5-B1C1-28FF-A79DC6E1E762}"/>
              </a:ext>
            </a:extLst>
          </p:cNvPr>
          <p:cNvSpPr/>
          <p:nvPr/>
        </p:nvSpPr>
        <p:spPr>
          <a:xfrm>
            <a:off x="548640" y="3794760"/>
            <a:ext cx="5029200" cy="420624"/>
          </a:xfrm>
          <a:prstGeom prst="roundRect">
            <a:avLst>
              <a:gd name="adj" fmla="val 13043"/>
            </a:avLst>
          </a:prstGeom>
          <a:solidFill>
            <a:srgbClr val="1C7293"/>
          </a:solidFill>
          <a:ln/>
        </p:spPr>
        <p:txBody>
          <a:bodyPr/>
          <a:lstStyle/>
          <a:p>
            <a:endParaRPr lang="en-US"/>
          </a:p>
        </p:txBody>
      </p:sp>
      <p:sp>
        <p:nvSpPr>
          <p:cNvPr id="37" name="Text 11">
            <a:extLst>
              <a:ext uri="{FF2B5EF4-FFF2-40B4-BE49-F238E27FC236}">
                <a16:creationId xmlns:a16="http://schemas.microsoft.com/office/drawing/2014/main" id="{0201DCCE-A00B-DD18-32E6-D3F219D2C7A7}"/>
              </a:ext>
            </a:extLst>
          </p:cNvPr>
          <p:cNvSpPr/>
          <p:nvPr/>
        </p:nvSpPr>
        <p:spPr>
          <a:xfrm>
            <a:off x="731520" y="3794760"/>
            <a:ext cx="4663440" cy="420624"/>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GlobalAveragePooling</a:t>
            </a:r>
            <a:endParaRPr lang="en-US" sz="1250" dirty="0"/>
          </a:p>
        </p:txBody>
      </p:sp>
      <p:sp>
        <p:nvSpPr>
          <p:cNvPr id="40" name="Shape 12">
            <a:extLst>
              <a:ext uri="{FF2B5EF4-FFF2-40B4-BE49-F238E27FC236}">
                <a16:creationId xmlns:a16="http://schemas.microsoft.com/office/drawing/2014/main" id="{B8C614C7-33BF-0FAC-638E-F3725FB0A94E}"/>
              </a:ext>
            </a:extLst>
          </p:cNvPr>
          <p:cNvSpPr/>
          <p:nvPr/>
        </p:nvSpPr>
        <p:spPr>
          <a:xfrm>
            <a:off x="548640" y="4297680"/>
            <a:ext cx="5029200" cy="420624"/>
          </a:xfrm>
          <a:prstGeom prst="roundRect">
            <a:avLst>
              <a:gd name="adj" fmla="val 13043"/>
            </a:avLst>
          </a:prstGeom>
          <a:solidFill>
            <a:srgbClr val="1C7293"/>
          </a:solidFill>
          <a:ln/>
        </p:spPr>
        <p:txBody>
          <a:bodyPr/>
          <a:lstStyle/>
          <a:p>
            <a:endParaRPr lang="en-US"/>
          </a:p>
        </p:txBody>
      </p:sp>
      <p:sp>
        <p:nvSpPr>
          <p:cNvPr id="43" name="Text 13">
            <a:extLst>
              <a:ext uri="{FF2B5EF4-FFF2-40B4-BE49-F238E27FC236}">
                <a16:creationId xmlns:a16="http://schemas.microsoft.com/office/drawing/2014/main" id="{6996A6E5-7278-505A-4BBD-2AC3C58AB613}"/>
              </a:ext>
            </a:extLst>
          </p:cNvPr>
          <p:cNvSpPr/>
          <p:nvPr/>
        </p:nvSpPr>
        <p:spPr>
          <a:xfrm>
            <a:off x="731520" y="4297680"/>
            <a:ext cx="4663440" cy="420624"/>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Dense(256) → Dropout</a:t>
            </a:r>
            <a:endParaRPr lang="en-US" sz="1250" dirty="0"/>
          </a:p>
        </p:txBody>
      </p:sp>
      <p:sp>
        <p:nvSpPr>
          <p:cNvPr id="46" name="Shape 14">
            <a:extLst>
              <a:ext uri="{FF2B5EF4-FFF2-40B4-BE49-F238E27FC236}">
                <a16:creationId xmlns:a16="http://schemas.microsoft.com/office/drawing/2014/main" id="{22E98E1E-5140-2CD0-45BD-35244DF6D415}"/>
              </a:ext>
            </a:extLst>
          </p:cNvPr>
          <p:cNvSpPr/>
          <p:nvPr/>
        </p:nvSpPr>
        <p:spPr>
          <a:xfrm>
            <a:off x="548640" y="4800600"/>
            <a:ext cx="5029200" cy="420624"/>
          </a:xfrm>
          <a:prstGeom prst="roundRect">
            <a:avLst>
              <a:gd name="adj" fmla="val 13043"/>
            </a:avLst>
          </a:prstGeom>
          <a:solidFill>
            <a:srgbClr val="1C7293"/>
          </a:solidFill>
          <a:ln/>
        </p:spPr>
        <p:txBody>
          <a:bodyPr/>
          <a:lstStyle/>
          <a:p>
            <a:endParaRPr lang="en-US"/>
          </a:p>
        </p:txBody>
      </p:sp>
      <p:sp>
        <p:nvSpPr>
          <p:cNvPr id="49" name="Text 15">
            <a:extLst>
              <a:ext uri="{FF2B5EF4-FFF2-40B4-BE49-F238E27FC236}">
                <a16:creationId xmlns:a16="http://schemas.microsoft.com/office/drawing/2014/main" id="{532171B5-18D0-426C-0585-9CFF3E788622}"/>
              </a:ext>
            </a:extLst>
          </p:cNvPr>
          <p:cNvSpPr/>
          <p:nvPr/>
        </p:nvSpPr>
        <p:spPr>
          <a:xfrm>
            <a:off x="731520" y="4800600"/>
            <a:ext cx="4663440" cy="420624"/>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Dense(128) → Dropout</a:t>
            </a:r>
            <a:endParaRPr lang="en-US" sz="1250" dirty="0"/>
          </a:p>
        </p:txBody>
      </p:sp>
      <p:sp>
        <p:nvSpPr>
          <p:cNvPr id="52" name="Shape 16">
            <a:extLst>
              <a:ext uri="{FF2B5EF4-FFF2-40B4-BE49-F238E27FC236}">
                <a16:creationId xmlns:a16="http://schemas.microsoft.com/office/drawing/2014/main" id="{AB8A2B59-28B3-A4E4-8C75-396DEDEF1EF1}"/>
              </a:ext>
            </a:extLst>
          </p:cNvPr>
          <p:cNvSpPr/>
          <p:nvPr/>
        </p:nvSpPr>
        <p:spPr>
          <a:xfrm>
            <a:off x="548640" y="5303520"/>
            <a:ext cx="5029200" cy="420624"/>
          </a:xfrm>
          <a:prstGeom prst="roundRect">
            <a:avLst>
              <a:gd name="adj" fmla="val 13043"/>
            </a:avLst>
          </a:prstGeom>
          <a:solidFill>
            <a:srgbClr val="1C7293"/>
          </a:solidFill>
          <a:ln/>
        </p:spPr>
        <p:txBody>
          <a:bodyPr/>
          <a:lstStyle/>
          <a:p>
            <a:endParaRPr lang="en-US"/>
          </a:p>
        </p:txBody>
      </p:sp>
      <p:sp>
        <p:nvSpPr>
          <p:cNvPr id="55" name="Text 17">
            <a:extLst>
              <a:ext uri="{FF2B5EF4-FFF2-40B4-BE49-F238E27FC236}">
                <a16:creationId xmlns:a16="http://schemas.microsoft.com/office/drawing/2014/main" id="{C43FDD77-C2D9-C957-7CD1-4F0A7BFEF0F8}"/>
              </a:ext>
            </a:extLst>
          </p:cNvPr>
          <p:cNvSpPr/>
          <p:nvPr/>
        </p:nvSpPr>
        <p:spPr>
          <a:xfrm>
            <a:off x="731520" y="5303520"/>
            <a:ext cx="4663440" cy="42062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Output — Softmax(6)</a:t>
            </a:r>
            <a:endParaRPr lang="en-US" sz="1250" dirty="0"/>
          </a:p>
        </p:txBody>
      </p:sp>
      <p:sp>
        <p:nvSpPr>
          <p:cNvPr id="58" name="Text 18">
            <a:extLst>
              <a:ext uri="{FF2B5EF4-FFF2-40B4-BE49-F238E27FC236}">
                <a16:creationId xmlns:a16="http://schemas.microsoft.com/office/drawing/2014/main" id="{0F8C144E-2029-5FE3-235B-D4E603807B7B}"/>
              </a:ext>
            </a:extLst>
          </p:cNvPr>
          <p:cNvSpPr/>
          <p:nvPr/>
        </p:nvSpPr>
        <p:spPr>
          <a:xfrm>
            <a:off x="548640" y="3813048"/>
            <a:ext cx="5029200" cy="0"/>
          </a:xfrm>
          <a:prstGeom prst="rect">
            <a:avLst/>
          </a:prstGeom>
          <a:noFill/>
          <a:ln/>
        </p:spPr>
        <p:txBody>
          <a:bodyPr wrap="square" rtlCol="0" anchor="ctr"/>
          <a:lstStyle/>
          <a:p>
            <a:pPr marL="0" indent="0">
              <a:buNone/>
            </a:pPr>
            <a:r>
              <a:rPr lang="en-US" sz="100" dirty="0">
                <a:solidFill>
                  <a:srgbClr val="000000"/>
                </a:solidFill>
                <a:latin typeface="Calibri" pitchFamily="34" charset="0"/>
                <a:ea typeface="Calibri" pitchFamily="34" charset="-122"/>
                <a:cs typeface="Calibri" pitchFamily="34" charset="-120"/>
              </a:rPr>
              <a:t>4 convolutional blocks progressively extract low-to-high level dental features, each stabilized with BatchNorm before downsampling.</a:t>
            </a:r>
            <a:endParaRPr lang="en-US" sz="100" dirty="0"/>
          </a:p>
        </p:txBody>
      </p:sp>
      <p:sp>
        <p:nvSpPr>
          <p:cNvPr id="60" name="Shape 19">
            <a:extLst>
              <a:ext uri="{FF2B5EF4-FFF2-40B4-BE49-F238E27FC236}">
                <a16:creationId xmlns:a16="http://schemas.microsoft.com/office/drawing/2014/main" id="{6D7ACD41-08D3-CE2D-8158-B4015E1255BD}"/>
              </a:ext>
            </a:extLst>
          </p:cNvPr>
          <p:cNvSpPr/>
          <p:nvPr/>
        </p:nvSpPr>
        <p:spPr>
          <a:xfrm>
            <a:off x="5943600" y="1783080"/>
            <a:ext cx="5669280" cy="4251960"/>
          </a:xfrm>
          <a:prstGeom prst="roundRect">
            <a:avLst>
              <a:gd name="adj" fmla="val 1935"/>
            </a:avLst>
          </a:prstGeom>
          <a:solidFill>
            <a:srgbClr val="F4F7F9"/>
          </a:solidFill>
          <a:ln/>
        </p:spPr>
        <p:txBody>
          <a:bodyPr/>
          <a:lstStyle/>
          <a:p>
            <a:endParaRPr lang="en-US"/>
          </a:p>
        </p:txBody>
      </p:sp>
      <p:sp>
        <p:nvSpPr>
          <p:cNvPr id="63" name="Text 20">
            <a:extLst>
              <a:ext uri="{FF2B5EF4-FFF2-40B4-BE49-F238E27FC236}">
                <a16:creationId xmlns:a16="http://schemas.microsoft.com/office/drawing/2014/main" id="{C42F9F31-0E40-059A-9FD6-04824B660CB5}"/>
              </a:ext>
            </a:extLst>
          </p:cNvPr>
          <p:cNvSpPr/>
          <p:nvPr/>
        </p:nvSpPr>
        <p:spPr>
          <a:xfrm>
            <a:off x="6217920" y="2011680"/>
            <a:ext cx="5120640" cy="274320"/>
          </a:xfrm>
          <a:prstGeom prst="rect">
            <a:avLst/>
          </a:prstGeom>
          <a:noFill/>
          <a:ln/>
        </p:spPr>
        <p:txBody>
          <a:bodyPr wrap="square"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DESIGN RATIONALE</a:t>
            </a:r>
            <a:endParaRPr lang="en-US" sz="1100" dirty="0"/>
          </a:p>
        </p:txBody>
      </p:sp>
      <p:sp>
        <p:nvSpPr>
          <p:cNvPr id="66" name="Shape 21">
            <a:extLst>
              <a:ext uri="{FF2B5EF4-FFF2-40B4-BE49-F238E27FC236}">
                <a16:creationId xmlns:a16="http://schemas.microsoft.com/office/drawing/2014/main" id="{01378159-CBB3-0D48-9466-39508F7AB490}"/>
              </a:ext>
            </a:extLst>
          </p:cNvPr>
          <p:cNvSpPr/>
          <p:nvPr/>
        </p:nvSpPr>
        <p:spPr>
          <a:xfrm>
            <a:off x="6263640" y="2459736"/>
            <a:ext cx="82296" cy="82296"/>
          </a:xfrm>
          <a:prstGeom prst="ellipse">
            <a:avLst/>
          </a:prstGeom>
          <a:solidFill>
            <a:srgbClr val="065A82"/>
          </a:solidFill>
          <a:ln/>
        </p:spPr>
        <p:txBody>
          <a:bodyPr/>
          <a:lstStyle/>
          <a:p>
            <a:endParaRPr lang="en-US"/>
          </a:p>
        </p:txBody>
      </p:sp>
      <p:sp>
        <p:nvSpPr>
          <p:cNvPr id="68" name="Text 22">
            <a:extLst>
              <a:ext uri="{FF2B5EF4-FFF2-40B4-BE49-F238E27FC236}">
                <a16:creationId xmlns:a16="http://schemas.microsoft.com/office/drawing/2014/main" id="{5D5C7513-5B70-3117-52F4-95FB2AC900F6}"/>
              </a:ext>
            </a:extLst>
          </p:cNvPr>
          <p:cNvSpPr/>
          <p:nvPr/>
        </p:nvSpPr>
        <p:spPr>
          <a:xfrm>
            <a:off x="6492240" y="2286000"/>
            <a:ext cx="4937760" cy="777240"/>
          </a:xfrm>
          <a:prstGeom prst="rect">
            <a:avLst/>
          </a:prstGeom>
          <a:noFill/>
          <a:ln/>
        </p:spPr>
        <p:txBody>
          <a:bodyPr wrap="square" rtlCol="0" anchor="ctr"/>
          <a:lstStyle/>
          <a:p>
            <a:pPr marL="0" indent="0">
              <a:lnSpc>
                <a:spcPct val="120000"/>
              </a:lnSpc>
              <a:buNone/>
            </a:pPr>
            <a:r>
              <a:rPr lang="en-US" sz="1250" dirty="0">
                <a:solidFill>
                  <a:srgbClr val="1B2430"/>
                </a:solidFill>
                <a:latin typeface="Calibri" pitchFamily="34" charset="0"/>
                <a:ea typeface="Calibri" pitchFamily="34" charset="-122"/>
                <a:cs typeface="Calibri" pitchFamily="34" charset="-120"/>
              </a:rPr>
              <a:t>4 stacked Conv-BatchNorm-MaxPool blocks build a feature hierarchy from edges/texture to disease-specific patterns.</a:t>
            </a:r>
            <a:endParaRPr lang="en-US" sz="1250" dirty="0"/>
          </a:p>
        </p:txBody>
      </p:sp>
      <p:sp>
        <p:nvSpPr>
          <p:cNvPr id="71" name="Shape 23">
            <a:extLst>
              <a:ext uri="{FF2B5EF4-FFF2-40B4-BE49-F238E27FC236}">
                <a16:creationId xmlns:a16="http://schemas.microsoft.com/office/drawing/2014/main" id="{1E6692DD-0B93-6BEE-6434-B8844DFC36EC}"/>
              </a:ext>
            </a:extLst>
          </p:cNvPr>
          <p:cNvSpPr/>
          <p:nvPr/>
        </p:nvSpPr>
        <p:spPr>
          <a:xfrm>
            <a:off x="6263640" y="3328416"/>
            <a:ext cx="82296" cy="82296"/>
          </a:xfrm>
          <a:prstGeom prst="ellipse">
            <a:avLst/>
          </a:prstGeom>
          <a:solidFill>
            <a:srgbClr val="065A82"/>
          </a:solidFill>
          <a:ln/>
        </p:spPr>
        <p:txBody>
          <a:bodyPr/>
          <a:lstStyle/>
          <a:p>
            <a:endParaRPr lang="en-US"/>
          </a:p>
        </p:txBody>
      </p:sp>
      <p:sp>
        <p:nvSpPr>
          <p:cNvPr id="74" name="Text 24">
            <a:extLst>
              <a:ext uri="{FF2B5EF4-FFF2-40B4-BE49-F238E27FC236}">
                <a16:creationId xmlns:a16="http://schemas.microsoft.com/office/drawing/2014/main" id="{49E363FB-F0FA-7C9B-E40C-7EAFFF301FD2}"/>
              </a:ext>
            </a:extLst>
          </p:cNvPr>
          <p:cNvSpPr/>
          <p:nvPr/>
        </p:nvSpPr>
        <p:spPr>
          <a:xfrm>
            <a:off x="6492240" y="3154680"/>
            <a:ext cx="4937760" cy="777240"/>
          </a:xfrm>
          <a:prstGeom prst="rect">
            <a:avLst/>
          </a:prstGeom>
          <a:noFill/>
          <a:ln/>
        </p:spPr>
        <p:txBody>
          <a:bodyPr wrap="square" rtlCol="0" anchor="ctr"/>
          <a:lstStyle/>
          <a:p>
            <a:pPr marL="0" indent="0">
              <a:lnSpc>
                <a:spcPct val="120000"/>
              </a:lnSpc>
              <a:buNone/>
            </a:pPr>
            <a:r>
              <a:rPr lang="en-US" sz="1250" dirty="0">
                <a:solidFill>
                  <a:srgbClr val="1B2430"/>
                </a:solidFill>
                <a:latin typeface="Calibri" pitchFamily="34" charset="0"/>
                <a:ea typeface="Calibri" pitchFamily="34" charset="-122"/>
                <a:cs typeface="Calibri" pitchFamily="34" charset="-120"/>
              </a:rPr>
              <a:t>GlobalAveragePooling replaces Flatten to sharply cut parameter count and reduce overfitting risk.</a:t>
            </a:r>
            <a:endParaRPr lang="en-US" sz="1250" dirty="0"/>
          </a:p>
        </p:txBody>
      </p:sp>
      <p:sp>
        <p:nvSpPr>
          <p:cNvPr id="76" name="Shape 25">
            <a:extLst>
              <a:ext uri="{FF2B5EF4-FFF2-40B4-BE49-F238E27FC236}">
                <a16:creationId xmlns:a16="http://schemas.microsoft.com/office/drawing/2014/main" id="{A9C39AE1-EA30-ABD3-5105-90EB0FABF976}"/>
              </a:ext>
            </a:extLst>
          </p:cNvPr>
          <p:cNvSpPr/>
          <p:nvPr/>
        </p:nvSpPr>
        <p:spPr>
          <a:xfrm>
            <a:off x="6263640" y="4197096"/>
            <a:ext cx="82296" cy="82296"/>
          </a:xfrm>
          <a:prstGeom prst="ellipse">
            <a:avLst/>
          </a:prstGeom>
          <a:solidFill>
            <a:srgbClr val="065A82"/>
          </a:solidFill>
          <a:ln/>
        </p:spPr>
        <p:txBody>
          <a:bodyPr/>
          <a:lstStyle/>
          <a:p>
            <a:endParaRPr lang="en-US"/>
          </a:p>
        </p:txBody>
      </p:sp>
      <p:sp>
        <p:nvSpPr>
          <p:cNvPr id="79" name="Text 26">
            <a:extLst>
              <a:ext uri="{FF2B5EF4-FFF2-40B4-BE49-F238E27FC236}">
                <a16:creationId xmlns:a16="http://schemas.microsoft.com/office/drawing/2014/main" id="{93A54F60-3728-D82A-83DB-AEED41F3822F}"/>
              </a:ext>
            </a:extLst>
          </p:cNvPr>
          <p:cNvSpPr/>
          <p:nvPr/>
        </p:nvSpPr>
        <p:spPr>
          <a:xfrm>
            <a:off x="6492240" y="4023360"/>
            <a:ext cx="4937760" cy="777240"/>
          </a:xfrm>
          <a:prstGeom prst="rect">
            <a:avLst/>
          </a:prstGeom>
          <a:noFill/>
          <a:ln/>
        </p:spPr>
        <p:txBody>
          <a:bodyPr wrap="square" rtlCol="0" anchor="ctr"/>
          <a:lstStyle/>
          <a:p>
            <a:pPr marL="0" indent="0">
              <a:lnSpc>
                <a:spcPct val="120000"/>
              </a:lnSpc>
              <a:buNone/>
            </a:pPr>
            <a:r>
              <a:rPr lang="en-US" sz="1250" dirty="0">
                <a:solidFill>
                  <a:srgbClr val="1B2430"/>
                </a:solidFill>
                <a:latin typeface="Calibri" pitchFamily="34" charset="0"/>
                <a:ea typeface="Calibri" pitchFamily="34" charset="-122"/>
                <a:cs typeface="Calibri" pitchFamily="34" charset="-120"/>
              </a:rPr>
              <a:t>Two Dense+Dropout stages (256→128) add classification capacity while Dropout fights overfitting on a modest dataset.</a:t>
            </a:r>
            <a:endParaRPr lang="en-US" sz="1250" dirty="0"/>
          </a:p>
        </p:txBody>
      </p:sp>
      <p:sp>
        <p:nvSpPr>
          <p:cNvPr id="82" name="Shape 27">
            <a:extLst>
              <a:ext uri="{FF2B5EF4-FFF2-40B4-BE49-F238E27FC236}">
                <a16:creationId xmlns:a16="http://schemas.microsoft.com/office/drawing/2014/main" id="{E82EC794-AFC5-78F9-D8A2-C60674CA3123}"/>
              </a:ext>
            </a:extLst>
          </p:cNvPr>
          <p:cNvSpPr/>
          <p:nvPr/>
        </p:nvSpPr>
        <p:spPr>
          <a:xfrm>
            <a:off x="6263640" y="5065776"/>
            <a:ext cx="82296" cy="82296"/>
          </a:xfrm>
          <a:prstGeom prst="ellipse">
            <a:avLst/>
          </a:prstGeom>
          <a:solidFill>
            <a:srgbClr val="065A82"/>
          </a:solidFill>
          <a:ln/>
        </p:spPr>
        <p:txBody>
          <a:bodyPr/>
          <a:lstStyle/>
          <a:p>
            <a:endParaRPr lang="en-US"/>
          </a:p>
        </p:txBody>
      </p:sp>
      <p:sp>
        <p:nvSpPr>
          <p:cNvPr id="84" name="Text 28">
            <a:extLst>
              <a:ext uri="{FF2B5EF4-FFF2-40B4-BE49-F238E27FC236}">
                <a16:creationId xmlns:a16="http://schemas.microsoft.com/office/drawing/2014/main" id="{A034939C-FD07-F774-E151-C7AEEC3091A1}"/>
              </a:ext>
            </a:extLst>
          </p:cNvPr>
          <p:cNvSpPr/>
          <p:nvPr/>
        </p:nvSpPr>
        <p:spPr>
          <a:xfrm>
            <a:off x="6492240" y="4892040"/>
            <a:ext cx="4937760" cy="777240"/>
          </a:xfrm>
          <a:prstGeom prst="rect">
            <a:avLst/>
          </a:prstGeom>
          <a:noFill/>
          <a:ln/>
        </p:spPr>
        <p:txBody>
          <a:bodyPr wrap="square" rtlCol="0" anchor="ctr"/>
          <a:lstStyle/>
          <a:p>
            <a:pPr marL="0" indent="0">
              <a:lnSpc>
                <a:spcPct val="120000"/>
              </a:lnSpc>
              <a:buNone/>
            </a:pPr>
            <a:r>
              <a:rPr lang="en-US" sz="1250" dirty="0">
                <a:solidFill>
                  <a:srgbClr val="1B2430"/>
                </a:solidFill>
                <a:latin typeface="Calibri" pitchFamily="34" charset="0"/>
                <a:ea typeface="Calibri" pitchFamily="34" charset="-122"/>
                <a:cs typeface="Calibri" pitchFamily="34" charset="-120"/>
              </a:rPr>
              <a:t>Serves as the performance baseline — built and trained entirely from scratch, no pretrained weights.</a:t>
            </a:r>
            <a:endParaRPr lang="en-US" sz="1250" dirty="0"/>
          </a:p>
        </p:txBody>
      </p:sp>
      <p:sp>
        <p:nvSpPr>
          <p:cNvPr id="87" name="Text 29">
            <a:extLst>
              <a:ext uri="{FF2B5EF4-FFF2-40B4-BE49-F238E27FC236}">
                <a16:creationId xmlns:a16="http://schemas.microsoft.com/office/drawing/2014/main" id="{F1368A5D-9B8E-29C7-19B0-94FA25D0AD6D}"/>
              </a:ext>
            </a:extLst>
          </p:cNvPr>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90" name="Text 30">
            <a:extLst>
              <a:ext uri="{FF2B5EF4-FFF2-40B4-BE49-F238E27FC236}">
                <a16:creationId xmlns:a16="http://schemas.microsoft.com/office/drawing/2014/main" id="{6E84FBB3-EC0D-158D-04A2-54BF231523DF}"/>
              </a:ext>
            </a:extLst>
          </p:cNvPr>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extLst>
      <p:ext uri="{BB962C8B-B14F-4D97-AF65-F5344CB8AC3E}">
        <p14:creationId xmlns:p14="http://schemas.microsoft.com/office/powerpoint/2010/main" val="354918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6FD3C7"/>
                </a:solidFill>
                <a:latin typeface="Calibri" pitchFamily="34" charset="0"/>
                <a:ea typeface="Calibri" pitchFamily="34" charset="-122"/>
                <a:cs typeface="Calibri" pitchFamily="34" charset="-120"/>
              </a:rPr>
              <a:t>TRANSFER LEARNING</a:t>
            </a:r>
            <a:endParaRPr lang="en-US" sz="13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Why Transfer Learning?</a:t>
            </a:r>
            <a:endParaRPr lang="en-US" sz="3200" dirty="0"/>
          </a:p>
        </p:txBody>
      </p:sp>
      <p:sp>
        <p:nvSpPr>
          <p:cNvPr id="4" name="Shape 2"/>
          <p:cNvSpPr/>
          <p:nvPr/>
        </p:nvSpPr>
        <p:spPr>
          <a:xfrm>
            <a:off x="548640" y="1965960"/>
            <a:ext cx="3429000" cy="2834640"/>
          </a:xfrm>
          <a:prstGeom prst="roundRect">
            <a:avLst>
              <a:gd name="adj" fmla="val 2903"/>
            </a:avLst>
          </a:prstGeom>
          <a:solidFill>
            <a:srgbClr val="1B3A6B"/>
          </a:solidFill>
          <a:ln/>
        </p:spPr>
        <p:txBody>
          <a:bodyPr/>
          <a:lstStyle/>
          <a:p>
            <a:endParaRPr lang="en-US"/>
          </a:p>
        </p:txBody>
      </p:sp>
      <p:sp>
        <p:nvSpPr>
          <p:cNvPr id="5" name="Shape 3"/>
          <p:cNvSpPr/>
          <p:nvPr/>
        </p:nvSpPr>
        <p:spPr>
          <a:xfrm>
            <a:off x="1943100" y="2240280"/>
            <a:ext cx="640080" cy="640080"/>
          </a:xfrm>
          <a:prstGeom prst="ellipse">
            <a:avLst/>
          </a:prstGeom>
          <a:solidFill>
            <a:srgbClr val="1C7293"/>
          </a:solidFill>
          <a:ln/>
        </p:spPr>
        <p:txBody>
          <a:bodyPr/>
          <a:lstStyle/>
          <a:p>
            <a:endParaRPr lang="en-US"/>
          </a:p>
        </p:txBody>
      </p:sp>
      <p:pic>
        <p:nvPicPr>
          <p:cNvPr id="6" name="Image 0" descr="icons/network_FFFFFF.png"/>
          <p:cNvPicPr>
            <a:picLocks noChangeAspect="1"/>
          </p:cNvPicPr>
          <p:nvPr/>
        </p:nvPicPr>
        <p:blipFill>
          <a:blip r:embed="rId3"/>
          <a:stretch>
            <a:fillRect/>
          </a:stretch>
        </p:blipFill>
        <p:spPr>
          <a:xfrm>
            <a:off x="2096719" y="2393899"/>
            <a:ext cx="332842" cy="332842"/>
          </a:xfrm>
          <a:prstGeom prst="rect">
            <a:avLst/>
          </a:prstGeom>
        </p:spPr>
      </p:pic>
      <p:sp>
        <p:nvSpPr>
          <p:cNvPr id="7" name="Text 4"/>
          <p:cNvSpPr/>
          <p:nvPr/>
        </p:nvSpPr>
        <p:spPr>
          <a:xfrm>
            <a:off x="731520" y="3063240"/>
            <a:ext cx="306324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Pretrained Backbone</a:t>
            </a:r>
            <a:endParaRPr lang="en-US" sz="1500" dirty="0"/>
          </a:p>
        </p:txBody>
      </p:sp>
      <p:sp>
        <p:nvSpPr>
          <p:cNvPr id="8" name="Text 5"/>
          <p:cNvSpPr/>
          <p:nvPr/>
        </p:nvSpPr>
        <p:spPr>
          <a:xfrm>
            <a:off x="777240" y="3566160"/>
            <a:ext cx="2971800" cy="1143000"/>
          </a:xfrm>
          <a:prstGeom prst="rect">
            <a:avLst/>
          </a:prstGeom>
          <a:noFill/>
          <a:ln/>
        </p:spPr>
        <p:txBody>
          <a:bodyPr wrap="square" rtlCol="0" anchor="ctr"/>
          <a:lstStyle/>
          <a:p>
            <a:pPr marL="0" indent="0" algn="ctr">
              <a:lnSpc>
                <a:spcPct val="120000"/>
              </a:lnSpc>
              <a:buNone/>
            </a:pPr>
            <a:r>
              <a:rPr lang="en-US" sz="1200" dirty="0">
                <a:solidFill>
                  <a:srgbClr val="C9D6E3"/>
                </a:solidFill>
                <a:latin typeface="Calibri" pitchFamily="34" charset="0"/>
                <a:ea typeface="Calibri" pitchFamily="34" charset="-122"/>
                <a:cs typeface="Calibri" pitchFamily="34" charset="-120"/>
              </a:rPr>
              <a:t>ImageNet-trained EfficientNetB0 / ResNet50 / MobileNetV2 reused as a frozen feature extractor</a:t>
            </a:r>
            <a:endParaRPr lang="en-US" sz="1200" dirty="0"/>
          </a:p>
        </p:txBody>
      </p:sp>
      <p:sp>
        <p:nvSpPr>
          <p:cNvPr id="9" name="Text 6"/>
          <p:cNvSpPr/>
          <p:nvPr/>
        </p:nvSpPr>
        <p:spPr>
          <a:xfrm>
            <a:off x="3973068" y="3063240"/>
            <a:ext cx="365760" cy="548640"/>
          </a:xfrm>
          <a:prstGeom prst="rect">
            <a:avLst/>
          </a:prstGeom>
          <a:noFill/>
          <a:ln/>
        </p:spPr>
        <p:txBody>
          <a:bodyPr wrap="square" rtlCol="0" anchor="ctr"/>
          <a:lstStyle/>
          <a:p>
            <a:pPr marL="0" indent="0" algn="ctr">
              <a:buNone/>
            </a:pPr>
            <a:r>
              <a:rPr lang="en-US" sz="2600" b="1" dirty="0">
                <a:solidFill>
                  <a:srgbClr val="6FD3C7"/>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4297680" y="1965960"/>
            <a:ext cx="3429000" cy="2834640"/>
          </a:xfrm>
          <a:prstGeom prst="roundRect">
            <a:avLst>
              <a:gd name="adj" fmla="val 2903"/>
            </a:avLst>
          </a:prstGeom>
          <a:solidFill>
            <a:srgbClr val="1B3A6B"/>
          </a:solidFill>
          <a:ln/>
        </p:spPr>
        <p:txBody>
          <a:bodyPr/>
          <a:lstStyle/>
          <a:p>
            <a:endParaRPr lang="en-US"/>
          </a:p>
        </p:txBody>
      </p:sp>
      <p:sp>
        <p:nvSpPr>
          <p:cNvPr id="11" name="Shape 8"/>
          <p:cNvSpPr/>
          <p:nvPr/>
        </p:nvSpPr>
        <p:spPr>
          <a:xfrm>
            <a:off x="5692140" y="2240280"/>
            <a:ext cx="640080" cy="640080"/>
          </a:xfrm>
          <a:prstGeom prst="ellipse">
            <a:avLst/>
          </a:prstGeom>
          <a:solidFill>
            <a:srgbClr val="1C7293"/>
          </a:solidFill>
          <a:ln/>
        </p:spPr>
        <p:txBody>
          <a:bodyPr/>
          <a:lstStyle/>
          <a:p>
            <a:endParaRPr lang="en-US"/>
          </a:p>
        </p:txBody>
      </p:sp>
      <p:pic>
        <p:nvPicPr>
          <p:cNvPr id="12" name="Image 1" descr="icons/layers_FFFFFF.png"/>
          <p:cNvPicPr>
            <a:picLocks noChangeAspect="1"/>
          </p:cNvPicPr>
          <p:nvPr/>
        </p:nvPicPr>
        <p:blipFill>
          <a:blip r:embed="rId4"/>
          <a:stretch>
            <a:fillRect/>
          </a:stretch>
        </p:blipFill>
        <p:spPr>
          <a:xfrm>
            <a:off x="5845759" y="2393899"/>
            <a:ext cx="332842" cy="332842"/>
          </a:xfrm>
          <a:prstGeom prst="rect">
            <a:avLst/>
          </a:prstGeom>
        </p:spPr>
      </p:pic>
      <p:sp>
        <p:nvSpPr>
          <p:cNvPr id="13" name="Text 9"/>
          <p:cNvSpPr/>
          <p:nvPr/>
        </p:nvSpPr>
        <p:spPr>
          <a:xfrm>
            <a:off x="4480560" y="3063240"/>
            <a:ext cx="306324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Frozen Feature Extraction</a:t>
            </a:r>
            <a:endParaRPr lang="en-US" sz="1500" dirty="0"/>
          </a:p>
        </p:txBody>
      </p:sp>
      <p:sp>
        <p:nvSpPr>
          <p:cNvPr id="14" name="Text 10"/>
          <p:cNvSpPr/>
          <p:nvPr/>
        </p:nvSpPr>
        <p:spPr>
          <a:xfrm>
            <a:off x="4526280" y="3566160"/>
            <a:ext cx="2971800" cy="1143000"/>
          </a:xfrm>
          <a:prstGeom prst="rect">
            <a:avLst/>
          </a:prstGeom>
          <a:noFill/>
          <a:ln/>
        </p:spPr>
        <p:txBody>
          <a:bodyPr wrap="square" rtlCol="0" anchor="ctr"/>
          <a:lstStyle/>
          <a:p>
            <a:pPr marL="0" indent="0" algn="ctr">
              <a:lnSpc>
                <a:spcPct val="120000"/>
              </a:lnSpc>
              <a:buNone/>
            </a:pPr>
            <a:r>
              <a:rPr lang="en-US" sz="1200" dirty="0">
                <a:solidFill>
                  <a:srgbClr val="C9D6E3"/>
                </a:solidFill>
                <a:latin typeface="Calibri" pitchFamily="34" charset="0"/>
                <a:ea typeface="Calibri" pitchFamily="34" charset="-122"/>
                <a:cs typeface="Calibri" pitchFamily="34" charset="-120"/>
              </a:rPr>
              <a:t>Convolutional base weights are frozen — only new top layers are trained</a:t>
            </a:r>
            <a:endParaRPr lang="en-US" sz="1200" dirty="0"/>
          </a:p>
        </p:txBody>
      </p:sp>
      <p:sp>
        <p:nvSpPr>
          <p:cNvPr id="15" name="Text 11"/>
          <p:cNvSpPr/>
          <p:nvPr/>
        </p:nvSpPr>
        <p:spPr>
          <a:xfrm>
            <a:off x="7722108" y="3063240"/>
            <a:ext cx="365760" cy="548640"/>
          </a:xfrm>
          <a:prstGeom prst="rect">
            <a:avLst/>
          </a:prstGeom>
          <a:noFill/>
          <a:ln/>
        </p:spPr>
        <p:txBody>
          <a:bodyPr wrap="square" rtlCol="0" anchor="ctr"/>
          <a:lstStyle/>
          <a:p>
            <a:pPr marL="0" indent="0" algn="ctr">
              <a:buNone/>
            </a:pPr>
            <a:r>
              <a:rPr lang="en-US" sz="2600" b="1" dirty="0">
                <a:solidFill>
                  <a:srgbClr val="6FD3C7"/>
                </a:solidFill>
                <a:latin typeface="Calibri" pitchFamily="34" charset="0"/>
                <a:ea typeface="Calibri" pitchFamily="34" charset="-122"/>
                <a:cs typeface="Calibri" pitchFamily="34" charset="-120"/>
              </a:rPr>
              <a:t>→</a:t>
            </a:r>
            <a:endParaRPr lang="en-US" sz="2600" dirty="0"/>
          </a:p>
        </p:txBody>
      </p:sp>
      <p:sp>
        <p:nvSpPr>
          <p:cNvPr id="16" name="Shape 12"/>
          <p:cNvSpPr/>
          <p:nvPr/>
        </p:nvSpPr>
        <p:spPr>
          <a:xfrm>
            <a:off x="8046720" y="1965960"/>
            <a:ext cx="3429000" cy="2834640"/>
          </a:xfrm>
          <a:prstGeom prst="roundRect">
            <a:avLst>
              <a:gd name="adj" fmla="val 2903"/>
            </a:avLst>
          </a:prstGeom>
          <a:solidFill>
            <a:srgbClr val="1B3A6B"/>
          </a:solidFill>
          <a:ln/>
        </p:spPr>
        <p:txBody>
          <a:bodyPr/>
          <a:lstStyle/>
          <a:p>
            <a:endParaRPr lang="en-US"/>
          </a:p>
        </p:txBody>
      </p:sp>
      <p:sp>
        <p:nvSpPr>
          <p:cNvPr id="17" name="Shape 13"/>
          <p:cNvSpPr/>
          <p:nvPr/>
        </p:nvSpPr>
        <p:spPr>
          <a:xfrm>
            <a:off x="9441180" y="2240280"/>
            <a:ext cx="640080" cy="640080"/>
          </a:xfrm>
          <a:prstGeom prst="ellipse">
            <a:avLst/>
          </a:prstGeom>
          <a:solidFill>
            <a:srgbClr val="1C7293"/>
          </a:solidFill>
          <a:ln/>
        </p:spPr>
        <p:txBody>
          <a:bodyPr/>
          <a:lstStyle/>
          <a:p>
            <a:endParaRPr lang="en-US"/>
          </a:p>
        </p:txBody>
      </p:sp>
      <p:pic>
        <p:nvPicPr>
          <p:cNvPr id="18" name="Image 2" descr="icons/cogs_FFFFFF.png"/>
          <p:cNvPicPr>
            <a:picLocks noChangeAspect="1"/>
          </p:cNvPicPr>
          <p:nvPr/>
        </p:nvPicPr>
        <p:blipFill>
          <a:blip r:embed="rId5"/>
          <a:stretch>
            <a:fillRect/>
          </a:stretch>
        </p:blipFill>
        <p:spPr>
          <a:xfrm>
            <a:off x="9594799" y="2393899"/>
            <a:ext cx="332842" cy="332842"/>
          </a:xfrm>
          <a:prstGeom prst="rect">
            <a:avLst/>
          </a:prstGeom>
        </p:spPr>
      </p:pic>
      <p:sp>
        <p:nvSpPr>
          <p:cNvPr id="19" name="Text 14"/>
          <p:cNvSpPr/>
          <p:nvPr/>
        </p:nvSpPr>
        <p:spPr>
          <a:xfrm>
            <a:off x="8229600" y="3063240"/>
            <a:ext cx="306324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Custom Classification Head</a:t>
            </a:r>
            <a:endParaRPr lang="en-US" sz="1500" dirty="0"/>
          </a:p>
        </p:txBody>
      </p:sp>
      <p:sp>
        <p:nvSpPr>
          <p:cNvPr id="20" name="Text 15"/>
          <p:cNvSpPr/>
          <p:nvPr/>
        </p:nvSpPr>
        <p:spPr>
          <a:xfrm>
            <a:off x="8275320" y="3566160"/>
            <a:ext cx="2971800" cy="1143000"/>
          </a:xfrm>
          <a:prstGeom prst="rect">
            <a:avLst/>
          </a:prstGeom>
          <a:noFill/>
          <a:ln/>
        </p:spPr>
        <p:txBody>
          <a:bodyPr wrap="square" rtlCol="0" anchor="ctr"/>
          <a:lstStyle/>
          <a:p>
            <a:pPr marL="0" indent="0" algn="ctr">
              <a:lnSpc>
                <a:spcPct val="120000"/>
              </a:lnSpc>
              <a:buNone/>
            </a:pPr>
            <a:r>
              <a:rPr lang="en-US" sz="1200" dirty="0">
                <a:solidFill>
                  <a:srgbClr val="C9D6E3"/>
                </a:solidFill>
                <a:latin typeface="Calibri" pitchFamily="34" charset="0"/>
                <a:ea typeface="Calibri" pitchFamily="34" charset="-122"/>
                <a:cs typeface="Calibri" pitchFamily="34" charset="-120"/>
              </a:rPr>
              <a:t>Dense(256) → Dropout → Softmax(6) tailored to our 6 oral disease classes</a:t>
            </a:r>
            <a:endParaRPr lang="en-US" sz="1200" dirty="0"/>
          </a:p>
        </p:txBody>
      </p:sp>
      <p:sp>
        <p:nvSpPr>
          <p:cNvPr id="21" name="Text 16"/>
          <p:cNvSpPr/>
          <p:nvPr/>
        </p:nvSpPr>
        <p:spPr>
          <a:xfrm>
            <a:off x="548640" y="5029200"/>
            <a:ext cx="11064240" cy="822960"/>
          </a:xfrm>
          <a:prstGeom prst="rect">
            <a:avLst/>
          </a:prstGeom>
          <a:noFill/>
          <a:ln/>
        </p:spPr>
        <p:txBody>
          <a:bodyPr wrap="square" rtlCol="0" anchor="ctr"/>
          <a:lstStyle/>
          <a:p>
            <a:pPr marL="0" indent="0">
              <a:lnSpc>
                <a:spcPct val="125000"/>
              </a:lnSpc>
              <a:buNone/>
            </a:pPr>
            <a:r>
              <a:rPr lang="en-US" sz="1300" dirty="0">
                <a:solidFill>
                  <a:srgbClr val="E4EEF3"/>
                </a:solidFill>
                <a:latin typeface="Calibri" pitchFamily="34" charset="0"/>
                <a:ea typeface="Calibri" pitchFamily="34" charset="-122"/>
                <a:cs typeface="Calibri" pitchFamily="34" charset="-120"/>
              </a:rPr>
              <a:t>Why it works with a moderate dataset: pretrained convolutional filters already encode general visual patterns (edges, textures, shapes) learned from millions of images — we only need to learn the mapping from those features to our 6 specific oral conditions.</a:t>
            </a:r>
            <a:endParaRPr lang="en-US" sz="1300" dirty="0"/>
          </a:p>
        </p:txBody>
      </p:sp>
      <p:sp>
        <p:nvSpPr>
          <p:cNvPr id="22" name="Text 17"/>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9FB3C8"/>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23" name="Text 18"/>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006183DD-70CE-02E9-2EB1-4014779579D4}"/>
            </a:ext>
          </a:extLst>
        </p:cNvPr>
        <p:cNvGrpSpPr/>
        <p:nvPr/>
      </p:nvGrpSpPr>
      <p:grpSpPr>
        <a:xfrm>
          <a:off x="0" y="0"/>
          <a:ext cx="0" cy="0"/>
          <a:chOff x="0" y="0"/>
          <a:chExt cx="0" cy="0"/>
        </a:xfrm>
      </p:grpSpPr>
      <p:sp>
        <p:nvSpPr>
          <p:cNvPr id="25" name="Text 0">
            <a:extLst>
              <a:ext uri="{FF2B5EF4-FFF2-40B4-BE49-F238E27FC236}">
                <a16:creationId xmlns:a16="http://schemas.microsoft.com/office/drawing/2014/main" id="{B9403B26-3389-46EB-AF5E-E5EE9C4C4EC2}"/>
              </a:ext>
            </a:extLst>
          </p:cNvPr>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chemeClr val="bg1"/>
                </a:solidFill>
                <a:latin typeface="Calibri" pitchFamily="34" charset="0"/>
                <a:ea typeface="Calibri" pitchFamily="34" charset="-122"/>
                <a:cs typeface="Calibri" pitchFamily="34" charset="-120"/>
              </a:rPr>
              <a:t>TRANSFER LEARNING</a:t>
            </a:r>
            <a:endParaRPr lang="en-US" sz="1300" dirty="0">
              <a:solidFill>
                <a:schemeClr val="bg1"/>
              </a:solidFill>
            </a:endParaRPr>
          </a:p>
        </p:txBody>
      </p:sp>
      <p:sp>
        <p:nvSpPr>
          <p:cNvPr id="27" name="Text 1">
            <a:extLst>
              <a:ext uri="{FF2B5EF4-FFF2-40B4-BE49-F238E27FC236}">
                <a16:creationId xmlns:a16="http://schemas.microsoft.com/office/drawing/2014/main" id="{E09E1912-F406-BED4-D62C-D5A347A7A14F}"/>
              </a:ext>
            </a:extLst>
          </p:cNvPr>
          <p:cNvSpPr/>
          <p:nvPr/>
        </p:nvSpPr>
        <p:spPr>
          <a:xfrm>
            <a:off x="548640" y="685800"/>
            <a:ext cx="10789920" cy="822960"/>
          </a:xfrm>
          <a:prstGeom prst="rect">
            <a:avLst/>
          </a:prstGeom>
          <a:noFill/>
          <a:ln/>
        </p:spPr>
        <p:txBody>
          <a:bodyPr wrap="square"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Three Backbones, One Shared Head</a:t>
            </a:r>
            <a:endParaRPr lang="en-US" sz="3200" dirty="0">
              <a:solidFill>
                <a:schemeClr val="bg1"/>
              </a:solidFill>
            </a:endParaRPr>
          </a:p>
        </p:txBody>
      </p:sp>
      <p:sp>
        <p:nvSpPr>
          <p:cNvPr id="29" name="Shape 2">
            <a:extLst>
              <a:ext uri="{FF2B5EF4-FFF2-40B4-BE49-F238E27FC236}">
                <a16:creationId xmlns:a16="http://schemas.microsoft.com/office/drawing/2014/main" id="{5384ADE1-D8EF-F76C-8BB7-DCB55378246D}"/>
              </a:ext>
            </a:extLst>
          </p:cNvPr>
          <p:cNvSpPr/>
          <p:nvPr/>
        </p:nvSpPr>
        <p:spPr>
          <a:xfrm>
            <a:off x="548640" y="1783080"/>
            <a:ext cx="3520440" cy="2331720"/>
          </a:xfrm>
          <a:prstGeom prst="roundRect">
            <a:avLst>
              <a:gd name="adj" fmla="val 3529"/>
            </a:avLst>
          </a:prstGeom>
          <a:solidFill>
            <a:srgbClr val="065A82"/>
          </a:solidFill>
          <a:ln/>
        </p:spPr>
        <p:txBody>
          <a:bodyPr/>
          <a:lstStyle/>
          <a:p>
            <a:endParaRPr lang="en-US"/>
          </a:p>
        </p:txBody>
      </p:sp>
      <p:sp>
        <p:nvSpPr>
          <p:cNvPr id="31" name="Text 3">
            <a:extLst>
              <a:ext uri="{FF2B5EF4-FFF2-40B4-BE49-F238E27FC236}">
                <a16:creationId xmlns:a16="http://schemas.microsoft.com/office/drawing/2014/main" id="{41105754-83D5-59F8-551E-5EF0EE134687}"/>
              </a:ext>
            </a:extLst>
          </p:cNvPr>
          <p:cNvSpPr/>
          <p:nvPr/>
        </p:nvSpPr>
        <p:spPr>
          <a:xfrm>
            <a:off x="777240" y="2011680"/>
            <a:ext cx="306324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EfficientNetB0</a:t>
            </a:r>
            <a:endParaRPr lang="en-US" sz="1800" dirty="0"/>
          </a:p>
        </p:txBody>
      </p:sp>
      <p:sp>
        <p:nvSpPr>
          <p:cNvPr id="33" name="Text 4">
            <a:extLst>
              <a:ext uri="{FF2B5EF4-FFF2-40B4-BE49-F238E27FC236}">
                <a16:creationId xmlns:a16="http://schemas.microsoft.com/office/drawing/2014/main" id="{56EEFA98-59D2-9A87-5C48-5EC72CA7FBDB}"/>
              </a:ext>
            </a:extLst>
          </p:cNvPr>
          <p:cNvSpPr/>
          <p:nvPr/>
        </p:nvSpPr>
        <p:spPr>
          <a:xfrm>
            <a:off x="777240" y="2560320"/>
            <a:ext cx="3063240" cy="1371600"/>
          </a:xfrm>
          <a:prstGeom prst="rect">
            <a:avLst/>
          </a:prstGeom>
          <a:noFill/>
          <a:ln/>
        </p:spPr>
        <p:txBody>
          <a:bodyPr wrap="square" rtlCol="0" anchor="ctr"/>
          <a:lstStyle/>
          <a:p>
            <a:pPr marL="0" indent="0">
              <a:lnSpc>
                <a:spcPct val="125000"/>
              </a:lnSpc>
              <a:buNone/>
            </a:pPr>
            <a:r>
              <a:rPr lang="en-US" sz="1250" dirty="0">
                <a:solidFill>
                  <a:srgbClr val="E4EEF3"/>
                </a:solidFill>
                <a:latin typeface="Calibri" pitchFamily="34" charset="0"/>
                <a:ea typeface="Calibri" pitchFamily="34" charset="-122"/>
                <a:cs typeface="Calibri" pitchFamily="34" charset="-120"/>
              </a:rPr>
              <a:t>Compound scaling of depth/width/resolution — efficient accuracy per parameter.</a:t>
            </a:r>
            <a:endParaRPr lang="en-US" sz="1250" dirty="0"/>
          </a:p>
        </p:txBody>
      </p:sp>
      <p:sp>
        <p:nvSpPr>
          <p:cNvPr id="35" name="Shape 5">
            <a:extLst>
              <a:ext uri="{FF2B5EF4-FFF2-40B4-BE49-F238E27FC236}">
                <a16:creationId xmlns:a16="http://schemas.microsoft.com/office/drawing/2014/main" id="{780E364F-8AB4-524A-1AD6-52C82CAFB240}"/>
              </a:ext>
            </a:extLst>
          </p:cNvPr>
          <p:cNvSpPr/>
          <p:nvPr/>
        </p:nvSpPr>
        <p:spPr>
          <a:xfrm>
            <a:off x="4343400" y="1783080"/>
            <a:ext cx="3520440" cy="2331720"/>
          </a:xfrm>
          <a:prstGeom prst="roundRect">
            <a:avLst>
              <a:gd name="adj" fmla="val 3529"/>
            </a:avLst>
          </a:prstGeom>
          <a:solidFill>
            <a:srgbClr val="1C7293"/>
          </a:solidFill>
          <a:ln/>
        </p:spPr>
        <p:txBody>
          <a:bodyPr/>
          <a:lstStyle/>
          <a:p>
            <a:endParaRPr lang="en-US"/>
          </a:p>
        </p:txBody>
      </p:sp>
      <p:sp>
        <p:nvSpPr>
          <p:cNvPr id="37" name="Text 6">
            <a:extLst>
              <a:ext uri="{FF2B5EF4-FFF2-40B4-BE49-F238E27FC236}">
                <a16:creationId xmlns:a16="http://schemas.microsoft.com/office/drawing/2014/main" id="{D204E78F-4E12-33AC-A760-CCB01727F559}"/>
              </a:ext>
            </a:extLst>
          </p:cNvPr>
          <p:cNvSpPr/>
          <p:nvPr/>
        </p:nvSpPr>
        <p:spPr>
          <a:xfrm>
            <a:off x="4572000" y="2011680"/>
            <a:ext cx="306324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ResNet50</a:t>
            </a:r>
            <a:endParaRPr lang="en-US" sz="1800" dirty="0"/>
          </a:p>
        </p:txBody>
      </p:sp>
      <p:sp>
        <p:nvSpPr>
          <p:cNvPr id="39" name="Text 7">
            <a:extLst>
              <a:ext uri="{FF2B5EF4-FFF2-40B4-BE49-F238E27FC236}">
                <a16:creationId xmlns:a16="http://schemas.microsoft.com/office/drawing/2014/main" id="{73017637-30D0-440B-4755-83F0B847102A}"/>
              </a:ext>
            </a:extLst>
          </p:cNvPr>
          <p:cNvSpPr/>
          <p:nvPr/>
        </p:nvSpPr>
        <p:spPr>
          <a:xfrm>
            <a:off x="4572000" y="2560320"/>
            <a:ext cx="3063240" cy="1371600"/>
          </a:xfrm>
          <a:prstGeom prst="rect">
            <a:avLst/>
          </a:prstGeom>
          <a:noFill/>
          <a:ln/>
        </p:spPr>
        <p:txBody>
          <a:bodyPr wrap="square" rtlCol="0" anchor="ctr"/>
          <a:lstStyle/>
          <a:p>
            <a:pPr marL="0" indent="0">
              <a:lnSpc>
                <a:spcPct val="125000"/>
              </a:lnSpc>
              <a:buNone/>
            </a:pPr>
            <a:r>
              <a:rPr lang="en-US" sz="1250" dirty="0">
                <a:solidFill>
                  <a:srgbClr val="E4EEF3"/>
                </a:solidFill>
                <a:latin typeface="Calibri" pitchFamily="34" charset="0"/>
                <a:ea typeface="Calibri" pitchFamily="34" charset="-122"/>
                <a:cs typeface="Calibri" pitchFamily="34" charset="-120"/>
              </a:rPr>
              <a:t>Residual (skip) connections allow very deep 50-layer training without vanishing gradients.</a:t>
            </a:r>
            <a:endParaRPr lang="en-US" sz="1250" dirty="0"/>
          </a:p>
        </p:txBody>
      </p:sp>
      <p:sp>
        <p:nvSpPr>
          <p:cNvPr id="41" name="Shape 8">
            <a:extLst>
              <a:ext uri="{FF2B5EF4-FFF2-40B4-BE49-F238E27FC236}">
                <a16:creationId xmlns:a16="http://schemas.microsoft.com/office/drawing/2014/main" id="{2BC1DFCF-A380-3016-661A-5DAF051B2294}"/>
              </a:ext>
            </a:extLst>
          </p:cNvPr>
          <p:cNvSpPr/>
          <p:nvPr/>
        </p:nvSpPr>
        <p:spPr>
          <a:xfrm>
            <a:off x="8138160" y="1783080"/>
            <a:ext cx="3520440" cy="2331720"/>
          </a:xfrm>
          <a:prstGeom prst="roundRect">
            <a:avLst>
              <a:gd name="adj" fmla="val 3529"/>
            </a:avLst>
          </a:prstGeom>
          <a:solidFill>
            <a:srgbClr val="1C7293"/>
          </a:solidFill>
          <a:ln/>
        </p:spPr>
        <p:txBody>
          <a:bodyPr/>
          <a:lstStyle/>
          <a:p>
            <a:endParaRPr lang="en-US"/>
          </a:p>
        </p:txBody>
      </p:sp>
      <p:sp>
        <p:nvSpPr>
          <p:cNvPr id="43" name="Text 9">
            <a:extLst>
              <a:ext uri="{FF2B5EF4-FFF2-40B4-BE49-F238E27FC236}">
                <a16:creationId xmlns:a16="http://schemas.microsoft.com/office/drawing/2014/main" id="{77AF5644-EC78-F431-3541-4A9BC542C4EF}"/>
              </a:ext>
            </a:extLst>
          </p:cNvPr>
          <p:cNvSpPr/>
          <p:nvPr/>
        </p:nvSpPr>
        <p:spPr>
          <a:xfrm>
            <a:off x="8366760" y="2011680"/>
            <a:ext cx="306324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MobileNetV2</a:t>
            </a:r>
            <a:endParaRPr lang="en-US" sz="1800" dirty="0"/>
          </a:p>
        </p:txBody>
      </p:sp>
      <p:sp>
        <p:nvSpPr>
          <p:cNvPr id="45" name="Text 10">
            <a:extLst>
              <a:ext uri="{FF2B5EF4-FFF2-40B4-BE49-F238E27FC236}">
                <a16:creationId xmlns:a16="http://schemas.microsoft.com/office/drawing/2014/main" id="{8140DF56-ABCD-5164-635D-E724EB6E0D38}"/>
              </a:ext>
            </a:extLst>
          </p:cNvPr>
          <p:cNvSpPr/>
          <p:nvPr/>
        </p:nvSpPr>
        <p:spPr>
          <a:xfrm>
            <a:off x="8366760" y="2560320"/>
            <a:ext cx="3063240" cy="1371600"/>
          </a:xfrm>
          <a:prstGeom prst="rect">
            <a:avLst/>
          </a:prstGeom>
          <a:noFill/>
          <a:ln/>
        </p:spPr>
        <p:txBody>
          <a:bodyPr wrap="square" rtlCol="0" anchor="ctr"/>
          <a:lstStyle/>
          <a:p>
            <a:pPr marL="0" indent="0">
              <a:lnSpc>
                <a:spcPct val="125000"/>
              </a:lnSpc>
              <a:buNone/>
            </a:pPr>
            <a:r>
              <a:rPr lang="en-US" sz="1250" dirty="0">
                <a:solidFill>
                  <a:srgbClr val="E4EEF3"/>
                </a:solidFill>
                <a:latin typeface="Calibri" pitchFamily="34" charset="0"/>
                <a:ea typeface="Calibri" pitchFamily="34" charset="-122"/>
                <a:cs typeface="Calibri" pitchFamily="34" charset="-120"/>
              </a:rPr>
              <a:t>Depthwise separable convolutions — lightweight, fast, mobile/edge-friendly.</a:t>
            </a:r>
            <a:endParaRPr lang="en-US" sz="1250" dirty="0"/>
          </a:p>
        </p:txBody>
      </p:sp>
      <p:sp>
        <p:nvSpPr>
          <p:cNvPr id="47" name="Shape 11">
            <a:extLst>
              <a:ext uri="{FF2B5EF4-FFF2-40B4-BE49-F238E27FC236}">
                <a16:creationId xmlns:a16="http://schemas.microsoft.com/office/drawing/2014/main" id="{E80D5A51-E5D5-CA9D-25D4-D016F1D51B8C}"/>
              </a:ext>
            </a:extLst>
          </p:cNvPr>
          <p:cNvSpPr/>
          <p:nvPr/>
        </p:nvSpPr>
        <p:spPr>
          <a:xfrm>
            <a:off x="548640" y="4343400"/>
            <a:ext cx="11064240" cy="1417320"/>
          </a:xfrm>
          <a:prstGeom prst="roundRect">
            <a:avLst>
              <a:gd name="adj" fmla="val 5806"/>
            </a:avLst>
          </a:prstGeom>
          <a:solidFill>
            <a:srgbClr val="F4F7F9"/>
          </a:solidFill>
          <a:ln/>
        </p:spPr>
        <p:txBody>
          <a:bodyPr/>
          <a:lstStyle/>
          <a:p>
            <a:endParaRPr lang="en-US"/>
          </a:p>
        </p:txBody>
      </p:sp>
      <p:sp>
        <p:nvSpPr>
          <p:cNvPr id="49" name="Text 12">
            <a:extLst>
              <a:ext uri="{FF2B5EF4-FFF2-40B4-BE49-F238E27FC236}">
                <a16:creationId xmlns:a16="http://schemas.microsoft.com/office/drawing/2014/main" id="{7EDBEF8C-9966-1EEC-6837-E74F1E8E9C26}"/>
              </a:ext>
            </a:extLst>
          </p:cNvPr>
          <p:cNvSpPr/>
          <p:nvPr/>
        </p:nvSpPr>
        <p:spPr>
          <a:xfrm>
            <a:off x="822960" y="4507992"/>
            <a:ext cx="10515600" cy="274320"/>
          </a:xfrm>
          <a:prstGeom prst="rect">
            <a:avLst/>
          </a:prstGeom>
          <a:noFill/>
          <a:ln/>
        </p:spPr>
        <p:txBody>
          <a:bodyPr wrap="square" rtlCol="0" anchor="ctr"/>
          <a:lstStyle/>
          <a:p>
            <a:pPr marL="0" indent="0">
              <a:buNone/>
            </a:pPr>
            <a:r>
              <a:rPr lang="en-US" sz="1100" b="1" kern="0" spc="130" dirty="0">
                <a:solidFill>
                  <a:srgbClr val="1C7293"/>
                </a:solidFill>
                <a:latin typeface="Calibri" pitchFamily="34" charset="0"/>
                <a:ea typeface="Calibri" pitchFamily="34" charset="-122"/>
                <a:cs typeface="Calibri" pitchFamily="34" charset="-120"/>
              </a:rPr>
              <a:t>SHARED CLASSIFICATION HEAD (all three)</a:t>
            </a:r>
            <a:endParaRPr lang="en-US" sz="1100" dirty="0"/>
          </a:p>
        </p:txBody>
      </p:sp>
      <p:sp>
        <p:nvSpPr>
          <p:cNvPr id="51" name="Text 13">
            <a:extLst>
              <a:ext uri="{FF2B5EF4-FFF2-40B4-BE49-F238E27FC236}">
                <a16:creationId xmlns:a16="http://schemas.microsoft.com/office/drawing/2014/main" id="{971AE7EC-6B9E-CDA0-3D87-19FDF678AA36}"/>
              </a:ext>
            </a:extLst>
          </p:cNvPr>
          <p:cNvSpPr/>
          <p:nvPr/>
        </p:nvSpPr>
        <p:spPr>
          <a:xfrm>
            <a:off x="822960" y="4800600"/>
            <a:ext cx="10515600" cy="45720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Frozen Feature Extractor  →  Dense(256)  →  Dropout  →  Softmax(6)</a:t>
            </a:r>
            <a:endParaRPr lang="en-US" sz="1600" dirty="0"/>
          </a:p>
        </p:txBody>
      </p:sp>
      <p:sp>
        <p:nvSpPr>
          <p:cNvPr id="53" name="Text 14">
            <a:extLst>
              <a:ext uri="{FF2B5EF4-FFF2-40B4-BE49-F238E27FC236}">
                <a16:creationId xmlns:a16="http://schemas.microsoft.com/office/drawing/2014/main" id="{DC2126A7-7FCE-2ED9-F466-BC4BBD58AEFD}"/>
              </a:ext>
            </a:extLst>
          </p:cNvPr>
          <p:cNvSpPr/>
          <p:nvPr/>
        </p:nvSpPr>
        <p:spPr>
          <a:xfrm>
            <a:off x="822960" y="5257800"/>
            <a:ext cx="10515600" cy="411480"/>
          </a:xfrm>
          <a:prstGeom prst="rect">
            <a:avLst/>
          </a:prstGeom>
          <a:noFill/>
          <a:ln/>
        </p:spPr>
        <p:txBody>
          <a:bodyPr wrap="square" rtlCol="0" anchor="ctr"/>
          <a:lstStyle/>
          <a:p>
            <a:pPr marL="0" indent="0">
              <a:buNone/>
            </a:pPr>
            <a:r>
              <a:rPr lang="en-US" sz="1150" i="1" dirty="0">
                <a:solidFill>
                  <a:srgbClr val="5B6B79"/>
                </a:solidFill>
                <a:latin typeface="Calibri" pitchFamily="34" charset="0"/>
                <a:ea typeface="Calibri" pitchFamily="34" charset="-122"/>
                <a:cs typeface="Calibri" pitchFamily="34" charset="-120"/>
              </a:rPr>
              <a:t>Keeping the head identical across all three backbones isolates the backbone itself as the only variable — making the comparison fair.</a:t>
            </a:r>
            <a:endParaRPr lang="en-US" sz="1150" dirty="0"/>
          </a:p>
        </p:txBody>
      </p:sp>
      <p:sp>
        <p:nvSpPr>
          <p:cNvPr id="55" name="Text 15">
            <a:extLst>
              <a:ext uri="{FF2B5EF4-FFF2-40B4-BE49-F238E27FC236}">
                <a16:creationId xmlns:a16="http://schemas.microsoft.com/office/drawing/2014/main" id="{43CFFE38-619E-50FE-FEE5-8B25D01ACF09}"/>
              </a:ext>
            </a:extLst>
          </p:cNvPr>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57" name="Text 16">
            <a:extLst>
              <a:ext uri="{FF2B5EF4-FFF2-40B4-BE49-F238E27FC236}">
                <a16:creationId xmlns:a16="http://schemas.microsoft.com/office/drawing/2014/main" id="{3C2A4E91-5045-72FB-2EAD-428ACE947851}"/>
              </a:ext>
            </a:extLst>
          </p:cNvPr>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10</a:t>
            </a:r>
            <a:endParaRPr lang="en-US" sz="900" dirty="0"/>
          </a:p>
        </p:txBody>
      </p:sp>
    </p:spTree>
    <p:extLst>
      <p:ext uri="{BB962C8B-B14F-4D97-AF65-F5344CB8AC3E}">
        <p14:creationId xmlns:p14="http://schemas.microsoft.com/office/powerpoint/2010/main" val="2556074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CD66EE35-7B1B-ACB2-ADCD-4AC08321DCB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0AEBD87-6F61-E28C-90D6-B73DA241C85C}"/>
              </a:ext>
            </a:extLst>
          </p:cNvPr>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chemeClr val="bg1"/>
                </a:solidFill>
                <a:latin typeface="Calibri" pitchFamily="34" charset="0"/>
                <a:ea typeface="Calibri" pitchFamily="34" charset="-122"/>
                <a:cs typeface="Calibri" pitchFamily="34" charset="-120"/>
              </a:rPr>
              <a:t>TRAINING</a:t>
            </a:r>
            <a:endParaRPr lang="en-US" sz="1300" dirty="0">
              <a:solidFill>
                <a:schemeClr val="bg1"/>
              </a:solidFill>
            </a:endParaRPr>
          </a:p>
        </p:txBody>
      </p:sp>
      <p:sp>
        <p:nvSpPr>
          <p:cNvPr id="5" name="Text 1">
            <a:extLst>
              <a:ext uri="{FF2B5EF4-FFF2-40B4-BE49-F238E27FC236}">
                <a16:creationId xmlns:a16="http://schemas.microsoft.com/office/drawing/2014/main" id="{AD44D54F-A7D2-38D2-026F-91A661F6F5E2}"/>
              </a:ext>
            </a:extLst>
          </p:cNvPr>
          <p:cNvSpPr/>
          <p:nvPr/>
        </p:nvSpPr>
        <p:spPr>
          <a:xfrm>
            <a:off x="548640" y="685800"/>
            <a:ext cx="10789920" cy="822960"/>
          </a:xfrm>
          <a:prstGeom prst="rect">
            <a:avLst/>
          </a:prstGeom>
          <a:noFill/>
          <a:ln/>
        </p:spPr>
        <p:txBody>
          <a:bodyPr wrap="square"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Training Pipeline &amp; Callbacks</a:t>
            </a:r>
            <a:endParaRPr lang="en-US" sz="3200" dirty="0">
              <a:solidFill>
                <a:schemeClr val="bg1"/>
              </a:solidFill>
            </a:endParaRPr>
          </a:p>
        </p:txBody>
      </p:sp>
      <p:sp>
        <p:nvSpPr>
          <p:cNvPr id="7" name="Shape 2">
            <a:extLst>
              <a:ext uri="{FF2B5EF4-FFF2-40B4-BE49-F238E27FC236}">
                <a16:creationId xmlns:a16="http://schemas.microsoft.com/office/drawing/2014/main" id="{BE03D8DC-85BB-35E2-F0F4-EB23ADC43767}"/>
              </a:ext>
            </a:extLst>
          </p:cNvPr>
          <p:cNvSpPr/>
          <p:nvPr/>
        </p:nvSpPr>
        <p:spPr>
          <a:xfrm>
            <a:off x="548640" y="1783080"/>
            <a:ext cx="5212080" cy="4206240"/>
          </a:xfrm>
          <a:prstGeom prst="roundRect">
            <a:avLst>
              <a:gd name="adj" fmla="val 1957"/>
            </a:avLst>
          </a:prstGeom>
          <a:solidFill>
            <a:srgbClr val="F4F7F9"/>
          </a:solidFill>
          <a:ln/>
        </p:spPr>
        <p:txBody>
          <a:bodyPr/>
          <a:lstStyle/>
          <a:p>
            <a:endParaRPr lang="en-US"/>
          </a:p>
        </p:txBody>
      </p:sp>
      <p:sp>
        <p:nvSpPr>
          <p:cNvPr id="9" name="Text 3">
            <a:extLst>
              <a:ext uri="{FF2B5EF4-FFF2-40B4-BE49-F238E27FC236}">
                <a16:creationId xmlns:a16="http://schemas.microsoft.com/office/drawing/2014/main" id="{06E7458F-9C9D-7BBB-6C86-AF293EA075A7}"/>
              </a:ext>
            </a:extLst>
          </p:cNvPr>
          <p:cNvSpPr/>
          <p:nvPr/>
        </p:nvSpPr>
        <p:spPr>
          <a:xfrm>
            <a:off x="822960" y="2011680"/>
            <a:ext cx="4572000" cy="274320"/>
          </a:xfrm>
          <a:prstGeom prst="rect">
            <a:avLst/>
          </a:prstGeom>
          <a:noFill/>
          <a:ln/>
        </p:spPr>
        <p:txBody>
          <a:bodyPr wrap="square"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CORE SETUP</a:t>
            </a:r>
            <a:endParaRPr lang="en-US" sz="1100" dirty="0"/>
          </a:p>
        </p:txBody>
      </p:sp>
      <p:sp>
        <p:nvSpPr>
          <p:cNvPr id="11" name="Text 4">
            <a:extLst>
              <a:ext uri="{FF2B5EF4-FFF2-40B4-BE49-F238E27FC236}">
                <a16:creationId xmlns:a16="http://schemas.microsoft.com/office/drawing/2014/main" id="{D6FEA8A2-A0B6-0BB3-1C53-0334C9BE96FC}"/>
              </a:ext>
            </a:extLst>
          </p:cNvPr>
          <p:cNvSpPr/>
          <p:nvPr/>
        </p:nvSpPr>
        <p:spPr>
          <a:xfrm>
            <a:off x="822960" y="2423160"/>
            <a:ext cx="2377440" cy="411480"/>
          </a:xfrm>
          <a:prstGeom prst="rect">
            <a:avLst/>
          </a:prstGeom>
          <a:noFill/>
          <a:ln/>
        </p:spPr>
        <p:txBody>
          <a:bodyPr wrap="square" rtlCol="0" anchor="ctr"/>
          <a:lstStyle/>
          <a:p>
            <a:pPr marL="0" indent="0">
              <a:buNone/>
            </a:pPr>
            <a:r>
              <a:rPr lang="en-US" sz="1300" dirty="0">
                <a:solidFill>
                  <a:srgbClr val="5B6B79"/>
                </a:solidFill>
                <a:latin typeface="Calibri" pitchFamily="34" charset="0"/>
                <a:ea typeface="Calibri" pitchFamily="34" charset="-122"/>
                <a:cs typeface="Calibri" pitchFamily="34" charset="-120"/>
              </a:rPr>
              <a:t>Optimizer</a:t>
            </a:r>
            <a:endParaRPr lang="en-US" sz="1300" dirty="0"/>
          </a:p>
        </p:txBody>
      </p:sp>
      <p:sp>
        <p:nvSpPr>
          <p:cNvPr id="13" name="Text 5">
            <a:extLst>
              <a:ext uri="{FF2B5EF4-FFF2-40B4-BE49-F238E27FC236}">
                <a16:creationId xmlns:a16="http://schemas.microsoft.com/office/drawing/2014/main" id="{319F9604-EF32-DF8D-CDE0-082D23F03545}"/>
              </a:ext>
            </a:extLst>
          </p:cNvPr>
          <p:cNvSpPr/>
          <p:nvPr/>
        </p:nvSpPr>
        <p:spPr>
          <a:xfrm>
            <a:off x="3200400" y="2423160"/>
            <a:ext cx="2377440" cy="41148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Adam</a:t>
            </a:r>
            <a:endParaRPr lang="en-US" sz="1400" dirty="0"/>
          </a:p>
        </p:txBody>
      </p:sp>
      <p:sp>
        <p:nvSpPr>
          <p:cNvPr id="15" name="Text 6">
            <a:extLst>
              <a:ext uri="{FF2B5EF4-FFF2-40B4-BE49-F238E27FC236}">
                <a16:creationId xmlns:a16="http://schemas.microsoft.com/office/drawing/2014/main" id="{7BF77788-DA83-E880-EDA4-F335CFE58BE4}"/>
              </a:ext>
            </a:extLst>
          </p:cNvPr>
          <p:cNvSpPr/>
          <p:nvPr/>
        </p:nvSpPr>
        <p:spPr>
          <a:xfrm>
            <a:off x="822960" y="2990088"/>
            <a:ext cx="2377440" cy="411480"/>
          </a:xfrm>
          <a:prstGeom prst="rect">
            <a:avLst/>
          </a:prstGeom>
          <a:noFill/>
          <a:ln/>
        </p:spPr>
        <p:txBody>
          <a:bodyPr wrap="square" rtlCol="0" anchor="ctr"/>
          <a:lstStyle/>
          <a:p>
            <a:pPr marL="0" indent="0">
              <a:buNone/>
            </a:pPr>
            <a:r>
              <a:rPr lang="en-US" sz="1300" dirty="0">
                <a:solidFill>
                  <a:srgbClr val="5B6B79"/>
                </a:solidFill>
                <a:latin typeface="Calibri" pitchFamily="34" charset="0"/>
                <a:ea typeface="Calibri" pitchFamily="34" charset="-122"/>
                <a:cs typeface="Calibri" pitchFamily="34" charset="-120"/>
              </a:rPr>
              <a:t>Loss Function</a:t>
            </a:r>
            <a:endParaRPr lang="en-US" sz="1300" dirty="0"/>
          </a:p>
        </p:txBody>
      </p:sp>
      <p:sp>
        <p:nvSpPr>
          <p:cNvPr id="17" name="Text 7">
            <a:extLst>
              <a:ext uri="{FF2B5EF4-FFF2-40B4-BE49-F238E27FC236}">
                <a16:creationId xmlns:a16="http://schemas.microsoft.com/office/drawing/2014/main" id="{86521FEA-65FB-E1CD-2BE0-9A403E86006C}"/>
              </a:ext>
            </a:extLst>
          </p:cNvPr>
          <p:cNvSpPr/>
          <p:nvPr/>
        </p:nvSpPr>
        <p:spPr>
          <a:xfrm>
            <a:off x="3200400" y="2990088"/>
            <a:ext cx="2377440" cy="41148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Categorical Crossentropy</a:t>
            </a:r>
            <a:endParaRPr lang="en-US" sz="1400" dirty="0"/>
          </a:p>
        </p:txBody>
      </p:sp>
      <p:sp>
        <p:nvSpPr>
          <p:cNvPr id="19" name="Text 8">
            <a:extLst>
              <a:ext uri="{FF2B5EF4-FFF2-40B4-BE49-F238E27FC236}">
                <a16:creationId xmlns:a16="http://schemas.microsoft.com/office/drawing/2014/main" id="{6E7CAF99-0565-F5FD-64B7-902F5C2FA482}"/>
              </a:ext>
            </a:extLst>
          </p:cNvPr>
          <p:cNvSpPr/>
          <p:nvPr/>
        </p:nvSpPr>
        <p:spPr>
          <a:xfrm>
            <a:off x="822960" y="3557016"/>
            <a:ext cx="2377440" cy="411480"/>
          </a:xfrm>
          <a:prstGeom prst="rect">
            <a:avLst/>
          </a:prstGeom>
          <a:noFill/>
          <a:ln/>
        </p:spPr>
        <p:txBody>
          <a:bodyPr wrap="square" rtlCol="0" anchor="ctr"/>
          <a:lstStyle/>
          <a:p>
            <a:pPr marL="0" indent="0">
              <a:buNone/>
            </a:pPr>
            <a:r>
              <a:rPr lang="en-US" sz="1300" dirty="0">
                <a:solidFill>
                  <a:srgbClr val="5B6B79"/>
                </a:solidFill>
                <a:latin typeface="Calibri" pitchFamily="34" charset="0"/>
                <a:ea typeface="Calibri" pitchFamily="34" charset="-122"/>
                <a:cs typeface="Calibri" pitchFamily="34" charset="-120"/>
              </a:rPr>
              <a:t>Input Size</a:t>
            </a:r>
            <a:endParaRPr lang="en-US" sz="1300" dirty="0"/>
          </a:p>
        </p:txBody>
      </p:sp>
      <p:sp>
        <p:nvSpPr>
          <p:cNvPr id="21" name="Text 9">
            <a:extLst>
              <a:ext uri="{FF2B5EF4-FFF2-40B4-BE49-F238E27FC236}">
                <a16:creationId xmlns:a16="http://schemas.microsoft.com/office/drawing/2014/main" id="{07E6AA0A-5797-E8D7-342C-8849CB96853C}"/>
              </a:ext>
            </a:extLst>
          </p:cNvPr>
          <p:cNvSpPr/>
          <p:nvPr/>
        </p:nvSpPr>
        <p:spPr>
          <a:xfrm>
            <a:off x="3200400" y="3557016"/>
            <a:ext cx="2377440" cy="41148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224 × 224 × 3</a:t>
            </a:r>
            <a:endParaRPr lang="en-US" sz="1400" dirty="0"/>
          </a:p>
        </p:txBody>
      </p:sp>
      <p:sp>
        <p:nvSpPr>
          <p:cNvPr id="23" name="Text 10">
            <a:extLst>
              <a:ext uri="{FF2B5EF4-FFF2-40B4-BE49-F238E27FC236}">
                <a16:creationId xmlns:a16="http://schemas.microsoft.com/office/drawing/2014/main" id="{A62DEEDD-6B56-56F1-4A2E-D144F18BC837}"/>
              </a:ext>
            </a:extLst>
          </p:cNvPr>
          <p:cNvSpPr/>
          <p:nvPr/>
        </p:nvSpPr>
        <p:spPr>
          <a:xfrm>
            <a:off x="822960" y="4123944"/>
            <a:ext cx="2377440" cy="411480"/>
          </a:xfrm>
          <a:prstGeom prst="rect">
            <a:avLst/>
          </a:prstGeom>
          <a:noFill/>
          <a:ln/>
        </p:spPr>
        <p:txBody>
          <a:bodyPr wrap="square" rtlCol="0" anchor="ctr"/>
          <a:lstStyle/>
          <a:p>
            <a:pPr marL="0" indent="0">
              <a:buNone/>
            </a:pPr>
            <a:r>
              <a:rPr lang="en-US" sz="1300" dirty="0">
                <a:solidFill>
                  <a:srgbClr val="5B6B79"/>
                </a:solidFill>
                <a:latin typeface="Calibri" pitchFamily="34" charset="0"/>
                <a:ea typeface="Calibri" pitchFamily="34" charset="-122"/>
                <a:cs typeface="Calibri" pitchFamily="34" charset="-120"/>
              </a:rPr>
              <a:t>Classes</a:t>
            </a:r>
            <a:endParaRPr lang="en-US" sz="1300" dirty="0"/>
          </a:p>
        </p:txBody>
      </p:sp>
      <p:sp>
        <p:nvSpPr>
          <p:cNvPr id="26" name="Text 11">
            <a:extLst>
              <a:ext uri="{FF2B5EF4-FFF2-40B4-BE49-F238E27FC236}">
                <a16:creationId xmlns:a16="http://schemas.microsoft.com/office/drawing/2014/main" id="{A460999E-6FE1-A00D-F293-8FB65ED58740}"/>
              </a:ext>
            </a:extLst>
          </p:cNvPr>
          <p:cNvSpPr/>
          <p:nvPr/>
        </p:nvSpPr>
        <p:spPr>
          <a:xfrm>
            <a:off x="3200400" y="4123944"/>
            <a:ext cx="2377440" cy="41148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6 (Softmax output)</a:t>
            </a:r>
            <a:endParaRPr lang="en-US" sz="1400" dirty="0"/>
          </a:p>
        </p:txBody>
      </p:sp>
      <p:sp>
        <p:nvSpPr>
          <p:cNvPr id="30" name="Shape 12">
            <a:extLst>
              <a:ext uri="{FF2B5EF4-FFF2-40B4-BE49-F238E27FC236}">
                <a16:creationId xmlns:a16="http://schemas.microsoft.com/office/drawing/2014/main" id="{6FA564D1-7AD0-7B1D-5972-12856DCF7179}"/>
              </a:ext>
            </a:extLst>
          </p:cNvPr>
          <p:cNvSpPr/>
          <p:nvPr/>
        </p:nvSpPr>
        <p:spPr>
          <a:xfrm>
            <a:off x="822960" y="4736592"/>
            <a:ext cx="4663440" cy="0"/>
          </a:xfrm>
          <a:prstGeom prst="line">
            <a:avLst/>
          </a:prstGeom>
          <a:noFill/>
          <a:ln w="12700">
            <a:solidFill>
              <a:srgbClr val="D7E0E6"/>
            </a:solidFill>
            <a:prstDash val="solid"/>
          </a:ln>
        </p:spPr>
        <p:txBody>
          <a:bodyPr/>
          <a:lstStyle/>
          <a:p>
            <a:endParaRPr lang="en-US"/>
          </a:p>
        </p:txBody>
      </p:sp>
      <p:sp>
        <p:nvSpPr>
          <p:cNvPr id="34" name="Text 13">
            <a:extLst>
              <a:ext uri="{FF2B5EF4-FFF2-40B4-BE49-F238E27FC236}">
                <a16:creationId xmlns:a16="http://schemas.microsoft.com/office/drawing/2014/main" id="{B9759F20-DFBF-91E5-08FB-7DD42FF347D7}"/>
              </a:ext>
            </a:extLst>
          </p:cNvPr>
          <p:cNvSpPr/>
          <p:nvPr/>
        </p:nvSpPr>
        <p:spPr>
          <a:xfrm>
            <a:off x="822960" y="4919472"/>
            <a:ext cx="4663440" cy="822960"/>
          </a:xfrm>
          <a:prstGeom prst="rect">
            <a:avLst/>
          </a:prstGeom>
          <a:noFill/>
          <a:ln/>
        </p:spPr>
        <p:txBody>
          <a:bodyPr wrap="square" rtlCol="0" anchor="ctr"/>
          <a:lstStyle/>
          <a:p>
            <a:pPr marL="0" indent="0">
              <a:lnSpc>
                <a:spcPct val="120000"/>
              </a:lnSpc>
              <a:buNone/>
            </a:pPr>
            <a:r>
              <a:rPr lang="en-US" sz="1200" i="1" dirty="0">
                <a:solidFill>
                  <a:srgbClr val="5B6B79"/>
                </a:solidFill>
                <a:latin typeface="Calibri" pitchFamily="34" charset="0"/>
                <a:ea typeface="Calibri" pitchFamily="34" charset="-122"/>
                <a:cs typeface="Calibri" pitchFamily="34" charset="-120"/>
              </a:rPr>
              <a:t>All four models were trained under identical optimizer, loss, and callback settings to keep the comparison controlled.</a:t>
            </a:r>
            <a:endParaRPr lang="en-US" sz="1200" dirty="0"/>
          </a:p>
        </p:txBody>
      </p:sp>
      <p:sp>
        <p:nvSpPr>
          <p:cNvPr id="38" name="Text 14">
            <a:extLst>
              <a:ext uri="{FF2B5EF4-FFF2-40B4-BE49-F238E27FC236}">
                <a16:creationId xmlns:a16="http://schemas.microsoft.com/office/drawing/2014/main" id="{59073624-7C95-00B0-BEF1-0D7877A0D980}"/>
              </a:ext>
            </a:extLst>
          </p:cNvPr>
          <p:cNvSpPr/>
          <p:nvPr/>
        </p:nvSpPr>
        <p:spPr>
          <a:xfrm>
            <a:off x="6035040" y="1783080"/>
            <a:ext cx="5486400" cy="274320"/>
          </a:xfrm>
          <a:prstGeom prst="rect">
            <a:avLst/>
          </a:prstGeom>
          <a:noFill/>
          <a:ln/>
        </p:spPr>
        <p:txBody>
          <a:bodyPr wrap="square" rtlCol="0" anchor="ctr"/>
          <a:lstStyle/>
          <a:p>
            <a:pPr marL="0" indent="0">
              <a:buNone/>
            </a:pPr>
            <a:r>
              <a:rPr lang="en-US" sz="1100" b="1" kern="0" spc="150" dirty="0">
                <a:solidFill>
                  <a:schemeClr val="bg1"/>
                </a:solidFill>
                <a:latin typeface="Calibri" pitchFamily="34" charset="0"/>
                <a:ea typeface="Calibri" pitchFamily="34" charset="-122"/>
                <a:cs typeface="Calibri" pitchFamily="34" charset="-120"/>
              </a:rPr>
              <a:t>CALLBACKS</a:t>
            </a:r>
            <a:endParaRPr lang="en-US" sz="1100" dirty="0">
              <a:solidFill>
                <a:schemeClr val="bg1"/>
              </a:solidFill>
            </a:endParaRPr>
          </a:p>
        </p:txBody>
      </p:sp>
      <p:sp>
        <p:nvSpPr>
          <p:cNvPr id="42" name="Shape 15">
            <a:extLst>
              <a:ext uri="{FF2B5EF4-FFF2-40B4-BE49-F238E27FC236}">
                <a16:creationId xmlns:a16="http://schemas.microsoft.com/office/drawing/2014/main" id="{CB7F0545-7129-256E-B3BB-EE4E4AF648F0}"/>
              </a:ext>
            </a:extLst>
          </p:cNvPr>
          <p:cNvSpPr/>
          <p:nvPr/>
        </p:nvSpPr>
        <p:spPr>
          <a:xfrm>
            <a:off x="6035040" y="2148840"/>
            <a:ext cx="502920" cy="502920"/>
          </a:xfrm>
          <a:prstGeom prst="ellipse">
            <a:avLst/>
          </a:prstGeom>
          <a:solidFill>
            <a:srgbClr val="FFFFFF"/>
          </a:solidFill>
          <a:ln/>
        </p:spPr>
        <p:txBody>
          <a:bodyPr/>
          <a:lstStyle/>
          <a:p>
            <a:endParaRPr lang="en-US"/>
          </a:p>
        </p:txBody>
      </p:sp>
      <p:pic>
        <p:nvPicPr>
          <p:cNvPr id="46" name="Image 0" descr="icons/check_065A82.png">
            <a:extLst>
              <a:ext uri="{FF2B5EF4-FFF2-40B4-BE49-F238E27FC236}">
                <a16:creationId xmlns:a16="http://schemas.microsoft.com/office/drawing/2014/main" id="{AA71DBE6-B0B4-C19E-D81C-6EADCEF110AA}"/>
              </a:ext>
            </a:extLst>
          </p:cNvPr>
          <p:cNvPicPr>
            <a:picLocks noChangeAspect="1"/>
          </p:cNvPicPr>
          <p:nvPr/>
        </p:nvPicPr>
        <p:blipFill>
          <a:blip r:embed="rId3"/>
          <a:stretch>
            <a:fillRect/>
          </a:stretch>
        </p:blipFill>
        <p:spPr>
          <a:xfrm>
            <a:off x="6155741" y="2269541"/>
            <a:ext cx="261518" cy="261518"/>
          </a:xfrm>
          <a:prstGeom prst="rect">
            <a:avLst/>
          </a:prstGeom>
        </p:spPr>
      </p:pic>
      <p:sp>
        <p:nvSpPr>
          <p:cNvPr id="50" name="Text 16">
            <a:extLst>
              <a:ext uri="{FF2B5EF4-FFF2-40B4-BE49-F238E27FC236}">
                <a16:creationId xmlns:a16="http://schemas.microsoft.com/office/drawing/2014/main" id="{9A4C8BEC-C3CC-3AFF-422E-544482F9B1FA}"/>
              </a:ext>
            </a:extLst>
          </p:cNvPr>
          <p:cNvSpPr/>
          <p:nvPr/>
        </p:nvSpPr>
        <p:spPr>
          <a:xfrm>
            <a:off x="6675120" y="2130552"/>
            <a:ext cx="4846320" cy="320040"/>
          </a:xfrm>
          <a:prstGeom prst="rect">
            <a:avLst/>
          </a:prstGeom>
          <a:noFill/>
          <a:ln/>
        </p:spPr>
        <p:txBody>
          <a:bodyPr wrap="square" rtlCol="0" anchor="ctr"/>
          <a:lstStyle/>
          <a:p>
            <a:pPr marL="0" indent="0">
              <a:buNone/>
            </a:pPr>
            <a:r>
              <a:rPr lang="en-US" sz="1450" b="1" dirty="0">
                <a:solidFill>
                  <a:schemeClr val="bg1"/>
                </a:solidFill>
                <a:latin typeface="Cambria" pitchFamily="34" charset="0"/>
                <a:ea typeface="Cambria" pitchFamily="34" charset="-122"/>
                <a:cs typeface="Cambria" pitchFamily="34" charset="-120"/>
              </a:rPr>
              <a:t>EarlyStopping</a:t>
            </a:r>
            <a:endParaRPr lang="en-US" sz="1450" dirty="0">
              <a:solidFill>
                <a:schemeClr val="bg1"/>
              </a:solidFill>
            </a:endParaRPr>
          </a:p>
        </p:txBody>
      </p:sp>
      <p:sp>
        <p:nvSpPr>
          <p:cNvPr id="54" name="Text 17">
            <a:extLst>
              <a:ext uri="{FF2B5EF4-FFF2-40B4-BE49-F238E27FC236}">
                <a16:creationId xmlns:a16="http://schemas.microsoft.com/office/drawing/2014/main" id="{87ED0767-7462-6955-501C-875DDD97EE04}"/>
              </a:ext>
            </a:extLst>
          </p:cNvPr>
          <p:cNvSpPr/>
          <p:nvPr/>
        </p:nvSpPr>
        <p:spPr>
          <a:xfrm>
            <a:off x="6675120" y="2441448"/>
            <a:ext cx="4846320" cy="685800"/>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Halts training once validation loss stops improving — prevents wasted epochs and overfitting.</a:t>
            </a:r>
            <a:endParaRPr lang="en-US" sz="1200" dirty="0"/>
          </a:p>
        </p:txBody>
      </p:sp>
      <p:sp>
        <p:nvSpPr>
          <p:cNvPr id="58" name="Shape 18">
            <a:extLst>
              <a:ext uri="{FF2B5EF4-FFF2-40B4-BE49-F238E27FC236}">
                <a16:creationId xmlns:a16="http://schemas.microsoft.com/office/drawing/2014/main" id="{961A7E4E-36B0-9807-D17E-78BB7D730E9F}"/>
              </a:ext>
            </a:extLst>
          </p:cNvPr>
          <p:cNvSpPr/>
          <p:nvPr/>
        </p:nvSpPr>
        <p:spPr>
          <a:xfrm>
            <a:off x="6035040" y="3154680"/>
            <a:ext cx="502920" cy="502920"/>
          </a:xfrm>
          <a:prstGeom prst="ellipse">
            <a:avLst/>
          </a:prstGeom>
          <a:solidFill>
            <a:srgbClr val="FFFFFF"/>
          </a:solidFill>
          <a:ln/>
        </p:spPr>
        <p:txBody>
          <a:bodyPr/>
          <a:lstStyle/>
          <a:p>
            <a:endParaRPr lang="en-US"/>
          </a:p>
        </p:txBody>
      </p:sp>
      <p:pic>
        <p:nvPicPr>
          <p:cNvPr id="60" name="Image 1" descr="icons/chart_065A82.png">
            <a:extLst>
              <a:ext uri="{FF2B5EF4-FFF2-40B4-BE49-F238E27FC236}">
                <a16:creationId xmlns:a16="http://schemas.microsoft.com/office/drawing/2014/main" id="{FCCEB909-BCA3-654E-41DE-A55B9E48C795}"/>
              </a:ext>
            </a:extLst>
          </p:cNvPr>
          <p:cNvPicPr>
            <a:picLocks noChangeAspect="1"/>
          </p:cNvPicPr>
          <p:nvPr/>
        </p:nvPicPr>
        <p:blipFill>
          <a:blip r:embed="rId4"/>
          <a:stretch>
            <a:fillRect/>
          </a:stretch>
        </p:blipFill>
        <p:spPr>
          <a:xfrm>
            <a:off x="6155741" y="3275381"/>
            <a:ext cx="261518" cy="261518"/>
          </a:xfrm>
          <a:prstGeom prst="rect">
            <a:avLst/>
          </a:prstGeom>
        </p:spPr>
      </p:pic>
      <p:sp>
        <p:nvSpPr>
          <p:cNvPr id="62" name="Text 19">
            <a:extLst>
              <a:ext uri="{FF2B5EF4-FFF2-40B4-BE49-F238E27FC236}">
                <a16:creationId xmlns:a16="http://schemas.microsoft.com/office/drawing/2014/main" id="{47743954-5165-8972-6536-79CF53172DB3}"/>
              </a:ext>
            </a:extLst>
          </p:cNvPr>
          <p:cNvSpPr/>
          <p:nvPr/>
        </p:nvSpPr>
        <p:spPr>
          <a:xfrm>
            <a:off x="6675120" y="3136392"/>
            <a:ext cx="4846320" cy="320040"/>
          </a:xfrm>
          <a:prstGeom prst="rect">
            <a:avLst/>
          </a:prstGeom>
          <a:noFill/>
          <a:ln/>
        </p:spPr>
        <p:txBody>
          <a:bodyPr wrap="square" rtlCol="0" anchor="ctr"/>
          <a:lstStyle/>
          <a:p>
            <a:pPr marL="0" indent="0">
              <a:buNone/>
            </a:pPr>
            <a:r>
              <a:rPr lang="en-US" sz="1450" b="1" dirty="0">
                <a:solidFill>
                  <a:schemeClr val="bg1"/>
                </a:solidFill>
                <a:latin typeface="Cambria" pitchFamily="34" charset="0"/>
                <a:ea typeface="Cambria" pitchFamily="34" charset="-122"/>
                <a:cs typeface="Cambria" pitchFamily="34" charset="-120"/>
              </a:rPr>
              <a:t>ReduceLROnPlateau</a:t>
            </a:r>
            <a:endParaRPr lang="en-US" sz="1450" dirty="0">
              <a:solidFill>
                <a:schemeClr val="bg1"/>
              </a:solidFill>
            </a:endParaRPr>
          </a:p>
        </p:txBody>
      </p:sp>
      <p:sp>
        <p:nvSpPr>
          <p:cNvPr id="64" name="Text 20">
            <a:extLst>
              <a:ext uri="{FF2B5EF4-FFF2-40B4-BE49-F238E27FC236}">
                <a16:creationId xmlns:a16="http://schemas.microsoft.com/office/drawing/2014/main" id="{E9685909-5064-0DAB-1E18-DD65D3A35E8B}"/>
              </a:ext>
            </a:extLst>
          </p:cNvPr>
          <p:cNvSpPr/>
          <p:nvPr/>
        </p:nvSpPr>
        <p:spPr>
          <a:xfrm>
            <a:off x="6675120" y="3447288"/>
            <a:ext cx="4846320" cy="685800"/>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Lowers the learning rate when validation metrics plateau, enabling finer convergence.</a:t>
            </a:r>
            <a:endParaRPr lang="en-US" sz="1200" dirty="0"/>
          </a:p>
        </p:txBody>
      </p:sp>
      <p:sp>
        <p:nvSpPr>
          <p:cNvPr id="66" name="Shape 21">
            <a:extLst>
              <a:ext uri="{FF2B5EF4-FFF2-40B4-BE49-F238E27FC236}">
                <a16:creationId xmlns:a16="http://schemas.microsoft.com/office/drawing/2014/main" id="{E4E28628-3E88-B898-178C-56B435F66539}"/>
              </a:ext>
            </a:extLst>
          </p:cNvPr>
          <p:cNvSpPr/>
          <p:nvPr/>
        </p:nvSpPr>
        <p:spPr>
          <a:xfrm>
            <a:off x="6035040" y="4160520"/>
            <a:ext cx="502920" cy="502920"/>
          </a:xfrm>
          <a:prstGeom prst="ellipse">
            <a:avLst/>
          </a:prstGeom>
          <a:solidFill>
            <a:srgbClr val="FFFFFF"/>
          </a:solidFill>
          <a:ln/>
        </p:spPr>
        <p:txBody>
          <a:bodyPr/>
          <a:lstStyle/>
          <a:p>
            <a:endParaRPr lang="en-US"/>
          </a:p>
        </p:txBody>
      </p:sp>
      <p:pic>
        <p:nvPicPr>
          <p:cNvPr id="68" name="Image 2" descr="icons/database_065A82.png">
            <a:extLst>
              <a:ext uri="{FF2B5EF4-FFF2-40B4-BE49-F238E27FC236}">
                <a16:creationId xmlns:a16="http://schemas.microsoft.com/office/drawing/2014/main" id="{F160145C-FF2B-9DCA-A602-AB6D95E9E9CA}"/>
              </a:ext>
            </a:extLst>
          </p:cNvPr>
          <p:cNvPicPr>
            <a:picLocks noChangeAspect="1"/>
          </p:cNvPicPr>
          <p:nvPr/>
        </p:nvPicPr>
        <p:blipFill>
          <a:blip r:embed="rId5"/>
          <a:stretch>
            <a:fillRect/>
          </a:stretch>
        </p:blipFill>
        <p:spPr>
          <a:xfrm>
            <a:off x="6155741" y="4281221"/>
            <a:ext cx="261518" cy="261518"/>
          </a:xfrm>
          <a:prstGeom prst="rect">
            <a:avLst/>
          </a:prstGeom>
        </p:spPr>
      </p:pic>
      <p:sp>
        <p:nvSpPr>
          <p:cNvPr id="70" name="Text 22">
            <a:extLst>
              <a:ext uri="{FF2B5EF4-FFF2-40B4-BE49-F238E27FC236}">
                <a16:creationId xmlns:a16="http://schemas.microsoft.com/office/drawing/2014/main" id="{3009BB58-A69D-B7BC-E7B1-0B6CE7EEEA37}"/>
              </a:ext>
            </a:extLst>
          </p:cNvPr>
          <p:cNvSpPr/>
          <p:nvPr/>
        </p:nvSpPr>
        <p:spPr>
          <a:xfrm>
            <a:off x="6675120" y="4142232"/>
            <a:ext cx="4846320" cy="320040"/>
          </a:xfrm>
          <a:prstGeom prst="rect">
            <a:avLst/>
          </a:prstGeom>
          <a:noFill/>
          <a:ln/>
        </p:spPr>
        <p:txBody>
          <a:bodyPr wrap="square" rtlCol="0" anchor="ctr"/>
          <a:lstStyle/>
          <a:p>
            <a:pPr marL="0" indent="0">
              <a:buNone/>
            </a:pPr>
            <a:r>
              <a:rPr lang="en-US" sz="1450" b="1" dirty="0">
                <a:solidFill>
                  <a:schemeClr val="bg1"/>
                </a:solidFill>
                <a:latin typeface="Cambria" pitchFamily="34" charset="0"/>
                <a:ea typeface="Cambria" pitchFamily="34" charset="-122"/>
                <a:cs typeface="Cambria" pitchFamily="34" charset="-120"/>
              </a:rPr>
              <a:t>ModelCheckpoint</a:t>
            </a:r>
            <a:endParaRPr lang="en-US" sz="1450" dirty="0">
              <a:solidFill>
                <a:schemeClr val="bg1"/>
              </a:solidFill>
            </a:endParaRPr>
          </a:p>
        </p:txBody>
      </p:sp>
      <p:sp>
        <p:nvSpPr>
          <p:cNvPr id="72" name="Text 23">
            <a:extLst>
              <a:ext uri="{FF2B5EF4-FFF2-40B4-BE49-F238E27FC236}">
                <a16:creationId xmlns:a16="http://schemas.microsoft.com/office/drawing/2014/main" id="{C9CEF196-5237-25F6-80AB-AB9ACC51D4C3}"/>
              </a:ext>
            </a:extLst>
          </p:cNvPr>
          <p:cNvSpPr/>
          <p:nvPr/>
        </p:nvSpPr>
        <p:spPr>
          <a:xfrm>
            <a:off x="6675120" y="4453128"/>
            <a:ext cx="4846320" cy="685800"/>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Saves only the best-performing weights on validation data, not just the final epoch.</a:t>
            </a:r>
            <a:endParaRPr lang="en-US" sz="1200" dirty="0"/>
          </a:p>
        </p:txBody>
      </p:sp>
      <p:sp>
        <p:nvSpPr>
          <p:cNvPr id="74" name="Text 24">
            <a:extLst>
              <a:ext uri="{FF2B5EF4-FFF2-40B4-BE49-F238E27FC236}">
                <a16:creationId xmlns:a16="http://schemas.microsoft.com/office/drawing/2014/main" id="{B6901481-26C1-6C70-4BC7-44FF1E4DD0D6}"/>
              </a:ext>
            </a:extLst>
          </p:cNvPr>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76" name="Text 25">
            <a:extLst>
              <a:ext uri="{FF2B5EF4-FFF2-40B4-BE49-F238E27FC236}">
                <a16:creationId xmlns:a16="http://schemas.microsoft.com/office/drawing/2014/main" id="{185FDC9A-D795-D3B2-177F-83344D7E758F}"/>
              </a:ext>
            </a:extLst>
          </p:cNvPr>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Tree>
    <p:extLst>
      <p:ext uri="{BB962C8B-B14F-4D97-AF65-F5344CB8AC3E}">
        <p14:creationId xmlns:p14="http://schemas.microsoft.com/office/powerpoint/2010/main" val="3854944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E6AF377D-B8BB-58A2-7882-6E4A53C1C77F}"/>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D58B7CDC-23B5-3BF4-1DBF-47A2624F8638}"/>
              </a:ext>
            </a:extLst>
          </p:cNvPr>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chemeClr val="bg1"/>
                </a:solidFill>
                <a:latin typeface="Calibri" pitchFamily="34" charset="0"/>
                <a:ea typeface="Calibri" pitchFamily="34" charset="-122"/>
                <a:cs typeface="Calibri" pitchFamily="34" charset="-120"/>
              </a:rPr>
              <a:t>METHODOLOGY</a:t>
            </a:r>
            <a:endParaRPr lang="en-US" sz="1300" dirty="0">
              <a:solidFill>
                <a:schemeClr val="bg1"/>
              </a:solidFill>
            </a:endParaRPr>
          </a:p>
        </p:txBody>
      </p:sp>
      <p:sp>
        <p:nvSpPr>
          <p:cNvPr id="8" name="Text 1">
            <a:extLst>
              <a:ext uri="{FF2B5EF4-FFF2-40B4-BE49-F238E27FC236}">
                <a16:creationId xmlns:a16="http://schemas.microsoft.com/office/drawing/2014/main" id="{11029217-39A0-82A8-43C8-4E237736EE1F}"/>
              </a:ext>
            </a:extLst>
          </p:cNvPr>
          <p:cNvSpPr/>
          <p:nvPr/>
        </p:nvSpPr>
        <p:spPr>
          <a:xfrm>
            <a:off x="548640" y="685800"/>
            <a:ext cx="10789920" cy="822960"/>
          </a:xfrm>
          <a:prstGeom prst="rect">
            <a:avLst/>
          </a:prstGeom>
          <a:noFill/>
          <a:ln/>
        </p:spPr>
        <p:txBody>
          <a:bodyPr wrap="square"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How We Measure Success</a:t>
            </a:r>
            <a:endParaRPr lang="en-US" sz="3200" dirty="0">
              <a:solidFill>
                <a:schemeClr val="bg1"/>
              </a:solidFill>
            </a:endParaRPr>
          </a:p>
        </p:txBody>
      </p:sp>
      <p:sp>
        <p:nvSpPr>
          <p:cNvPr id="12" name="Shape 2">
            <a:extLst>
              <a:ext uri="{FF2B5EF4-FFF2-40B4-BE49-F238E27FC236}">
                <a16:creationId xmlns:a16="http://schemas.microsoft.com/office/drawing/2014/main" id="{886BA467-592E-24C9-9344-CC49EB9ED29B}"/>
              </a:ext>
            </a:extLst>
          </p:cNvPr>
          <p:cNvSpPr/>
          <p:nvPr/>
        </p:nvSpPr>
        <p:spPr>
          <a:xfrm>
            <a:off x="548640" y="1783080"/>
            <a:ext cx="2606040" cy="2286000"/>
          </a:xfrm>
          <a:prstGeom prst="roundRect">
            <a:avLst>
              <a:gd name="adj" fmla="val 3600"/>
            </a:avLst>
          </a:prstGeom>
          <a:solidFill>
            <a:srgbClr val="F4F7F9"/>
          </a:solidFill>
          <a:ln/>
        </p:spPr>
        <p:txBody>
          <a:bodyPr/>
          <a:lstStyle/>
          <a:p>
            <a:endParaRPr lang="en-US"/>
          </a:p>
        </p:txBody>
      </p:sp>
      <p:sp>
        <p:nvSpPr>
          <p:cNvPr id="16" name="Shape 3">
            <a:extLst>
              <a:ext uri="{FF2B5EF4-FFF2-40B4-BE49-F238E27FC236}">
                <a16:creationId xmlns:a16="http://schemas.microsoft.com/office/drawing/2014/main" id="{4B1197ED-4CDF-172A-78C1-77CE50E37EE3}"/>
              </a:ext>
            </a:extLst>
          </p:cNvPr>
          <p:cNvSpPr/>
          <p:nvPr/>
        </p:nvSpPr>
        <p:spPr>
          <a:xfrm>
            <a:off x="1577340" y="2011680"/>
            <a:ext cx="548640" cy="548640"/>
          </a:xfrm>
          <a:prstGeom prst="ellipse">
            <a:avLst/>
          </a:prstGeom>
          <a:solidFill>
            <a:srgbClr val="FFFFFF"/>
          </a:solidFill>
          <a:ln/>
        </p:spPr>
        <p:txBody>
          <a:bodyPr/>
          <a:lstStyle/>
          <a:p>
            <a:endParaRPr lang="en-US"/>
          </a:p>
        </p:txBody>
      </p:sp>
      <p:pic>
        <p:nvPicPr>
          <p:cNvPr id="20" name="Image 0" descr="icons/target_065A82.png">
            <a:extLst>
              <a:ext uri="{FF2B5EF4-FFF2-40B4-BE49-F238E27FC236}">
                <a16:creationId xmlns:a16="http://schemas.microsoft.com/office/drawing/2014/main" id="{AAEFBD5F-202A-4B53-1776-20F3337AAB55}"/>
              </a:ext>
            </a:extLst>
          </p:cNvPr>
          <p:cNvPicPr>
            <a:picLocks noChangeAspect="1"/>
          </p:cNvPicPr>
          <p:nvPr/>
        </p:nvPicPr>
        <p:blipFill>
          <a:blip r:embed="rId3"/>
          <a:stretch>
            <a:fillRect/>
          </a:stretch>
        </p:blipFill>
        <p:spPr>
          <a:xfrm>
            <a:off x="1709014" y="2143354"/>
            <a:ext cx="285293" cy="285293"/>
          </a:xfrm>
          <a:prstGeom prst="rect">
            <a:avLst/>
          </a:prstGeom>
        </p:spPr>
      </p:pic>
      <p:sp>
        <p:nvSpPr>
          <p:cNvPr id="24" name="Text 4">
            <a:extLst>
              <a:ext uri="{FF2B5EF4-FFF2-40B4-BE49-F238E27FC236}">
                <a16:creationId xmlns:a16="http://schemas.microsoft.com/office/drawing/2014/main" id="{AD36B863-C838-C310-E6A2-05EFF3BE482D}"/>
              </a:ext>
            </a:extLst>
          </p:cNvPr>
          <p:cNvSpPr/>
          <p:nvPr/>
        </p:nvSpPr>
        <p:spPr>
          <a:xfrm>
            <a:off x="685800" y="2697480"/>
            <a:ext cx="2331720" cy="320040"/>
          </a:xfrm>
          <a:prstGeom prst="rect">
            <a:avLst/>
          </a:prstGeom>
          <a:noFill/>
          <a:ln/>
        </p:spPr>
        <p:txBody>
          <a:bodyPr wrap="square" rtlCol="0" anchor="ctr"/>
          <a:lstStyle/>
          <a:p>
            <a:pPr marL="0" indent="0" algn="ctr">
              <a:buNone/>
            </a:pPr>
            <a:r>
              <a:rPr lang="en-US" sz="1500" b="1" dirty="0">
                <a:solidFill>
                  <a:srgbClr val="21295C"/>
                </a:solidFill>
                <a:latin typeface="Cambria" pitchFamily="34" charset="0"/>
                <a:ea typeface="Cambria" pitchFamily="34" charset="-122"/>
                <a:cs typeface="Cambria" pitchFamily="34" charset="-120"/>
              </a:rPr>
              <a:t>Accuracy</a:t>
            </a:r>
            <a:endParaRPr lang="en-US" sz="1500" dirty="0"/>
          </a:p>
        </p:txBody>
      </p:sp>
      <p:sp>
        <p:nvSpPr>
          <p:cNvPr id="27" name="Text 5">
            <a:extLst>
              <a:ext uri="{FF2B5EF4-FFF2-40B4-BE49-F238E27FC236}">
                <a16:creationId xmlns:a16="http://schemas.microsoft.com/office/drawing/2014/main" id="{04C9ECD7-2947-D01F-FBAE-E1870D2B3E50}"/>
              </a:ext>
            </a:extLst>
          </p:cNvPr>
          <p:cNvSpPr/>
          <p:nvPr/>
        </p:nvSpPr>
        <p:spPr>
          <a:xfrm>
            <a:off x="731520" y="3063240"/>
            <a:ext cx="2240280" cy="914400"/>
          </a:xfrm>
          <a:prstGeom prst="rect">
            <a:avLst/>
          </a:prstGeom>
          <a:noFill/>
          <a:ln/>
        </p:spPr>
        <p:txBody>
          <a:bodyPr wrap="square" rtlCol="0" anchor="ctr"/>
          <a:lstStyle/>
          <a:p>
            <a:pPr marL="0" indent="0" algn="ctr">
              <a:lnSpc>
                <a:spcPct val="115000"/>
              </a:lnSpc>
              <a:buNone/>
            </a:pPr>
            <a:r>
              <a:rPr lang="en-US" sz="1080" dirty="0">
                <a:solidFill>
                  <a:srgbClr val="5B6B79"/>
                </a:solidFill>
                <a:latin typeface="Calibri" pitchFamily="34" charset="0"/>
                <a:ea typeface="Calibri" pitchFamily="34" charset="-122"/>
                <a:cs typeface="Calibri" pitchFamily="34" charset="-120"/>
              </a:rPr>
              <a:t>Overall % of correct predictions — useful but can hide per-class weaknesses</a:t>
            </a:r>
            <a:endParaRPr lang="en-US" sz="1080" dirty="0"/>
          </a:p>
        </p:txBody>
      </p:sp>
      <p:sp>
        <p:nvSpPr>
          <p:cNvPr id="29" name="Shape 6">
            <a:extLst>
              <a:ext uri="{FF2B5EF4-FFF2-40B4-BE49-F238E27FC236}">
                <a16:creationId xmlns:a16="http://schemas.microsoft.com/office/drawing/2014/main" id="{99269322-1131-F2E7-33E3-47449EE8E1C7}"/>
              </a:ext>
            </a:extLst>
          </p:cNvPr>
          <p:cNvSpPr/>
          <p:nvPr/>
        </p:nvSpPr>
        <p:spPr>
          <a:xfrm>
            <a:off x="3355848" y="1783080"/>
            <a:ext cx="2606040" cy="2286000"/>
          </a:xfrm>
          <a:prstGeom prst="roundRect">
            <a:avLst>
              <a:gd name="adj" fmla="val 3600"/>
            </a:avLst>
          </a:prstGeom>
          <a:solidFill>
            <a:srgbClr val="F4F7F9"/>
          </a:solidFill>
          <a:ln/>
        </p:spPr>
        <p:txBody>
          <a:bodyPr/>
          <a:lstStyle/>
          <a:p>
            <a:endParaRPr lang="en-US"/>
          </a:p>
        </p:txBody>
      </p:sp>
      <p:sp>
        <p:nvSpPr>
          <p:cNvPr id="32" name="Shape 7">
            <a:extLst>
              <a:ext uri="{FF2B5EF4-FFF2-40B4-BE49-F238E27FC236}">
                <a16:creationId xmlns:a16="http://schemas.microsoft.com/office/drawing/2014/main" id="{99EE9729-B140-5AC3-67E4-0897D5B658F7}"/>
              </a:ext>
            </a:extLst>
          </p:cNvPr>
          <p:cNvSpPr/>
          <p:nvPr/>
        </p:nvSpPr>
        <p:spPr>
          <a:xfrm>
            <a:off x="4384548" y="2011680"/>
            <a:ext cx="548640" cy="548640"/>
          </a:xfrm>
          <a:prstGeom prst="ellipse">
            <a:avLst/>
          </a:prstGeom>
          <a:solidFill>
            <a:srgbClr val="FFFFFF"/>
          </a:solidFill>
          <a:ln/>
        </p:spPr>
        <p:txBody>
          <a:bodyPr/>
          <a:lstStyle/>
          <a:p>
            <a:endParaRPr lang="en-US"/>
          </a:p>
        </p:txBody>
      </p:sp>
      <p:pic>
        <p:nvPicPr>
          <p:cNvPr id="35" name="Image 1" descr="icons/balance_065A82.png">
            <a:extLst>
              <a:ext uri="{FF2B5EF4-FFF2-40B4-BE49-F238E27FC236}">
                <a16:creationId xmlns:a16="http://schemas.microsoft.com/office/drawing/2014/main" id="{A4AE344D-AE05-CD9C-2DFC-8E1D102B78DD}"/>
              </a:ext>
            </a:extLst>
          </p:cNvPr>
          <p:cNvPicPr>
            <a:picLocks noChangeAspect="1"/>
          </p:cNvPicPr>
          <p:nvPr/>
        </p:nvPicPr>
        <p:blipFill>
          <a:blip r:embed="rId4"/>
          <a:stretch>
            <a:fillRect/>
          </a:stretch>
        </p:blipFill>
        <p:spPr>
          <a:xfrm>
            <a:off x="4516222" y="2143354"/>
            <a:ext cx="285293" cy="285293"/>
          </a:xfrm>
          <a:prstGeom prst="rect">
            <a:avLst/>
          </a:prstGeom>
        </p:spPr>
      </p:pic>
      <p:sp>
        <p:nvSpPr>
          <p:cNvPr id="37" name="Text 8">
            <a:extLst>
              <a:ext uri="{FF2B5EF4-FFF2-40B4-BE49-F238E27FC236}">
                <a16:creationId xmlns:a16="http://schemas.microsoft.com/office/drawing/2014/main" id="{2327EAE8-59D5-77CD-DF32-BF1F22482F92}"/>
              </a:ext>
            </a:extLst>
          </p:cNvPr>
          <p:cNvSpPr/>
          <p:nvPr/>
        </p:nvSpPr>
        <p:spPr>
          <a:xfrm>
            <a:off x="3493008" y="2697480"/>
            <a:ext cx="2331720" cy="320040"/>
          </a:xfrm>
          <a:prstGeom prst="rect">
            <a:avLst/>
          </a:prstGeom>
          <a:noFill/>
          <a:ln/>
        </p:spPr>
        <p:txBody>
          <a:bodyPr wrap="square" rtlCol="0" anchor="ctr"/>
          <a:lstStyle/>
          <a:p>
            <a:pPr marL="0" indent="0" algn="ctr">
              <a:buNone/>
            </a:pPr>
            <a:r>
              <a:rPr lang="en-US" sz="1500" b="1" dirty="0">
                <a:solidFill>
                  <a:srgbClr val="21295C"/>
                </a:solidFill>
                <a:latin typeface="Cambria" pitchFamily="34" charset="0"/>
                <a:ea typeface="Cambria" pitchFamily="34" charset="-122"/>
                <a:cs typeface="Cambria" pitchFamily="34" charset="-120"/>
              </a:rPr>
              <a:t>Precision</a:t>
            </a:r>
            <a:endParaRPr lang="en-US" sz="1500" dirty="0"/>
          </a:p>
        </p:txBody>
      </p:sp>
      <p:sp>
        <p:nvSpPr>
          <p:cNvPr id="40" name="Text 9">
            <a:extLst>
              <a:ext uri="{FF2B5EF4-FFF2-40B4-BE49-F238E27FC236}">
                <a16:creationId xmlns:a16="http://schemas.microsoft.com/office/drawing/2014/main" id="{1A317453-50AE-081C-1CEC-E317D9726788}"/>
              </a:ext>
            </a:extLst>
          </p:cNvPr>
          <p:cNvSpPr/>
          <p:nvPr/>
        </p:nvSpPr>
        <p:spPr>
          <a:xfrm>
            <a:off x="3538728" y="3063240"/>
            <a:ext cx="2240280" cy="914400"/>
          </a:xfrm>
          <a:prstGeom prst="rect">
            <a:avLst/>
          </a:prstGeom>
          <a:noFill/>
          <a:ln/>
        </p:spPr>
        <p:txBody>
          <a:bodyPr wrap="square" rtlCol="0" anchor="ctr"/>
          <a:lstStyle/>
          <a:p>
            <a:pPr marL="0" indent="0" algn="ctr">
              <a:lnSpc>
                <a:spcPct val="115000"/>
              </a:lnSpc>
              <a:buNone/>
            </a:pPr>
            <a:r>
              <a:rPr lang="en-US" sz="1080" dirty="0">
                <a:solidFill>
                  <a:srgbClr val="5B6B79"/>
                </a:solidFill>
                <a:latin typeface="Calibri" pitchFamily="34" charset="0"/>
                <a:ea typeface="Calibri" pitchFamily="34" charset="-122"/>
                <a:cs typeface="Calibri" pitchFamily="34" charset="-120"/>
              </a:rPr>
              <a:t>Of predicted-positive cases for a class, how many were actually correct</a:t>
            </a:r>
            <a:endParaRPr lang="en-US" sz="1080" dirty="0"/>
          </a:p>
        </p:txBody>
      </p:sp>
      <p:sp>
        <p:nvSpPr>
          <p:cNvPr id="43" name="Shape 10">
            <a:extLst>
              <a:ext uri="{FF2B5EF4-FFF2-40B4-BE49-F238E27FC236}">
                <a16:creationId xmlns:a16="http://schemas.microsoft.com/office/drawing/2014/main" id="{3FC93C40-4A0A-1C38-F4D7-B71695DDFDED}"/>
              </a:ext>
            </a:extLst>
          </p:cNvPr>
          <p:cNvSpPr/>
          <p:nvPr/>
        </p:nvSpPr>
        <p:spPr>
          <a:xfrm>
            <a:off x="6163056" y="1783080"/>
            <a:ext cx="2606040" cy="2286000"/>
          </a:xfrm>
          <a:prstGeom prst="roundRect">
            <a:avLst>
              <a:gd name="adj" fmla="val 3600"/>
            </a:avLst>
          </a:prstGeom>
          <a:solidFill>
            <a:srgbClr val="F4F7F9"/>
          </a:solidFill>
          <a:ln/>
        </p:spPr>
        <p:txBody>
          <a:bodyPr/>
          <a:lstStyle/>
          <a:p>
            <a:endParaRPr lang="en-US"/>
          </a:p>
        </p:txBody>
      </p:sp>
      <p:sp>
        <p:nvSpPr>
          <p:cNvPr id="45" name="Shape 11">
            <a:extLst>
              <a:ext uri="{FF2B5EF4-FFF2-40B4-BE49-F238E27FC236}">
                <a16:creationId xmlns:a16="http://schemas.microsoft.com/office/drawing/2014/main" id="{A62B03A3-5A37-7153-AEB2-1B9E9FD49DC8}"/>
              </a:ext>
            </a:extLst>
          </p:cNvPr>
          <p:cNvSpPr/>
          <p:nvPr/>
        </p:nvSpPr>
        <p:spPr>
          <a:xfrm>
            <a:off x="7191756" y="2011680"/>
            <a:ext cx="548640" cy="548640"/>
          </a:xfrm>
          <a:prstGeom prst="ellipse">
            <a:avLst/>
          </a:prstGeom>
          <a:solidFill>
            <a:srgbClr val="FFFFFF"/>
          </a:solidFill>
          <a:ln/>
        </p:spPr>
        <p:txBody>
          <a:bodyPr/>
          <a:lstStyle/>
          <a:p>
            <a:endParaRPr lang="en-US"/>
          </a:p>
        </p:txBody>
      </p:sp>
      <p:pic>
        <p:nvPicPr>
          <p:cNvPr id="48" name="Image 2" descr="icons/search_065A82.png">
            <a:extLst>
              <a:ext uri="{FF2B5EF4-FFF2-40B4-BE49-F238E27FC236}">
                <a16:creationId xmlns:a16="http://schemas.microsoft.com/office/drawing/2014/main" id="{BD6AF150-79FA-4A6B-B3F0-5598440DD1E6}"/>
              </a:ext>
            </a:extLst>
          </p:cNvPr>
          <p:cNvPicPr>
            <a:picLocks noChangeAspect="1"/>
          </p:cNvPicPr>
          <p:nvPr/>
        </p:nvPicPr>
        <p:blipFill>
          <a:blip r:embed="rId5"/>
          <a:stretch>
            <a:fillRect/>
          </a:stretch>
        </p:blipFill>
        <p:spPr>
          <a:xfrm>
            <a:off x="7323430" y="2143354"/>
            <a:ext cx="285293" cy="285293"/>
          </a:xfrm>
          <a:prstGeom prst="rect">
            <a:avLst/>
          </a:prstGeom>
        </p:spPr>
      </p:pic>
      <p:sp>
        <p:nvSpPr>
          <p:cNvPr id="51" name="Text 12">
            <a:extLst>
              <a:ext uri="{FF2B5EF4-FFF2-40B4-BE49-F238E27FC236}">
                <a16:creationId xmlns:a16="http://schemas.microsoft.com/office/drawing/2014/main" id="{209E2B9B-1664-B15F-8592-AAB8A8C309F0}"/>
              </a:ext>
            </a:extLst>
          </p:cNvPr>
          <p:cNvSpPr/>
          <p:nvPr/>
        </p:nvSpPr>
        <p:spPr>
          <a:xfrm>
            <a:off x="6300216" y="2697480"/>
            <a:ext cx="2331720" cy="320040"/>
          </a:xfrm>
          <a:prstGeom prst="rect">
            <a:avLst/>
          </a:prstGeom>
          <a:noFill/>
          <a:ln/>
        </p:spPr>
        <p:txBody>
          <a:bodyPr wrap="square" rtlCol="0" anchor="ctr"/>
          <a:lstStyle/>
          <a:p>
            <a:pPr marL="0" indent="0" algn="ctr">
              <a:buNone/>
            </a:pPr>
            <a:r>
              <a:rPr lang="en-US" sz="1500" b="1" dirty="0">
                <a:solidFill>
                  <a:srgbClr val="21295C"/>
                </a:solidFill>
                <a:latin typeface="Cambria" pitchFamily="34" charset="0"/>
                <a:ea typeface="Cambria" pitchFamily="34" charset="-122"/>
                <a:cs typeface="Cambria" pitchFamily="34" charset="-120"/>
              </a:rPr>
              <a:t>Recall</a:t>
            </a:r>
            <a:endParaRPr lang="en-US" sz="1500" dirty="0"/>
          </a:p>
        </p:txBody>
      </p:sp>
      <p:sp>
        <p:nvSpPr>
          <p:cNvPr id="53" name="Text 13">
            <a:extLst>
              <a:ext uri="{FF2B5EF4-FFF2-40B4-BE49-F238E27FC236}">
                <a16:creationId xmlns:a16="http://schemas.microsoft.com/office/drawing/2014/main" id="{7CD399AE-866A-D67F-9BFE-E54FEDFA259A}"/>
              </a:ext>
            </a:extLst>
          </p:cNvPr>
          <p:cNvSpPr/>
          <p:nvPr/>
        </p:nvSpPr>
        <p:spPr>
          <a:xfrm>
            <a:off x="6345936" y="3063240"/>
            <a:ext cx="2240280" cy="914400"/>
          </a:xfrm>
          <a:prstGeom prst="rect">
            <a:avLst/>
          </a:prstGeom>
          <a:noFill/>
          <a:ln/>
        </p:spPr>
        <p:txBody>
          <a:bodyPr wrap="square" rtlCol="0" anchor="ctr"/>
          <a:lstStyle/>
          <a:p>
            <a:pPr marL="0" indent="0" algn="ctr">
              <a:lnSpc>
                <a:spcPct val="115000"/>
              </a:lnSpc>
              <a:buNone/>
            </a:pPr>
            <a:r>
              <a:rPr lang="en-US" sz="1080" dirty="0">
                <a:solidFill>
                  <a:srgbClr val="5B6B79"/>
                </a:solidFill>
                <a:latin typeface="Calibri" pitchFamily="34" charset="0"/>
                <a:ea typeface="Calibri" pitchFamily="34" charset="-122"/>
                <a:cs typeface="Calibri" pitchFamily="34" charset="-120"/>
              </a:rPr>
              <a:t>Of all real cases of a class, how many were correctly caught</a:t>
            </a:r>
            <a:endParaRPr lang="en-US" sz="1080" dirty="0"/>
          </a:p>
        </p:txBody>
      </p:sp>
      <p:sp>
        <p:nvSpPr>
          <p:cNvPr id="56" name="Shape 14">
            <a:extLst>
              <a:ext uri="{FF2B5EF4-FFF2-40B4-BE49-F238E27FC236}">
                <a16:creationId xmlns:a16="http://schemas.microsoft.com/office/drawing/2014/main" id="{FC50535B-4A4A-EAE6-C5C5-8304A5305ED3}"/>
              </a:ext>
            </a:extLst>
          </p:cNvPr>
          <p:cNvSpPr/>
          <p:nvPr/>
        </p:nvSpPr>
        <p:spPr>
          <a:xfrm>
            <a:off x="8970264" y="1783080"/>
            <a:ext cx="2606040" cy="2286000"/>
          </a:xfrm>
          <a:prstGeom prst="roundRect">
            <a:avLst>
              <a:gd name="adj" fmla="val 3600"/>
            </a:avLst>
          </a:prstGeom>
          <a:solidFill>
            <a:srgbClr val="F4F7F9"/>
          </a:solidFill>
          <a:ln/>
        </p:spPr>
        <p:txBody>
          <a:bodyPr/>
          <a:lstStyle/>
          <a:p>
            <a:endParaRPr lang="en-US"/>
          </a:p>
        </p:txBody>
      </p:sp>
      <p:sp>
        <p:nvSpPr>
          <p:cNvPr id="59" name="Shape 15">
            <a:extLst>
              <a:ext uri="{FF2B5EF4-FFF2-40B4-BE49-F238E27FC236}">
                <a16:creationId xmlns:a16="http://schemas.microsoft.com/office/drawing/2014/main" id="{967B5EDC-408E-BA10-757C-BED312EADAD5}"/>
              </a:ext>
            </a:extLst>
          </p:cNvPr>
          <p:cNvSpPr/>
          <p:nvPr/>
        </p:nvSpPr>
        <p:spPr>
          <a:xfrm>
            <a:off x="9998964" y="2011680"/>
            <a:ext cx="548640" cy="548640"/>
          </a:xfrm>
          <a:prstGeom prst="ellipse">
            <a:avLst/>
          </a:prstGeom>
          <a:solidFill>
            <a:srgbClr val="FFFFFF"/>
          </a:solidFill>
          <a:ln/>
        </p:spPr>
        <p:txBody>
          <a:bodyPr/>
          <a:lstStyle/>
          <a:p>
            <a:endParaRPr lang="en-US"/>
          </a:p>
        </p:txBody>
      </p:sp>
      <p:pic>
        <p:nvPicPr>
          <p:cNvPr id="63" name="Image 3" descr="icons/medal_065A82.png">
            <a:extLst>
              <a:ext uri="{FF2B5EF4-FFF2-40B4-BE49-F238E27FC236}">
                <a16:creationId xmlns:a16="http://schemas.microsoft.com/office/drawing/2014/main" id="{9CCFD688-57C2-F58C-19A1-B081F59855F6}"/>
              </a:ext>
            </a:extLst>
          </p:cNvPr>
          <p:cNvPicPr>
            <a:picLocks noChangeAspect="1"/>
          </p:cNvPicPr>
          <p:nvPr/>
        </p:nvPicPr>
        <p:blipFill>
          <a:blip r:embed="rId6"/>
          <a:stretch>
            <a:fillRect/>
          </a:stretch>
        </p:blipFill>
        <p:spPr>
          <a:xfrm>
            <a:off x="10130638" y="2143354"/>
            <a:ext cx="285293" cy="285293"/>
          </a:xfrm>
          <a:prstGeom prst="rect">
            <a:avLst/>
          </a:prstGeom>
        </p:spPr>
      </p:pic>
      <p:sp>
        <p:nvSpPr>
          <p:cNvPr id="67" name="Text 16">
            <a:extLst>
              <a:ext uri="{FF2B5EF4-FFF2-40B4-BE49-F238E27FC236}">
                <a16:creationId xmlns:a16="http://schemas.microsoft.com/office/drawing/2014/main" id="{D02A24B3-E8AB-F6E2-4F7F-1877B5087CFF}"/>
              </a:ext>
            </a:extLst>
          </p:cNvPr>
          <p:cNvSpPr/>
          <p:nvPr/>
        </p:nvSpPr>
        <p:spPr>
          <a:xfrm>
            <a:off x="9107424" y="2697480"/>
            <a:ext cx="2331720" cy="320040"/>
          </a:xfrm>
          <a:prstGeom prst="rect">
            <a:avLst/>
          </a:prstGeom>
          <a:noFill/>
          <a:ln/>
        </p:spPr>
        <p:txBody>
          <a:bodyPr wrap="square" rtlCol="0" anchor="ctr"/>
          <a:lstStyle/>
          <a:p>
            <a:pPr marL="0" indent="0" algn="ctr">
              <a:buNone/>
            </a:pPr>
            <a:r>
              <a:rPr lang="en-US" sz="1500" b="1" dirty="0">
                <a:solidFill>
                  <a:srgbClr val="21295C"/>
                </a:solidFill>
                <a:latin typeface="Cambria" pitchFamily="34" charset="0"/>
                <a:ea typeface="Cambria" pitchFamily="34" charset="-122"/>
                <a:cs typeface="Cambria" pitchFamily="34" charset="-120"/>
              </a:rPr>
              <a:t>F1-Score</a:t>
            </a:r>
            <a:endParaRPr lang="en-US" sz="1500" dirty="0"/>
          </a:p>
        </p:txBody>
      </p:sp>
      <p:sp>
        <p:nvSpPr>
          <p:cNvPr id="71" name="Text 17">
            <a:extLst>
              <a:ext uri="{FF2B5EF4-FFF2-40B4-BE49-F238E27FC236}">
                <a16:creationId xmlns:a16="http://schemas.microsoft.com/office/drawing/2014/main" id="{5D072252-D480-6379-EBD9-C755DEEA1696}"/>
              </a:ext>
            </a:extLst>
          </p:cNvPr>
          <p:cNvSpPr/>
          <p:nvPr/>
        </p:nvSpPr>
        <p:spPr>
          <a:xfrm>
            <a:off x="9153144" y="3063240"/>
            <a:ext cx="2240280" cy="914400"/>
          </a:xfrm>
          <a:prstGeom prst="rect">
            <a:avLst/>
          </a:prstGeom>
          <a:noFill/>
          <a:ln/>
        </p:spPr>
        <p:txBody>
          <a:bodyPr wrap="square" rtlCol="0" anchor="ctr"/>
          <a:lstStyle/>
          <a:p>
            <a:pPr marL="0" indent="0" algn="ctr">
              <a:lnSpc>
                <a:spcPct val="115000"/>
              </a:lnSpc>
              <a:buNone/>
            </a:pPr>
            <a:r>
              <a:rPr lang="en-US" sz="1080" dirty="0">
                <a:solidFill>
                  <a:srgbClr val="5B6B79"/>
                </a:solidFill>
                <a:latin typeface="Calibri" pitchFamily="34" charset="0"/>
                <a:ea typeface="Calibri" pitchFamily="34" charset="-122"/>
                <a:cs typeface="Calibri" pitchFamily="34" charset="-120"/>
              </a:rPr>
              <a:t>Harmonic mean of precision &amp; recall — a single balanced quality score</a:t>
            </a:r>
            <a:endParaRPr lang="en-US" sz="1080" dirty="0"/>
          </a:p>
        </p:txBody>
      </p:sp>
      <p:sp>
        <p:nvSpPr>
          <p:cNvPr id="75" name="Shape 18">
            <a:extLst>
              <a:ext uri="{FF2B5EF4-FFF2-40B4-BE49-F238E27FC236}">
                <a16:creationId xmlns:a16="http://schemas.microsoft.com/office/drawing/2014/main" id="{E559E3D2-A28F-37A9-A8EC-1673E43E6727}"/>
              </a:ext>
            </a:extLst>
          </p:cNvPr>
          <p:cNvSpPr/>
          <p:nvPr/>
        </p:nvSpPr>
        <p:spPr>
          <a:xfrm>
            <a:off x="548640" y="4343400"/>
            <a:ext cx="11064240" cy="1417320"/>
          </a:xfrm>
          <a:prstGeom prst="roundRect">
            <a:avLst>
              <a:gd name="adj" fmla="val 5806"/>
            </a:avLst>
          </a:prstGeom>
          <a:solidFill>
            <a:srgbClr val="F4F7F9"/>
          </a:solidFill>
          <a:ln/>
        </p:spPr>
        <p:txBody>
          <a:bodyPr/>
          <a:lstStyle/>
          <a:p>
            <a:endParaRPr lang="en-US"/>
          </a:p>
        </p:txBody>
      </p:sp>
      <p:sp>
        <p:nvSpPr>
          <p:cNvPr id="78" name="Shape 19">
            <a:extLst>
              <a:ext uri="{FF2B5EF4-FFF2-40B4-BE49-F238E27FC236}">
                <a16:creationId xmlns:a16="http://schemas.microsoft.com/office/drawing/2014/main" id="{D9456ABE-A66F-4C0D-02A6-21ABE2EDAB6E}"/>
              </a:ext>
            </a:extLst>
          </p:cNvPr>
          <p:cNvSpPr/>
          <p:nvPr/>
        </p:nvSpPr>
        <p:spPr>
          <a:xfrm>
            <a:off x="822960" y="4617720"/>
            <a:ext cx="777240" cy="777240"/>
          </a:xfrm>
          <a:prstGeom prst="ellipse">
            <a:avLst/>
          </a:prstGeom>
          <a:solidFill>
            <a:srgbClr val="F4F7F9"/>
          </a:solidFill>
          <a:ln/>
        </p:spPr>
        <p:txBody>
          <a:bodyPr/>
          <a:lstStyle/>
          <a:p>
            <a:endParaRPr lang="en-US"/>
          </a:p>
        </p:txBody>
      </p:sp>
      <p:pic>
        <p:nvPicPr>
          <p:cNvPr id="80" name="Image 4" descr="icons/clipboard_6FD3C7.png">
            <a:extLst>
              <a:ext uri="{FF2B5EF4-FFF2-40B4-BE49-F238E27FC236}">
                <a16:creationId xmlns:a16="http://schemas.microsoft.com/office/drawing/2014/main" id="{54EFF7EB-D923-DFE2-3D52-07996483AE1C}"/>
              </a:ext>
            </a:extLst>
          </p:cNvPr>
          <p:cNvPicPr>
            <a:picLocks noChangeAspect="1"/>
          </p:cNvPicPr>
          <p:nvPr/>
        </p:nvPicPr>
        <p:blipFill>
          <a:blip r:embed="rId7"/>
          <a:stretch>
            <a:fillRect/>
          </a:stretch>
        </p:blipFill>
        <p:spPr>
          <a:xfrm>
            <a:off x="1036320" y="4781397"/>
            <a:ext cx="404165" cy="404165"/>
          </a:xfrm>
          <a:prstGeom prst="rect">
            <a:avLst/>
          </a:prstGeom>
        </p:spPr>
      </p:pic>
      <p:sp>
        <p:nvSpPr>
          <p:cNvPr id="82" name="Text 20">
            <a:extLst>
              <a:ext uri="{FF2B5EF4-FFF2-40B4-BE49-F238E27FC236}">
                <a16:creationId xmlns:a16="http://schemas.microsoft.com/office/drawing/2014/main" id="{F60F9C2D-83CB-53B3-49B4-F43649C30541}"/>
              </a:ext>
            </a:extLst>
          </p:cNvPr>
          <p:cNvSpPr/>
          <p:nvPr/>
        </p:nvSpPr>
        <p:spPr>
          <a:xfrm>
            <a:off x="1828800" y="4526280"/>
            <a:ext cx="9326880" cy="365760"/>
          </a:xfrm>
          <a:prstGeom prst="rect">
            <a:avLst/>
          </a:prstGeom>
          <a:noFill/>
          <a:ln/>
        </p:spPr>
        <p:txBody>
          <a:bodyPr wrap="square" rtlCol="0" anchor="ctr"/>
          <a:lstStyle/>
          <a:p>
            <a:pPr marL="0" indent="0">
              <a:buNone/>
            </a:pPr>
            <a:r>
              <a:rPr lang="en-US" sz="1500" b="1" dirty="0">
                <a:solidFill>
                  <a:srgbClr val="21295C"/>
                </a:solidFill>
                <a:latin typeface="Cambria" pitchFamily="34" charset="0"/>
                <a:ea typeface="Cambria" pitchFamily="34" charset="-122"/>
              </a:rPr>
              <a:t>Confusion Matrix + Classification Report</a:t>
            </a:r>
          </a:p>
        </p:txBody>
      </p:sp>
      <p:sp>
        <p:nvSpPr>
          <p:cNvPr id="84" name="Text 21">
            <a:extLst>
              <a:ext uri="{FF2B5EF4-FFF2-40B4-BE49-F238E27FC236}">
                <a16:creationId xmlns:a16="http://schemas.microsoft.com/office/drawing/2014/main" id="{6D9D45B8-D9FE-C1BA-70DC-5F20BDAEA01A}"/>
              </a:ext>
            </a:extLst>
          </p:cNvPr>
          <p:cNvSpPr/>
          <p:nvPr/>
        </p:nvSpPr>
        <p:spPr>
          <a:xfrm>
            <a:off x="1828800" y="4892040"/>
            <a:ext cx="9326880" cy="777240"/>
          </a:xfrm>
          <a:prstGeom prst="rect">
            <a:avLst/>
          </a:prstGeom>
          <a:noFill/>
          <a:ln/>
        </p:spPr>
        <p:txBody>
          <a:bodyPr wrap="square" rtlCol="0" anchor="ctr"/>
          <a:lstStyle/>
          <a:p>
            <a:pPr algn="ctr">
              <a:lnSpc>
                <a:spcPct val="115000"/>
              </a:lnSpc>
            </a:pPr>
            <a:r>
              <a:rPr lang="en-US" sz="1400" dirty="0">
                <a:solidFill>
                  <a:srgbClr val="5B6B79"/>
                </a:solidFill>
                <a:latin typeface="Calibri" pitchFamily="34" charset="0"/>
                <a:ea typeface="Calibri" pitchFamily="34" charset="-122"/>
                <a:cs typeface="Calibri" pitchFamily="34" charset="-120"/>
              </a:rPr>
              <a:t>A full per-class breakdown was generated for every model — used throughout the Results section to see exactly which oral diseases are confused with one another, beyond a single accuracy number.</a:t>
            </a:r>
          </a:p>
        </p:txBody>
      </p:sp>
      <p:sp>
        <p:nvSpPr>
          <p:cNvPr id="86" name="Text 22">
            <a:extLst>
              <a:ext uri="{FF2B5EF4-FFF2-40B4-BE49-F238E27FC236}">
                <a16:creationId xmlns:a16="http://schemas.microsoft.com/office/drawing/2014/main" id="{A5A49112-4FB7-44A2-CF69-E564C1620FDE}"/>
              </a:ext>
            </a:extLst>
          </p:cNvPr>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88" name="Text 23">
            <a:extLst>
              <a:ext uri="{FF2B5EF4-FFF2-40B4-BE49-F238E27FC236}">
                <a16:creationId xmlns:a16="http://schemas.microsoft.com/office/drawing/2014/main" id="{8C7982FD-BDBF-D3E5-1769-D8C43E19BEDA}"/>
              </a:ext>
            </a:extLst>
          </p:cNvPr>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12</a:t>
            </a:r>
            <a:endParaRPr lang="en-US" sz="900" dirty="0"/>
          </a:p>
        </p:txBody>
      </p:sp>
    </p:spTree>
    <p:extLst>
      <p:ext uri="{BB962C8B-B14F-4D97-AF65-F5344CB8AC3E}">
        <p14:creationId xmlns:p14="http://schemas.microsoft.com/office/powerpoint/2010/main" val="236882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Accuracy Across All Four Models</a:t>
            </a:r>
            <a:endParaRPr lang="en-US" sz="3200" dirty="0"/>
          </a:p>
        </p:txBody>
      </p:sp>
      <p:graphicFrame>
        <p:nvGraphicFramePr>
          <p:cNvPr id="4" name="Chart 0"/>
          <p:cNvGraphicFramePr/>
          <p:nvPr/>
        </p:nvGraphicFramePr>
        <p:xfrm>
          <a:off x="457200" y="1691640"/>
          <a:ext cx="1124712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6" name="Text 3"/>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RESULTS — DEEP DIVE</a:t>
            </a:r>
            <a:endParaRPr lang="en-US" sz="13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EfficientNetB0 — Best Overall Model</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492240" cy="3520440"/>
        </p:xfrm>
        <a:graphic>
          <a:graphicData uri="http://schemas.openxmlformats.org/drawingml/2006/table">
            <a:tbl>
              <a:tblPr/>
              <a:tblGrid>
                <a:gridCol w="2834640">
                  <a:extLst>
                    <a:ext uri="{9D8B030D-6E8A-4147-A177-3AD203B41FA5}">
                      <a16:colId xmlns:a16="http://schemas.microsoft.com/office/drawing/2014/main" val="20000"/>
                    </a:ext>
                  </a:extLst>
                </a:gridCol>
                <a:gridCol w="1216152">
                  <a:extLst>
                    <a:ext uri="{9D8B030D-6E8A-4147-A177-3AD203B41FA5}">
                      <a16:colId xmlns:a16="http://schemas.microsoft.com/office/drawing/2014/main" val="20001"/>
                    </a:ext>
                  </a:extLst>
                </a:gridCol>
                <a:gridCol w="1216152">
                  <a:extLst>
                    <a:ext uri="{9D8B030D-6E8A-4147-A177-3AD203B41FA5}">
                      <a16:colId xmlns:a16="http://schemas.microsoft.com/office/drawing/2014/main" val="20002"/>
                    </a:ext>
                  </a:extLst>
                </a:gridCol>
                <a:gridCol w="1225296">
                  <a:extLst>
                    <a:ext uri="{9D8B030D-6E8A-4147-A177-3AD203B41FA5}">
                      <a16:colId xmlns:a16="http://schemas.microsoft.com/office/drawing/2014/main" val="20003"/>
                    </a:ext>
                  </a:extLst>
                </a:gridCol>
              </a:tblGrid>
              <a:tr h="5029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Calculus</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0.69</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522D"/>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0.65</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Caries</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tc>
                  <a:txBody>
                    <a:bodyPr/>
                    <a:lstStyle/>
                    <a:p>
                      <a:pPr marL="0" indent="0" algn="ctr">
                        <a:buNone/>
                      </a:pPr>
                      <a:r>
                        <a:rPr lang="en-US" sz="1200" b="1" dirty="0">
                          <a:solidFill>
                            <a:srgbClr val="C0522D"/>
                          </a:solidFill>
                          <a:latin typeface="Calibri" pitchFamily="34" charset="0"/>
                          <a:ea typeface="Calibri" pitchFamily="34" charset="-122"/>
                          <a:cs typeface="Calibri" pitchFamily="34" charset="-120"/>
                        </a:rPr>
                        <a:t>0.61</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0.73</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extLst>
                  <a:ext uri="{0D108BD9-81ED-4DB2-BD59-A6C34878D82A}">
                    <a16:rowId xmlns:a16="http://schemas.microsoft.com/office/drawing/2014/main" val="10002"/>
                  </a:ext>
                </a:extLst>
              </a:tr>
              <a:tr h="50292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Gingivitis</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0.78</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0.88</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0.82</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Hypodontia</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0.97</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extLst>
                  <a:ext uri="{0D108BD9-81ED-4DB2-BD59-A6C34878D82A}">
                    <a16:rowId xmlns:a16="http://schemas.microsoft.com/office/drawing/2014/main" val="10004"/>
                  </a:ext>
                </a:extLst>
              </a:tr>
              <a:tr h="50292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Mouth Ulcer</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0.97</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0.92</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Tooth Discoloration</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0.93</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tc>
                  <a:txBody>
                    <a:bodyPr/>
                    <a:lstStyle/>
                    <a:p>
                      <a:pPr marL="0" indent="0" algn="ctr">
                        <a:buNone/>
                      </a:pPr>
                      <a:r>
                        <a:rPr lang="en-US" sz="1200" b="1" dirty="0">
                          <a:solidFill>
                            <a:srgbClr val="C0522D"/>
                          </a:solidFill>
                          <a:latin typeface="Calibri" pitchFamily="34" charset="0"/>
                          <a:ea typeface="Calibri" pitchFamily="34" charset="-122"/>
                          <a:cs typeface="Calibri" pitchFamily="34" charset="-120"/>
                        </a:rPr>
                        <a:t>0.52</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tc>
                  <a:txBody>
                    <a:bodyPr/>
                    <a:lstStyle/>
                    <a:p>
                      <a:pPr marL="0" indent="0" algn="ctr">
                        <a:buNone/>
                      </a:pPr>
                      <a:r>
                        <a:rPr lang="en-US" sz="1200" dirty="0">
                          <a:solidFill>
                            <a:srgbClr val="1B2430"/>
                          </a:solidFill>
                          <a:latin typeface="Calibri" pitchFamily="34" charset="0"/>
                          <a:ea typeface="Calibri" pitchFamily="34" charset="-122"/>
                          <a:cs typeface="Calibri" pitchFamily="34" charset="-120"/>
                        </a:rPr>
                        <a:t>0.67</a:t>
                      </a:r>
                      <a:endParaRPr lang="en-US" sz="1200" dirty="0">
                        <a:latin typeface="Calibri" charset="0"/>
                        <a:ea typeface="Calibri" charset="0"/>
                        <a:cs typeface="Calibri" charset="0"/>
                      </a:endParaRPr>
                    </a:p>
                  </a:txBody>
                  <a:tcPr anchor="ctr">
                    <a:lnL w="9525" cap="flat" cmpd="sng" algn="ctr">
                      <a:solidFill>
                        <a:srgbClr val="E3E9EC"/>
                      </a:solidFill>
                      <a:prstDash val="solid"/>
                      <a:round/>
                      <a:headEnd type="none" w="med" len="med"/>
                      <a:tailEnd type="none" w="med" len="med"/>
                    </a:lnL>
                    <a:lnR w="9525" cap="flat" cmpd="sng" algn="ctr">
                      <a:solidFill>
                        <a:srgbClr val="E3E9EC"/>
                      </a:solidFill>
                      <a:prstDash val="solid"/>
                      <a:round/>
                      <a:headEnd type="none" w="med" len="med"/>
                      <a:tailEnd type="none" w="med" len="med"/>
                    </a:lnR>
                    <a:lnT w="9525" cap="flat" cmpd="sng" algn="ctr">
                      <a:solidFill>
                        <a:srgbClr val="E3E9EC"/>
                      </a:solidFill>
                      <a:prstDash val="solid"/>
                      <a:round/>
                      <a:headEnd type="none" w="med" len="med"/>
                      <a:tailEnd type="none" w="med" len="med"/>
                    </a:lnT>
                    <a:lnB w="9525" cap="flat" cmpd="sng" algn="ctr">
                      <a:solidFill>
                        <a:srgbClr val="E3E9EC"/>
                      </a:solidFill>
                      <a:prstDash val="solid"/>
                      <a:round/>
                      <a:headEnd type="none" w="med" len="med"/>
                      <a:tailEnd type="none" w="med" len="med"/>
                    </a:lnB>
                    <a:solidFill>
                      <a:srgbClr val="F4F7F9"/>
                    </a:solidFill>
                  </a:tcPr>
                </a:tc>
                <a:extLst>
                  <a:ext uri="{0D108BD9-81ED-4DB2-BD59-A6C34878D82A}">
                    <a16:rowId xmlns:a16="http://schemas.microsoft.com/office/drawing/2014/main" val="10006"/>
                  </a:ext>
                </a:extLst>
              </a:tr>
            </a:tbl>
          </a:graphicData>
        </a:graphic>
      </p:graphicFrame>
      <p:sp>
        <p:nvSpPr>
          <p:cNvPr id="5" name="Shape 2"/>
          <p:cNvSpPr/>
          <p:nvPr/>
        </p:nvSpPr>
        <p:spPr>
          <a:xfrm>
            <a:off x="7269480" y="1783080"/>
            <a:ext cx="4343400" cy="3520440"/>
          </a:xfrm>
          <a:prstGeom prst="roundRect">
            <a:avLst>
              <a:gd name="adj" fmla="val 2338"/>
            </a:avLst>
          </a:prstGeom>
          <a:solidFill>
            <a:srgbClr val="F4F7F9"/>
          </a:solidFill>
          <a:ln/>
        </p:spPr>
        <p:txBody>
          <a:bodyPr/>
          <a:lstStyle/>
          <a:p>
            <a:endParaRPr lang="en-US"/>
          </a:p>
        </p:txBody>
      </p:sp>
      <p:sp>
        <p:nvSpPr>
          <p:cNvPr id="6" name="Text 3"/>
          <p:cNvSpPr/>
          <p:nvPr/>
        </p:nvSpPr>
        <p:spPr>
          <a:xfrm>
            <a:off x="7543800" y="1993392"/>
            <a:ext cx="3794760" cy="274320"/>
          </a:xfrm>
          <a:prstGeom prst="rect">
            <a:avLst/>
          </a:prstGeom>
          <a:noFill/>
          <a:ln/>
        </p:spPr>
        <p:txBody>
          <a:bodyPr wrap="square" rtlCol="0" anchor="ctr"/>
          <a:lstStyle/>
          <a:p>
            <a:pPr marL="0" indent="0">
              <a:buNone/>
            </a:pPr>
            <a:r>
              <a:rPr lang="en-US" sz="1100" b="1" kern="0" spc="130" dirty="0">
                <a:solidFill>
                  <a:srgbClr val="1C7293"/>
                </a:solidFill>
                <a:latin typeface="Calibri" pitchFamily="34" charset="0"/>
                <a:ea typeface="Calibri" pitchFamily="34" charset="-122"/>
                <a:cs typeface="Calibri" pitchFamily="34" charset="-120"/>
              </a:rPr>
              <a:t>READING THE TABLE</a:t>
            </a:r>
            <a:endParaRPr lang="en-US" sz="1100" dirty="0"/>
          </a:p>
        </p:txBody>
      </p:sp>
      <p:sp>
        <p:nvSpPr>
          <p:cNvPr id="7" name="Text 4"/>
          <p:cNvSpPr/>
          <p:nvPr/>
        </p:nvSpPr>
        <p:spPr>
          <a:xfrm>
            <a:off x="7543800" y="2331720"/>
            <a:ext cx="3794760" cy="777240"/>
          </a:xfrm>
          <a:prstGeom prst="rect">
            <a:avLst/>
          </a:prstGeom>
          <a:noFill/>
          <a:ln/>
        </p:spPr>
        <p:txBody>
          <a:bodyPr wrap="square" rtlCol="0" anchor="ctr"/>
          <a:lstStyle/>
          <a:p>
            <a:pPr marL="0" indent="0">
              <a:lnSpc>
                <a:spcPct val="120000"/>
              </a:lnSpc>
              <a:buNone/>
            </a:pPr>
            <a:r>
              <a:rPr lang="en-US" sz="1200" dirty="0">
                <a:solidFill>
                  <a:srgbClr val="1B2430"/>
                </a:solidFill>
                <a:latin typeface="Calibri" pitchFamily="34" charset="0"/>
                <a:ea typeface="Calibri" pitchFamily="34" charset="-122"/>
                <a:cs typeface="Calibri" pitchFamily="34" charset="-120"/>
              </a:rPr>
              <a:t>Hypodontia and Mouth Ulcer are near-perfect (F1 ≥ 0.95) — visually distinctive conditions the model rarely misses.</a:t>
            </a:r>
            <a:endParaRPr lang="en-US" sz="1200" dirty="0"/>
          </a:p>
        </p:txBody>
      </p:sp>
      <p:sp>
        <p:nvSpPr>
          <p:cNvPr id="8" name="Text 5"/>
          <p:cNvSpPr/>
          <p:nvPr/>
        </p:nvSpPr>
        <p:spPr>
          <a:xfrm>
            <a:off x="7543800" y="3200400"/>
            <a:ext cx="3794760" cy="1280160"/>
          </a:xfrm>
          <a:prstGeom prst="rect">
            <a:avLst/>
          </a:prstGeom>
          <a:noFill/>
          <a:ln/>
        </p:spPr>
        <p:txBody>
          <a:bodyPr wrap="square" rtlCol="0" anchor="ctr"/>
          <a:lstStyle/>
          <a:p>
            <a:pPr marL="0" indent="0">
              <a:lnSpc>
                <a:spcPct val="120000"/>
              </a:lnSpc>
              <a:buNone/>
            </a:pPr>
            <a:r>
              <a:rPr lang="en-US" sz="1200" dirty="0">
                <a:solidFill>
                  <a:srgbClr val="1B2430"/>
                </a:solidFill>
                <a:latin typeface="Calibri" pitchFamily="34" charset="0"/>
                <a:ea typeface="Calibri" pitchFamily="34" charset="-122"/>
                <a:cs typeface="Calibri" pitchFamily="34" charset="-120"/>
              </a:rPr>
              <a:t>Calculus and Tooth Discoloration have the weakest recall (0.62 / 0.52) — the model misses real cases of these classes more often, likely due to subtler, overlapping visual patterns and fewer training samples.</a:t>
            </a:r>
            <a:endParaRPr lang="en-US" sz="1200" dirty="0"/>
          </a:p>
        </p:txBody>
      </p:sp>
      <p:sp>
        <p:nvSpPr>
          <p:cNvPr id="9" name="Text 6"/>
          <p:cNvSpPr/>
          <p:nvPr/>
        </p:nvSpPr>
        <p:spPr>
          <a:xfrm>
            <a:off x="7543800" y="4526280"/>
            <a:ext cx="3794760" cy="777240"/>
          </a:xfrm>
          <a:prstGeom prst="rect">
            <a:avLst/>
          </a:prstGeom>
          <a:noFill/>
          <a:ln/>
        </p:spPr>
        <p:txBody>
          <a:bodyPr wrap="square" rtlCol="0" anchor="ctr"/>
          <a:lstStyle/>
          <a:p>
            <a:pPr marL="0" indent="0">
              <a:lnSpc>
                <a:spcPct val="120000"/>
              </a:lnSpc>
              <a:buNone/>
            </a:pPr>
            <a:r>
              <a:rPr lang="en-US" sz="1150" i="1" dirty="0">
                <a:solidFill>
                  <a:srgbClr val="5B6B79"/>
                </a:solidFill>
                <a:latin typeface="Calibri" pitchFamily="34" charset="0"/>
                <a:ea typeface="Calibri" pitchFamily="34" charset="-122"/>
                <a:cs typeface="Calibri" pitchFamily="34" charset="-120"/>
              </a:rPr>
              <a:t>High precision + low recall on these classes means: when the model does call it, it's usually right — but it under-calls it, missing several true cases.</a:t>
            </a:r>
            <a:endParaRPr lang="en-US" sz="1150" dirty="0"/>
          </a:p>
        </p:txBody>
      </p:sp>
      <p:sp>
        <p:nvSpPr>
          <p:cNvPr id="10" name="Text 7"/>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11" name="Text 8"/>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RESULTS — COMPARISON</a:t>
            </a:r>
            <a:endParaRPr lang="en-US" sz="13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Per-Class F1-Score: All Transfer Learning Models</a:t>
            </a:r>
            <a:endParaRPr lang="en-US" sz="3200" dirty="0"/>
          </a:p>
        </p:txBody>
      </p:sp>
      <p:graphicFrame>
        <p:nvGraphicFramePr>
          <p:cNvPr id="4" name="Chart 0"/>
          <p:cNvGraphicFramePr/>
          <p:nvPr/>
        </p:nvGraphicFramePr>
        <p:xfrm>
          <a:off x="457200" y="1691640"/>
          <a:ext cx="1124712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6" name="Text 3"/>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RESULTS — ERROR ANALYSIS</a:t>
            </a:r>
            <a:endParaRPr lang="en-US" sz="13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Where the Models Get Confused</a:t>
            </a:r>
            <a:endParaRPr lang="en-US" sz="3200" dirty="0"/>
          </a:p>
        </p:txBody>
      </p:sp>
      <p:sp>
        <p:nvSpPr>
          <p:cNvPr id="4" name="Text 2"/>
          <p:cNvSpPr/>
          <p:nvPr/>
        </p:nvSpPr>
        <p:spPr>
          <a:xfrm>
            <a:off x="4178808" y="1371600"/>
            <a:ext cx="1828800" cy="274320"/>
          </a:xfrm>
          <a:prstGeom prst="rect">
            <a:avLst/>
          </a:prstGeom>
          <a:noFill/>
          <a:ln/>
        </p:spPr>
        <p:txBody>
          <a:bodyPr wrap="square" rtlCol="0" anchor="ctr"/>
          <a:lstStyle/>
          <a:p>
            <a:pPr marL="0" indent="0">
              <a:buNone/>
            </a:pPr>
            <a:r>
              <a:rPr lang="en-US" sz="1000" i="1" dirty="0">
                <a:solidFill>
                  <a:srgbClr val="5B6B79"/>
                </a:solidFill>
                <a:latin typeface="Calibri" pitchFamily="34" charset="0"/>
                <a:ea typeface="Calibri" pitchFamily="34" charset="-122"/>
                <a:cs typeface="Calibri" pitchFamily="34" charset="-120"/>
              </a:rPr>
              <a:t>Predicted →</a:t>
            </a:r>
            <a:endParaRPr lang="en-US" sz="1000" dirty="0"/>
          </a:p>
        </p:txBody>
      </p:sp>
      <p:sp>
        <p:nvSpPr>
          <p:cNvPr id="5" name="Text 3"/>
          <p:cNvSpPr/>
          <p:nvPr/>
        </p:nvSpPr>
        <p:spPr>
          <a:xfrm>
            <a:off x="45720" y="1371600"/>
            <a:ext cx="1280160" cy="274320"/>
          </a:xfrm>
          <a:prstGeom prst="rect">
            <a:avLst/>
          </a:prstGeom>
          <a:noFill/>
          <a:ln/>
        </p:spPr>
        <p:txBody>
          <a:bodyPr wrap="square" rtlCol="0" anchor="ctr"/>
          <a:lstStyle/>
          <a:p>
            <a:pPr marL="0" indent="0">
              <a:buNone/>
            </a:pPr>
            <a:r>
              <a:rPr lang="en-US" sz="1000" i="1" dirty="0">
                <a:solidFill>
                  <a:srgbClr val="5B6B79"/>
                </a:solidFill>
                <a:latin typeface="Calibri" pitchFamily="34" charset="0"/>
                <a:ea typeface="Calibri" pitchFamily="34" charset="-122"/>
                <a:cs typeface="Calibri" pitchFamily="34" charset="-120"/>
              </a:rPr>
              <a:t>Actual ↓</a:t>
            </a:r>
            <a:endParaRPr lang="en-US" sz="1000" dirty="0"/>
          </a:p>
        </p:txBody>
      </p:sp>
      <p:sp>
        <p:nvSpPr>
          <p:cNvPr id="6" name="Text 4"/>
          <p:cNvSpPr/>
          <p:nvPr/>
        </p:nvSpPr>
        <p:spPr>
          <a:xfrm>
            <a:off x="640080" y="1444752"/>
            <a:ext cx="566928" cy="365760"/>
          </a:xfrm>
          <a:prstGeom prst="rect">
            <a:avLst/>
          </a:prstGeom>
          <a:noFill/>
          <a:ln/>
        </p:spPr>
        <p:txBody>
          <a:bodyPr wrap="square" rtlCol="0" anchor="ctr"/>
          <a:lstStyle/>
          <a:p>
            <a:pPr marL="0" indent="0" algn="ctr">
              <a:buNone/>
            </a:pPr>
            <a:r>
              <a:rPr lang="en-US" sz="850" dirty="0">
                <a:solidFill>
                  <a:srgbClr val="5B6B79"/>
                </a:solidFill>
                <a:latin typeface="Calibri" pitchFamily="34" charset="0"/>
                <a:ea typeface="Calibri" pitchFamily="34" charset="-122"/>
                <a:cs typeface="Calibri" pitchFamily="34" charset="-120"/>
              </a:rPr>
              <a:t>Calc</a:t>
            </a:r>
            <a:endParaRPr lang="en-US" sz="850" dirty="0"/>
          </a:p>
        </p:txBody>
      </p:sp>
      <p:sp>
        <p:nvSpPr>
          <p:cNvPr id="7" name="Text 5"/>
          <p:cNvSpPr/>
          <p:nvPr/>
        </p:nvSpPr>
        <p:spPr>
          <a:xfrm>
            <a:off x="1207008" y="1444752"/>
            <a:ext cx="566928" cy="365760"/>
          </a:xfrm>
          <a:prstGeom prst="rect">
            <a:avLst/>
          </a:prstGeom>
          <a:noFill/>
          <a:ln/>
        </p:spPr>
        <p:txBody>
          <a:bodyPr wrap="square" rtlCol="0" anchor="ctr"/>
          <a:lstStyle/>
          <a:p>
            <a:pPr marL="0" indent="0" algn="ctr">
              <a:buNone/>
            </a:pPr>
            <a:r>
              <a:rPr lang="en-US" sz="850" dirty="0">
                <a:solidFill>
                  <a:srgbClr val="5B6B79"/>
                </a:solidFill>
                <a:latin typeface="Calibri" pitchFamily="34" charset="0"/>
                <a:ea typeface="Calibri" pitchFamily="34" charset="-122"/>
                <a:cs typeface="Calibri" pitchFamily="34" charset="-120"/>
              </a:rPr>
              <a:t>Caries</a:t>
            </a:r>
            <a:endParaRPr lang="en-US" sz="850" dirty="0"/>
          </a:p>
        </p:txBody>
      </p:sp>
      <p:sp>
        <p:nvSpPr>
          <p:cNvPr id="8" name="Text 6"/>
          <p:cNvSpPr/>
          <p:nvPr/>
        </p:nvSpPr>
        <p:spPr>
          <a:xfrm>
            <a:off x="1773936" y="1444752"/>
            <a:ext cx="566928" cy="365760"/>
          </a:xfrm>
          <a:prstGeom prst="rect">
            <a:avLst/>
          </a:prstGeom>
          <a:noFill/>
          <a:ln/>
        </p:spPr>
        <p:txBody>
          <a:bodyPr wrap="square" rtlCol="0" anchor="ctr"/>
          <a:lstStyle/>
          <a:p>
            <a:pPr marL="0" indent="0" algn="ctr">
              <a:buNone/>
            </a:pPr>
            <a:r>
              <a:rPr lang="en-US" sz="850" dirty="0">
                <a:solidFill>
                  <a:srgbClr val="5B6B79"/>
                </a:solidFill>
                <a:latin typeface="Calibri" pitchFamily="34" charset="0"/>
                <a:ea typeface="Calibri" pitchFamily="34" charset="-122"/>
                <a:cs typeface="Calibri" pitchFamily="34" charset="-120"/>
              </a:rPr>
              <a:t>Ging.</a:t>
            </a:r>
            <a:endParaRPr lang="en-US" sz="850" dirty="0"/>
          </a:p>
        </p:txBody>
      </p:sp>
      <p:sp>
        <p:nvSpPr>
          <p:cNvPr id="9" name="Text 7"/>
          <p:cNvSpPr/>
          <p:nvPr/>
        </p:nvSpPr>
        <p:spPr>
          <a:xfrm>
            <a:off x="2340864" y="1444752"/>
            <a:ext cx="566928" cy="365760"/>
          </a:xfrm>
          <a:prstGeom prst="rect">
            <a:avLst/>
          </a:prstGeom>
          <a:noFill/>
          <a:ln/>
        </p:spPr>
        <p:txBody>
          <a:bodyPr wrap="square" rtlCol="0" anchor="ctr"/>
          <a:lstStyle/>
          <a:p>
            <a:pPr marL="0" indent="0" algn="ctr">
              <a:buNone/>
            </a:pPr>
            <a:r>
              <a:rPr lang="en-US" sz="850" dirty="0">
                <a:solidFill>
                  <a:srgbClr val="5B6B79"/>
                </a:solidFill>
                <a:latin typeface="Calibri" pitchFamily="34" charset="0"/>
                <a:ea typeface="Calibri" pitchFamily="34" charset="-122"/>
                <a:cs typeface="Calibri" pitchFamily="34" charset="-120"/>
              </a:rPr>
              <a:t>Hypo.</a:t>
            </a:r>
            <a:endParaRPr lang="en-US" sz="850" dirty="0"/>
          </a:p>
        </p:txBody>
      </p:sp>
      <p:sp>
        <p:nvSpPr>
          <p:cNvPr id="10" name="Text 8"/>
          <p:cNvSpPr/>
          <p:nvPr/>
        </p:nvSpPr>
        <p:spPr>
          <a:xfrm>
            <a:off x="2907792" y="1444752"/>
            <a:ext cx="566928" cy="365760"/>
          </a:xfrm>
          <a:prstGeom prst="rect">
            <a:avLst/>
          </a:prstGeom>
          <a:noFill/>
          <a:ln/>
        </p:spPr>
        <p:txBody>
          <a:bodyPr wrap="square" rtlCol="0" anchor="ctr"/>
          <a:lstStyle/>
          <a:p>
            <a:pPr marL="0" indent="0" algn="ctr">
              <a:buNone/>
            </a:pPr>
            <a:r>
              <a:rPr lang="en-US" sz="850" dirty="0">
                <a:solidFill>
                  <a:srgbClr val="5B6B79"/>
                </a:solidFill>
                <a:latin typeface="Calibri" pitchFamily="34" charset="0"/>
                <a:ea typeface="Calibri" pitchFamily="34" charset="-122"/>
                <a:cs typeface="Calibri" pitchFamily="34" charset="-120"/>
              </a:rPr>
              <a:t>Ulcer</a:t>
            </a:r>
            <a:endParaRPr lang="en-US" sz="850" dirty="0"/>
          </a:p>
        </p:txBody>
      </p:sp>
      <p:sp>
        <p:nvSpPr>
          <p:cNvPr id="11" name="Text 9"/>
          <p:cNvSpPr/>
          <p:nvPr/>
        </p:nvSpPr>
        <p:spPr>
          <a:xfrm>
            <a:off x="3474720" y="1444752"/>
            <a:ext cx="566928" cy="365760"/>
          </a:xfrm>
          <a:prstGeom prst="rect">
            <a:avLst/>
          </a:prstGeom>
          <a:noFill/>
          <a:ln/>
        </p:spPr>
        <p:txBody>
          <a:bodyPr wrap="square" rtlCol="0" anchor="ctr"/>
          <a:lstStyle/>
          <a:p>
            <a:pPr marL="0" indent="0" algn="ctr">
              <a:buNone/>
            </a:pPr>
            <a:r>
              <a:rPr lang="en-US" sz="850" dirty="0">
                <a:solidFill>
                  <a:srgbClr val="5B6B79"/>
                </a:solidFill>
                <a:latin typeface="Calibri" pitchFamily="34" charset="0"/>
                <a:ea typeface="Calibri" pitchFamily="34" charset="-122"/>
                <a:cs typeface="Calibri" pitchFamily="34" charset="-120"/>
              </a:rPr>
              <a:t>Tooth D.</a:t>
            </a:r>
            <a:endParaRPr lang="en-US" sz="850" dirty="0"/>
          </a:p>
        </p:txBody>
      </p:sp>
      <p:sp>
        <p:nvSpPr>
          <p:cNvPr id="12" name="Text 10"/>
          <p:cNvSpPr/>
          <p:nvPr/>
        </p:nvSpPr>
        <p:spPr>
          <a:xfrm>
            <a:off x="-91440" y="1828800"/>
            <a:ext cx="685800" cy="566928"/>
          </a:xfrm>
          <a:prstGeom prst="rect">
            <a:avLst/>
          </a:prstGeom>
          <a:noFill/>
          <a:ln/>
        </p:spPr>
        <p:txBody>
          <a:bodyPr wrap="square"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Calc</a:t>
            </a:r>
            <a:endParaRPr lang="en-US" sz="850" dirty="0"/>
          </a:p>
        </p:txBody>
      </p:sp>
      <p:sp>
        <p:nvSpPr>
          <p:cNvPr id="13" name="Shape 11"/>
          <p:cNvSpPr/>
          <p:nvPr/>
        </p:nvSpPr>
        <p:spPr>
          <a:xfrm>
            <a:off x="640080" y="1828800"/>
            <a:ext cx="539496" cy="539496"/>
          </a:xfrm>
          <a:prstGeom prst="rect">
            <a:avLst/>
          </a:prstGeom>
          <a:solidFill>
            <a:srgbClr val="065A82"/>
          </a:solidFill>
          <a:ln w="12700">
            <a:solidFill>
              <a:srgbClr val="FFFFFF"/>
            </a:solidFill>
            <a:prstDash val="solid"/>
          </a:ln>
        </p:spPr>
        <p:txBody>
          <a:bodyPr/>
          <a:lstStyle/>
          <a:p>
            <a:endParaRPr lang="en-US"/>
          </a:p>
        </p:txBody>
      </p:sp>
      <p:sp>
        <p:nvSpPr>
          <p:cNvPr id="14" name="Text 12"/>
          <p:cNvSpPr/>
          <p:nvPr/>
        </p:nvSpPr>
        <p:spPr>
          <a:xfrm>
            <a:off x="640080" y="1828800"/>
            <a:ext cx="539496" cy="5394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62</a:t>
            </a:r>
            <a:endParaRPr lang="en-US" sz="1000" dirty="0"/>
          </a:p>
        </p:txBody>
      </p:sp>
      <p:sp>
        <p:nvSpPr>
          <p:cNvPr id="15" name="Shape 13"/>
          <p:cNvSpPr/>
          <p:nvPr/>
        </p:nvSpPr>
        <p:spPr>
          <a:xfrm>
            <a:off x="1207008" y="1828800"/>
            <a:ext cx="539496" cy="539496"/>
          </a:xfrm>
          <a:prstGeom prst="rect">
            <a:avLst/>
          </a:prstGeom>
          <a:solidFill>
            <a:srgbClr val="F4F7F9"/>
          </a:solidFill>
          <a:ln w="12700">
            <a:solidFill>
              <a:srgbClr val="FFFFFF"/>
            </a:solidFill>
            <a:prstDash val="solid"/>
          </a:ln>
        </p:spPr>
        <p:txBody>
          <a:bodyPr/>
          <a:lstStyle/>
          <a:p>
            <a:endParaRPr lang="en-US"/>
          </a:p>
        </p:txBody>
      </p:sp>
      <p:sp>
        <p:nvSpPr>
          <p:cNvPr id="16" name="Text 14"/>
          <p:cNvSpPr/>
          <p:nvPr/>
        </p:nvSpPr>
        <p:spPr>
          <a:xfrm>
            <a:off x="1207008" y="1828800"/>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sp>
        <p:nvSpPr>
          <p:cNvPr id="17" name="Shape 15"/>
          <p:cNvSpPr/>
          <p:nvPr/>
        </p:nvSpPr>
        <p:spPr>
          <a:xfrm>
            <a:off x="1773936" y="1828800"/>
            <a:ext cx="539496" cy="539496"/>
          </a:xfrm>
          <a:prstGeom prst="rect">
            <a:avLst/>
          </a:prstGeom>
          <a:solidFill>
            <a:srgbClr val="F4F7F9"/>
          </a:solidFill>
          <a:ln w="12700">
            <a:solidFill>
              <a:srgbClr val="FFFFFF"/>
            </a:solidFill>
            <a:prstDash val="solid"/>
          </a:ln>
        </p:spPr>
        <p:txBody>
          <a:bodyPr/>
          <a:lstStyle/>
          <a:p>
            <a:endParaRPr lang="en-US"/>
          </a:p>
        </p:txBody>
      </p:sp>
      <p:sp>
        <p:nvSpPr>
          <p:cNvPr id="18" name="Text 16"/>
          <p:cNvSpPr/>
          <p:nvPr/>
        </p:nvSpPr>
        <p:spPr>
          <a:xfrm>
            <a:off x="1773936" y="1828800"/>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8</a:t>
            </a:r>
            <a:endParaRPr lang="en-US" sz="1000" dirty="0"/>
          </a:p>
        </p:txBody>
      </p:sp>
      <p:sp>
        <p:nvSpPr>
          <p:cNvPr id="19" name="Shape 17"/>
          <p:cNvSpPr/>
          <p:nvPr/>
        </p:nvSpPr>
        <p:spPr>
          <a:xfrm>
            <a:off x="2340864" y="1828800"/>
            <a:ext cx="539496" cy="539496"/>
          </a:xfrm>
          <a:prstGeom prst="rect">
            <a:avLst/>
          </a:prstGeom>
          <a:solidFill>
            <a:srgbClr val="F4F7F9"/>
          </a:solidFill>
          <a:ln w="12700">
            <a:solidFill>
              <a:srgbClr val="FFFFFF"/>
            </a:solidFill>
            <a:prstDash val="solid"/>
          </a:ln>
        </p:spPr>
        <p:txBody>
          <a:bodyPr/>
          <a:lstStyle/>
          <a:p>
            <a:endParaRPr lang="en-US"/>
          </a:p>
        </p:txBody>
      </p:sp>
      <p:sp>
        <p:nvSpPr>
          <p:cNvPr id="20" name="Text 18"/>
          <p:cNvSpPr/>
          <p:nvPr/>
        </p:nvSpPr>
        <p:spPr>
          <a:xfrm>
            <a:off x="2340864" y="1828800"/>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
        <p:nvSpPr>
          <p:cNvPr id="21" name="Shape 19"/>
          <p:cNvSpPr/>
          <p:nvPr/>
        </p:nvSpPr>
        <p:spPr>
          <a:xfrm>
            <a:off x="2907792" y="1828800"/>
            <a:ext cx="539496" cy="539496"/>
          </a:xfrm>
          <a:prstGeom prst="rect">
            <a:avLst/>
          </a:prstGeom>
          <a:solidFill>
            <a:srgbClr val="F4F7F9"/>
          </a:solidFill>
          <a:ln w="12700">
            <a:solidFill>
              <a:srgbClr val="FFFFFF"/>
            </a:solidFill>
            <a:prstDash val="solid"/>
          </a:ln>
        </p:spPr>
        <p:txBody>
          <a:bodyPr/>
          <a:lstStyle/>
          <a:p>
            <a:endParaRPr lang="en-US"/>
          </a:p>
        </p:txBody>
      </p:sp>
      <p:sp>
        <p:nvSpPr>
          <p:cNvPr id="22" name="Text 20"/>
          <p:cNvSpPr/>
          <p:nvPr/>
        </p:nvSpPr>
        <p:spPr>
          <a:xfrm>
            <a:off x="2907792" y="1828800"/>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
        <p:nvSpPr>
          <p:cNvPr id="23" name="Shape 21"/>
          <p:cNvSpPr/>
          <p:nvPr/>
        </p:nvSpPr>
        <p:spPr>
          <a:xfrm>
            <a:off x="3474720" y="1828800"/>
            <a:ext cx="539496" cy="539496"/>
          </a:xfrm>
          <a:prstGeom prst="rect">
            <a:avLst/>
          </a:prstGeom>
          <a:solidFill>
            <a:srgbClr val="C0522D"/>
          </a:solidFill>
          <a:ln w="12700">
            <a:solidFill>
              <a:srgbClr val="FFFFFF"/>
            </a:solidFill>
            <a:prstDash val="solid"/>
          </a:ln>
        </p:spPr>
        <p:txBody>
          <a:bodyPr/>
          <a:lstStyle/>
          <a:p>
            <a:endParaRPr lang="en-US"/>
          </a:p>
        </p:txBody>
      </p:sp>
      <p:sp>
        <p:nvSpPr>
          <p:cNvPr id="24" name="Text 22"/>
          <p:cNvSpPr/>
          <p:nvPr/>
        </p:nvSpPr>
        <p:spPr>
          <a:xfrm>
            <a:off x="3474720" y="1828800"/>
            <a:ext cx="539496" cy="539496"/>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16</a:t>
            </a:r>
            <a:endParaRPr lang="en-US" sz="1000" dirty="0"/>
          </a:p>
        </p:txBody>
      </p:sp>
      <p:sp>
        <p:nvSpPr>
          <p:cNvPr id="25" name="Text 23"/>
          <p:cNvSpPr/>
          <p:nvPr/>
        </p:nvSpPr>
        <p:spPr>
          <a:xfrm>
            <a:off x="-91440" y="2395728"/>
            <a:ext cx="685800" cy="566928"/>
          </a:xfrm>
          <a:prstGeom prst="rect">
            <a:avLst/>
          </a:prstGeom>
          <a:noFill/>
          <a:ln/>
        </p:spPr>
        <p:txBody>
          <a:bodyPr wrap="square"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Caries</a:t>
            </a:r>
            <a:endParaRPr lang="en-US" sz="850" dirty="0"/>
          </a:p>
        </p:txBody>
      </p:sp>
      <p:sp>
        <p:nvSpPr>
          <p:cNvPr id="26" name="Shape 24"/>
          <p:cNvSpPr/>
          <p:nvPr/>
        </p:nvSpPr>
        <p:spPr>
          <a:xfrm>
            <a:off x="640080" y="2395728"/>
            <a:ext cx="539496" cy="539496"/>
          </a:xfrm>
          <a:prstGeom prst="rect">
            <a:avLst/>
          </a:prstGeom>
          <a:solidFill>
            <a:srgbClr val="F4F7F9"/>
          </a:solidFill>
          <a:ln w="12700">
            <a:solidFill>
              <a:srgbClr val="FFFFFF"/>
            </a:solidFill>
            <a:prstDash val="solid"/>
          </a:ln>
        </p:spPr>
        <p:txBody>
          <a:bodyPr/>
          <a:lstStyle/>
          <a:p>
            <a:endParaRPr lang="en-US"/>
          </a:p>
        </p:txBody>
      </p:sp>
      <p:sp>
        <p:nvSpPr>
          <p:cNvPr id="27" name="Text 25"/>
          <p:cNvSpPr/>
          <p:nvPr/>
        </p:nvSpPr>
        <p:spPr>
          <a:xfrm>
            <a:off x="640080" y="2395728"/>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7</a:t>
            </a:r>
            <a:endParaRPr lang="en-US" sz="1000" dirty="0"/>
          </a:p>
        </p:txBody>
      </p:sp>
      <p:sp>
        <p:nvSpPr>
          <p:cNvPr id="28" name="Shape 26"/>
          <p:cNvSpPr/>
          <p:nvPr/>
        </p:nvSpPr>
        <p:spPr>
          <a:xfrm>
            <a:off x="1207008" y="2395728"/>
            <a:ext cx="539496" cy="539496"/>
          </a:xfrm>
          <a:prstGeom prst="rect">
            <a:avLst/>
          </a:prstGeom>
          <a:solidFill>
            <a:srgbClr val="065A82"/>
          </a:solidFill>
          <a:ln w="12700">
            <a:solidFill>
              <a:srgbClr val="FFFFFF"/>
            </a:solidFill>
            <a:prstDash val="solid"/>
          </a:ln>
        </p:spPr>
        <p:txBody>
          <a:bodyPr/>
          <a:lstStyle/>
          <a:p>
            <a:endParaRPr lang="en-US"/>
          </a:p>
        </p:txBody>
      </p:sp>
      <p:sp>
        <p:nvSpPr>
          <p:cNvPr id="29" name="Text 27"/>
          <p:cNvSpPr/>
          <p:nvPr/>
        </p:nvSpPr>
        <p:spPr>
          <a:xfrm>
            <a:off x="1207008" y="2395728"/>
            <a:ext cx="539496" cy="5394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61</a:t>
            </a:r>
            <a:endParaRPr lang="en-US" sz="1000" dirty="0"/>
          </a:p>
        </p:txBody>
      </p:sp>
      <p:sp>
        <p:nvSpPr>
          <p:cNvPr id="30" name="Shape 28"/>
          <p:cNvSpPr/>
          <p:nvPr/>
        </p:nvSpPr>
        <p:spPr>
          <a:xfrm>
            <a:off x="1773936" y="2395728"/>
            <a:ext cx="539496" cy="539496"/>
          </a:xfrm>
          <a:prstGeom prst="rect">
            <a:avLst/>
          </a:prstGeom>
          <a:solidFill>
            <a:srgbClr val="F4F7F9"/>
          </a:solidFill>
          <a:ln w="12700">
            <a:solidFill>
              <a:srgbClr val="FFFFFF"/>
            </a:solidFill>
            <a:prstDash val="solid"/>
          </a:ln>
        </p:spPr>
        <p:txBody>
          <a:bodyPr/>
          <a:lstStyle/>
          <a:p>
            <a:endParaRPr lang="en-US"/>
          </a:p>
        </p:txBody>
      </p:sp>
      <p:sp>
        <p:nvSpPr>
          <p:cNvPr id="31" name="Text 29"/>
          <p:cNvSpPr/>
          <p:nvPr/>
        </p:nvSpPr>
        <p:spPr>
          <a:xfrm>
            <a:off x="1773936" y="2395728"/>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9</a:t>
            </a:r>
            <a:endParaRPr lang="en-US" sz="1000" dirty="0"/>
          </a:p>
        </p:txBody>
      </p:sp>
      <p:sp>
        <p:nvSpPr>
          <p:cNvPr id="32" name="Shape 30"/>
          <p:cNvSpPr/>
          <p:nvPr/>
        </p:nvSpPr>
        <p:spPr>
          <a:xfrm>
            <a:off x="2340864" y="2395728"/>
            <a:ext cx="539496" cy="539496"/>
          </a:xfrm>
          <a:prstGeom prst="rect">
            <a:avLst/>
          </a:prstGeom>
          <a:solidFill>
            <a:srgbClr val="F4F7F9"/>
          </a:solidFill>
          <a:ln w="12700">
            <a:solidFill>
              <a:srgbClr val="FFFFFF"/>
            </a:solidFill>
            <a:prstDash val="solid"/>
          </a:ln>
        </p:spPr>
        <p:txBody>
          <a:bodyPr/>
          <a:lstStyle/>
          <a:p>
            <a:endParaRPr lang="en-US"/>
          </a:p>
        </p:txBody>
      </p:sp>
      <p:sp>
        <p:nvSpPr>
          <p:cNvPr id="33" name="Text 31"/>
          <p:cNvSpPr/>
          <p:nvPr/>
        </p:nvSpPr>
        <p:spPr>
          <a:xfrm>
            <a:off x="2340864" y="2395728"/>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
        <p:nvSpPr>
          <p:cNvPr id="34" name="Shape 32"/>
          <p:cNvSpPr/>
          <p:nvPr/>
        </p:nvSpPr>
        <p:spPr>
          <a:xfrm>
            <a:off x="2907792" y="2395728"/>
            <a:ext cx="539496" cy="539496"/>
          </a:xfrm>
          <a:prstGeom prst="rect">
            <a:avLst/>
          </a:prstGeom>
          <a:solidFill>
            <a:srgbClr val="F4F7F9"/>
          </a:solidFill>
          <a:ln w="12700">
            <a:solidFill>
              <a:srgbClr val="FFFFFF"/>
            </a:solidFill>
            <a:prstDash val="solid"/>
          </a:ln>
        </p:spPr>
        <p:txBody>
          <a:bodyPr/>
          <a:lstStyle/>
          <a:p>
            <a:endParaRPr lang="en-US"/>
          </a:p>
        </p:txBody>
      </p:sp>
      <p:sp>
        <p:nvSpPr>
          <p:cNvPr id="35" name="Text 33"/>
          <p:cNvSpPr/>
          <p:nvPr/>
        </p:nvSpPr>
        <p:spPr>
          <a:xfrm>
            <a:off x="2907792" y="2395728"/>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
        <p:nvSpPr>
          <p:cNvPr id="36" name="Shape 34"/>
          <p:cNvSpPr/>
          <p:nvPr/>
        </p:nvSpPr>
        <p:spPr>
          <a:xfrm>
            <a:off x="3474720" y="2395728"/>
            <a:ext cx="539496" cy="539496"/>
          </a:xfrm>
          <a:prstGeom prst="rect">
            <a:avLst/>
          </a:prstGeom>
          <a:solidFill>
            <a:srgbClr val="C0522D"/>
          </a:solidFill>
          <a:ln w="12700">
            <a:solidFill>
              <a:srgbClr val="FFFFFF"/>
            </a:solidFill>
            <a:prstDash val="solid"/>
          </a:ln>
        </p:spPr>
        <p:txBody>
          <a:bodyPr/>
          <a:lstStyle/>
          <a:p>
            <a:endParaRPr lang="en-US"/>
          </a:p>
        </p:txBody>
      </p:sp>
      <p:sp>
        <p:nvSpPr>
          <p:cNvPr id="37" name="Text 35"/>
          <p:cNvSpPr/>
          <p:nvPr/>
        </p:nvSpPr>
        <p:spPr>
          <a:xfrm>
            <a:off x="3474720" y="2395728"/>
            <a:ext cx="539496" cy="539496"/>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20</a:t>
            </a:r>
            <a:endParaRPr lang="en-US" sz="1000" dirty="0"/>
          </a:p>
        </p:txBody>
      </p:sp>
      <p:sp>
        <p:nvSpPr>
          <p:cNvPr id="38" name="Text 36"/>
          <p:cNvSpPr/>
          <p:nvPr/>
        </p:nvSpPr>
        <p:spPr>
          <a:xfrm>
            <a:off x="-91440" y="2962656"/>
            <a:ext cx="685800" cy="566928"/>
          </a:xfrm>
          <a:prstGeom prst="rect">
            <a:avLst/>
          </a:prstGeom>
          <a:noFill/>
          <a:ln/>
        </p:spPr>
        <p:txBody>
          <a:bodyPr wrap="square"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Ging.</a:t>
            </a:r>
            <a:endParaRPr lang="en-US" sz="850" dirty="0"/>
          </a:p>
        </p:txBody>
      </p:sp>
      <p:sp>
        <p:nvSpPr>
          <p:cNvPr id="39" name="Shape 37"/>
          <p:cNvSpPr/>
          <p:nvPr/>
        </p:nvSpPr>
        <p:spPr>
          <a:xfrm>
            <a:off x="640080" y="2962656"/>
            <a:ext cx="539496" cy="539496"/>
          </a:xfrm>
          <a:prstGeom prst="rect">
            <a:avLst/>
          </a:prstGeom>
          <a:solidFill>
            <a:srgbClr val="F4F7F9"/>
          </a:solidFill>
          <a:ln w="12700">
            <a:solidFill>
              <a:srgbClr val="FFFFFF"/>
            </a:solidFill>
            <a:prstDash val="solid"/>
          </a:ln>
        </p:spPr>
        <p:txBody>
          <a:bodyPr/>
          <a:lstStyle/>
          <a:p>
            <a:endParaRPr lang="en-US"/>
          </a:p>
        </p:txBody>
      </p:sp>
      <p:sp>
        <p:nvSpPr>
          <p:cNvPr id="40" name="Text 38"/>
          <p:cNvSpPr/>
          <p:nvPr/>
        </p:nvSpPr>
        <p:spPr>
          <a:xfrm>
            <a:off x="640080" y="2962656"/>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5</a:t>
            </a:r>
            <a:endParaRPr lang="en-US" sz="1000" dirty="0"/>
          </a:p>
        </p:txBody>
      </p:sp>
      <p:sp>
        <p:nvSpPr>
          <p:cNvPr id="41" name="Shape 39"/>
          <p:cNvSpPr/>
          <p:nvPr/>
        </p:nvSpPr>
        <p:spPr>
          <a:xfrm>
            <a:off x="1207008" y="2962656"/>
            <a:ext cx="539496" cy="539496"/>
          </a:xfrm>
          <a:prstGeom prst="rect">
            <a:avLst/>
          </a:prstGeom>
          <a:solidFill>
            <a:srgbClr val="F4F7F9"/>
          </a:solidFill>
          <a:ln w="12700">
            <a:solidFill>
              <a:srgbClr val="FFFFFF"/>
            </a:solidFill>
            <a:prstDash val="solid"/>
          </a:ln>
        </p:spPr>
        <p:txBody>
          <a:bodyPr/>
          <a:lstStyle/>
          <a:p>
            <a:endParaRPr lang="en-US"/>
          </a:p>
        </p:txBody>
      </p:sp>
      <p:sp>
        <p:nvSpPr>
          <p:cNvPr id="42" name="Text 40"/>
          <p:cNvSpPr/>
          <p:nvPr/>
        </p:nvSpPr>
        <p:spPr>
          <a:xfrm>
            <a:off x="1207008" y="2962656"/>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3</a:t>
            </a:r>
            <a:endParaRPr lang="en-US" sz="1000" dirty="0"/>
          </a:p>
        </p:txBody>
      </p:sp>
      <p:sp>
        <p:nvSpPr>
          <p:cNvPr id="43" name="Shape 41"/>
          <p:cNvSpPr/>
          <p:nvPr/>
        </p:nvSpPr>
        <p:spPr>
          <a:xfrm>
            <a:off x="1773936" y="2962656"/>
            <a:ext cx="539496" cy="539496"/>
          </a:xfrm>
          <a:prstGeom prst="rect">
            <a:avLst/>
          </a:prstGeom>
          <a:solidFill>
            <a:srgbClr val="065A82"/>
          </a:solidFill>
          <a:ln w="12700">
            <a:solidFill>
              <a:srgbClr val="FFFFFF"/>
            </a:solidFill>
            <a:prstDash val="solid"/>
          </a:ln>
        </p:spPr>
        <p:txBody>
          <a:bodyPr/>
          <a:lstStyle/>
          <a:p>
            <a:endParaRPr lang="en-US"/>
          </a:p>
        </p:txBody>
      </p:sp>
      <p:sp>
        <p:nvSpPr>
          <p:cNvPr id="44" name="Text 42"/>
          <p:cNvSpPr/>
          <p:nvPr/>
        </p:nvSpPr>
        <p:spPr>
          <a:xfrm>
            <a:off x="1773936" y="2962656"/>
            <a:ext cx="539496" cy="5394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88</a:t>
            </a:r>
            <a:endParaRPr lang="en-US" sz="1000" dirty="0"/>
          </a:p>
        </p:txBody>
      </p:sp>
      <p:sp>
        <p:nvSpPr>
          <p:cNvPr id="45" name="Shape 43"/>
          <p:cNvSpPr/>
          <p:nvPr/>
        </p:nvSpPr>
        <p:spPr>
          <a:xfrm>
            <a:off x="2340864" y="2962656"/>
            <a:ext cx="539496" cy="539496"/>
          </a:xfrm>
          <a:prstGeom prst="rect">
            <a:avLst/>
          </a:prstGeom>
          <a:solidFill>
            <a:srgbClr val="F4F7F9"/>
          </a:solidFill>
          <a:ln w="12700">
            <a:solidFill>
              <a:srgbClr val="FFFFFF"/>
            </a:solidFill>
            <a:prstDash val="solid"/>
          </a:ln>
        </p:spPr>
        <p:txBody>
          <a:bodyPr/>
          <a:lstStyle/>
          <a:p>
            <a:endParaRPr lang="en-US"/>
          </a:p>
        </p:txBody>
      </p:sp>
      <p:sp>
        <p:nvSpPr>
          <p:cNvPr id="46" name="Text 44"/>
          <p:cNvSpPr/>
          <p:nvPr/>
        </p:nvSpPr>
        <p:spPr>
          <a:xfrm>
            <a:off x="2340864" y="2962656"/>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
        <p:nvSpPr>
          <p:cNvPr id="47" name="Shape 45"/>
          <p:cNvSpPr/>
          <p:nvPr/>
        </p:nvSpPr>
        <p:spPr>
          <a:xfrm>
            <a:off x="2907792" y="2962656"/>
            <a:ext cx="539496" cy="539496"/>
          </a:xfrm>
          <a:prstGeom prst="rect">
            <a:avLst/>
          </a:prstGeom>
          <a:solidFill>
            <a:srgbClr val="F4F7F9"/>
          </a:solidFill>
          <a:ln w="12700">
            <a:solidFill>
              <a:srgbClr val="FFFFFF"/>
            </a:solidFill>
            <a:prstDash val="solid"/>
          </a:ln>
        </p:spPr>
        <p:txBody>
          <a:bodyPr/>
          <a:lstStyle/>
          <a:p>
            <a:endParaRPr lang="en-US"/>
          </a:p>
        </p:txBody>
      </p:sp>
      <p:sp>
        <p:nvSpPr>
          <p:cNvPr id="48" name="Text 46"/>
          <p:cNvSpPr/>
          <p:nvPr/>
        </p:nvSpPr>
        <p:spPr>
          <a:xfrm>
            <a:off x="2907792" y="2962656"/>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
        <p:nvSpPr>
          <p:cNvPr id="49" name="Shape 47"/>
          <p:cNvSpPr/>
          <p:nvPr/>
        </p:nvSpPr>
        <p:spPr>
          <a:xfrm>
            <a:off x="3474720" y="2962656"/>
            <a:ext cx="539496" cy="539496"/>
          </a:xfrm>
          <a:prstGeom prst="rect">
            <a:avLst/>
          </a:prstGeom>
          <a:solidFill>
            <a:srgbClr val="F4F7F9"/>
          </a:solidFill>
          <a:ln w="12700">
            <a:solidFill>
              <a:srgbClr val="FFFFFF"/>
            </a:solidFill>
            <a:prstDash val="solid"/>
          </a:ln>
        </p:spPr>
        <p:txBody>
          <a:bodyPr/>
          <a:lstStyle/>
          <a:p>
            <a:endParaRPr lang="en-US"/>
          </a:p>
        </p:txBody>
      </p:sp>
      <p:sp>
        <p:nvSpPr>
          <p:cNvPr id="50" name="Text 48"/>
          <p:cNvSpPr/>
          <p:nvPr/>
        </p:nvSpPr>
        <p:spPr>
          <a:xfrm>
            <a:off x="3474720" y="2962656"/>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
        <p:nvSpPr>
          <p:cNvPr id="51" name="Text 49"/>
          <p:cNvSpPr/>
          <p:nvPr/>
        </p:nvSpPr>
        <p:spPr>
          <a:xfrm>
            <a:off x="-91440" y="3529584"/>
            <a:ext cx="685800" cy="566928"/>
          </a:xfrm>
          <a:prstGeom prst="rect">
            <a:avLst/>
          </a:prstGeom>
          <a:noFill/>
          <a:ln/>
        </p:spPr>
        <p:txBody>
          <a:bodyPr wrap="square"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Hypo.</a:t>
            </a:r>
            <a:endParaRPr lang="en-US" sz="850" dirty="0"/>
          </a:p>
        </p:txBody>
      </p:sp>
      <p:sp>
        <p:nvSpPr>
          <p:cNvPr id="52" name="Shape 50"/>
          <p:cNvSpPr/>
          <p:nvPr/>
        </p:nvSpPr>
        <p:spPr>
          <a:xfrm>
            <a:off x="640080" y="3529584"/>
            <a:ext cx="539496" cy="539496"/>
          </a:xfrm>
          <a:prstGeom prst="rect">
            <a:avLst/>
          </a:prstGeom>
          <a:solidFill>
            <a:srgbClr val="F4F7F9"/>
          </a:solidFill>
          <a:ln w="12700">
            <a:solidFill>
              <a:srgbClr val="FFFFFF"/>
            </a:solidFill>
            <a:prstDash val="solid"/>
          </a:ln>
        </p:spPr>
        <p:txBody>
          <a:bodyPr/>
          <a:lstStyle/>
          <a:p>
            <a:endParaRPr lang="en-US"/>
          </a:p>
        </p:txBody>
      </p:sp>
      <p:sp>
        <p:nvSpPr>
          <p:cNvPr id="53" name="Text 51"/>
          <p:cNvSpPr/>
          <p:nvPr/>
        </p:nvSpPr>
        <p:spPr>
          <a:xfrm>
            <a:off x="640080" y="3529584"/>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
        <p:nvSpPr>
          <p:cNvPr id="54" name="Shape 52"/>
          <p:cNvSpPr/>
          <p:nvPr/>
        </p:nvSpPr>
        <p:spPr>
          <a:xfrm>
            <a:off x="1207008" y="3529584"/>
            <a:ext cx="539496" cy="539496"/>
          </a:xfrm>
          <a:prstGeom prst="rect">
            <a:avLst/>
          </a:prstGeom>
          <a:solidFill>
            <a:srgbClr val="F4F7F9"/>
          </a:solidFill>
          <a:ln w="12700">
            <a:solidFill>
              <a:srgbClr val="FFFFFF"/>
            </a:solidFill>
            <a:prstDash val="solid"/>
          </a:ln>
        </p:spPr>
        <p:txBody>
          <a:bodyPr/>
          <a:lstStyle/>
          <a:p>
            <a:endParaRPr lang="en-US"/>
          </a:p>
        </p:txBody>
      </p:sp>
      <p:sp>
        <p:nvSpPr>
          <p:cNvPr id="55" name="Text 53"/>
          <p:cNvSpPr/>
          <p:nvPr/>
        </p:nvSpPr>
        <p:spPr>
          <a:xfrm>
            <a:off x="1207008" y="3529584"/>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
        <p:nvSpPr>
          <p:cNvPr id="56" name="Shape 54"/>
          <p:cNvSpPr/>
          <p:nvPr/>
        </p:nvSpPr>
        <p:spPr>
          <a:xfrm>
            <a:off x="1773936" y="3529584"/>
            <a:ext cx="539496" cy="539496"/>
          </a:xfrm>
          <a:prstGeom prst="rect">
            <a:avLst/>
          </a:prstGeom>
          <a:solidFill>
            <a:srgbClr val="F4F7F9"/>
          </a:solidFill>
          <a:ln w="12700">
            <a:solidFill>
              <a:srgbClr val="FFFFFF"/>
            </a:solidFill>
            <a:prstDash val="solid"/>
          </a:ln>
        </p:spPr>
        <p:txBody>
          <a:bodyPr/>
          <a:lstStyle/>
          <a:p>
            <a:endParaRPr lang="en-US"/>
          </a:p>
        </p:txBody>
      </p:sp>
      <p:sp>
        <p:nvSpPr>
          <p:cNvPr id="57" name="Text 55"/>
          <p:cNvSpPr/>
          <p:nvPr/>
        </p:nvSpPr>
        <p:spPr>
          <a:xfrm>
            <a:off x="1773936" y="3529584"/>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
        <p:nvSpPr>
          <p:cNvPr id="58" name="Shape 56"/>
          <p:cNvSpPr/>
          <p:nvPr/>
        </p:nvSpPr>
        <p:spPr>
          <a:xfrm>
            <a:off x="2340864" y="3529584"/>
            <a:ext cx="539496" cy="539496"/>
          </a:xfrm>
          <a:prstGeom prst="rect">
            <a:avLst/>
          </a:prstGeom>
          <a:solidFill>
            <a:srgbClr val="065A82"/>
          </a:solidFill>
          <a:ln w="12700">
            <a:solidFill>
              <a:srgbClr val="FFFFFF"/>
            </a:solidFill>
            <a:prstDash val="solid"/>
          </a:ln>
        </p:spPr>
        <p:txBody>
          <a:bodyPr/>
          <a:lstStyle/>
          <a:p>
            <a:endParaRPr lang="en-US"/>
          </a:p>
        </p:txBody>
      </p:sp>
      <p:sp>
        <p:nvSpPr>
          <p:cNvPr id="59" name="Text 57"/>
          <p:cNvSpPr/>
          <p:nvPr/>
        </p:nvSpPr>
        <p:spPr>
          <a:xfrm>
            <a:off x="2340864" y="3529584"/>
            <a:ext cx="539496" cy="5394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96</a:t>
            </a:r>
            <a:endParaRPr lang="en-US" sz="1000" dirty="0"/>
          </a:p>
        </p:txBody>
      </p:sp>
      <p:sp>
        <p:nvSpPr>
          <p:cNvPr id="60" name="Shape 58"/>
          <p:cNvSpPr/>
          <p:nvPr/>
        </p:nvSpPr>
        <p:spPr>
          <a:xfrm>
            <a:off x="2907792" y="3529584"/>
            <a:ext cx="539496" cy="539496"/>
          </a:xfrm>
          <a:prstGeom prst="rect">
            <a:avLst/>
          </a:prstGeom>
          <a:solidFill>
            <a:srgbClr val="F4F7F9"/>
          </a:solidFill>
          <a:ln w="12700">
            <a:solidFill>
              <a:srgbClr val="FFFFFF"/>
            </a:solidFill>
            <a:prstDash val="solid"/>
          </a:ln>
        </p:spPr>
        <p:txBody>
          <a:bodyPr/>
          <a:lstStyle/>
          <a:p>
            <a:endParaRPr lang="en-US"/>
          </a:p>
        </p:txBody>
      </p:sp>
      <p:sp>
        <p:nvSpPr>
          <p:cNvPr id="61" name="Text 59"/>
          <p:cNvSpPr/>
          <p:nvPr/>
        </p:nvSpPr>
        <p:spPr>
          <a:xfrm>
            <a:off x="2907792" y="3529584"/>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
        <p:nvSpPr>
          <p:cNvPr id="62" name="Shape 60"/>
          <p:cNvSpPr/>
          <p:nvPr/>
        </p:nvSpPr>
        <p:spPr>
          <a:xfrm>
            <a:off x="3474720" y="3529584"/>
            <a:ext cx="539496" cy="539496"/>
          </a:xfrm>
          <a:prstGeom prst="rect">
            <a:avLst/>
          </a:prstGeom>
          <a:solidFill>
            <a:srgbClr val="F4F7F9"/>
          </a:solidFill>
          <a:ln w="12700">
            <a:solidFill>
              <a:srgbClr val="FFFFFF"/>
            </a:solidFill>
            <a:prstDash val="solid"/>
          </a:ln>
        </p:spPr>
        <p:txBody>
          <a:bodyPr/>
          <a:lstStyle/>
          <a:p>
            <a:endParaRPr lang="en-US"/>
          </a:p>
        </p:txBody>
      </p:sp>
      <p:sp>
        <p:nvSpPr>
          <p:cNvPr id="63" name="Text 61"/>
          <p:cNvSpPr/>
          <p:nvPr/>
        </p:nvSpPr>
        <p:spPr>
          <a:xfrm>
            <a:off x="3474720" y="3529584"/>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0</a:t>
            </a:r>
            <a:endParaRPr lang="en-US" sz="1000" dirty="0"/>
          </a:p>
        </p:txBody>
      </p:sp>
      <p:sp>
        <p:nvSpPr>
          <p:cNvPr id="64" name="Text 62"/>
          <p:cNvSpPr/>
          <p:nvPr/>
        </p:nvSpPr>
        <p:spPr>
          <a:xfrm>
            <a:off x="-91440" y="4096512"/>
            <a:ext cx="685800" cy="566928"/>
          </a:xfrm>
          <a:prstGeom prst="rect">
            <a:avLst/>
          </a:prstGeom>
          <a:noFill/>
          <a:ln/>
        </p:spPr>
        <p:txBody>
          <a:bodyPr wrap="square"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Ulcer</a:t>
            </a:r>
            <a:endParaRPr lang="en-US" sz="850" dirty="0"/>
          </a:p>
        </p:txBody>
      </p:sp>
      <p:sp>
        <p:nvSpPr>
          <p:cNvPr id="65" name="Shape 63"/>
          <p:cNvSpPr/>
          <p:nvPr/>
        </p:nvSpPr>
        <p:spPr>
          <a:xfrm>
            <a:off x="640080" y="4096512"/>
            <a:ext cx="539496" cy="539496"/>
          </a:xfrm>
          <a:prstGeom prst="rect">
            <a:avLst/>
          </a:prstGeom>
          <a:solidFill>
            <a:srgbClr val="F4F7F9"/>
          </a:solidFill>
          <a:ln w="12700">
            <a:solidFill>
              <a:srgbClr val="FFFFFF"/>
            </a:solidFill>
            <a:prstDash val="solid"/>
          </a:ln>
        </p:spPr>
        <p:txBody>
          <a:bodyPr/>
          <a:lstStyle/>
          <a:p>
            <a:endParaRPr lang="en-US"/>
          </a:p>
        </p:txBody>
      </p:sp>
      <p:sp>
        <p:nvSpPr>
          <p:cNvPr id="66" name="Text 64"/>
          <p:cNvSpPr/>
          <p:nvPr/>
        </p:nvSpPr>
        <p:spPr>
          <a:xfrm>
            <a:off x="640080" y="4096512"/>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
        <p:nvSpPr>
          <p:cNvPr id="67" name="Shape 65"/>
          <p:cNvSpPr/>
          <p:nvPr/>
        </p:nvSpPr>
        <p:spPr>
          <a:xfrm>
            <a:off x="1207008" y="4096512"/>
            <a:ext cx="539496" cy="539496"/>
          </a:xfrm>
          <a:prstGeom prst="rect">
            <a:avLst/>
          </a:prstGeom>
          <a:solidFill>
            <a:srgbClr val="F4F7F9"/>
          </a:solidFill>
          <a:ln w="12700">
            <a:solidFill>
              <a:srgbClr val="FFFFFF"/>
            </a:solidFill>
            <a:prstDash val="solid"/>
          </a:ln>
        </p:spPr>
        <p:txBody>
          <a:bodyPr/>
          <a:lstStyle/>
          <a:p>
            <a:endParaRPr lang="en-US"/>
          </a:p>
        </p:txBody>
      </p:sp>
      <p:sp>
        <p:nvSpPr>
          <p:cNvPr id="68" name="Text 66"/>
          <p:cNvSpPr/>
          <p:nvPr/>
        </p:nvSpPr>
        <p:spPr>
          <a:xfrm>
            <a:off x="1207008" y="4096512"/>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
        <p:nvSpPr>
          <p:cNvPr id="69" name="Shape 67"/>
          <p:cNvSpPr/>
          <p:nvPr/>
        </p:nvSpPr>
        <p:spPr>
          <a:xfrm>
            <a:off x="1773936" y="4096512"/>
            <a:ext cx="539496" cy="539496"/>
          </a:xfrm>
          <a:prstGeom prst="rect">
            <a:avLst/>
          </a:prstGeom>
          <a:solidFill>
            <a:srgbClr val="F4F7F9"/>
          </a:solidFill>
          <a:ln w="12700">
            <a:solidFill>
              <a:srgbClr val="FFFFFF"/>
            </a:solidFill>
            <a:prstDash val="solid"/>
          </a:ln>
        </p:spPr>
        <p:txBody>
          <a:bodyPr/>
          <a:lstStyle/>
          <a:p>
            <a:endParaRPr lang="en-US"/>
          </a:p>
        </p:txBody>
      </p:sp>
      <p:sp>
        <p:nvSpPr>
          <p:cNvPr id="70" name="Text 68"/>
          <p:cNvSpPr/>
          <p:nvPr/>
        </p:nvSpPr>
        <p:spPr>
          <a:xfrm>
            <a:off x="1773936" y="4096512"/>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
        <p:nvSpPr>
          <p:cNvPr id="71" name="Shape 69"/>
          <p:cNvSpPr/>
          <p:nvPr/>
        </p:nvSpPr>
        <p:spPr>
          <a:xfrm>
            <a:off x="2340864" y="4096512"/>
            <a:ext cx="539496" cy="539496"/>
          </a:xfrm>
          <a:prstGeom prst="rect">
            <a:avLst/>
          </a:prstGeom>
          <a:solidFill>
            <a:srgbClr val="F4F7F9"/>
          </a:solidFill>
          <a:ln w="12700">
            <a:solidFill>
              <a:srgbClr val="FFFFFF"/>
            </a:solidFill>
            <a:prstDash val="solid"/>
          </a:ln>
        </p:spPr>
        <p:txBody>
          <a:bodyPr/>
          <a:lstStyle/>
          <a:p>
            <a:endParaRPr lang="en-US"/>
          </a:p>
        </p:txBody>
      </p:sp>
      <p:sp>
        <p:nvSpPr>
          <p:cNvPr id="72" name="Text 70"/>
          <p:cNvSpPr/>
          <p:nvPr/>
        </p:nvSpPr>
        <p:spPr>
          <a:xfrm>
            <a:off x="2340864" y="4096512"/>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
        <p:nvSpPr>
          <p:cNvPr id="73" name="Shape 71"/>
          <p:cNvSpPr/>
          <p:nvPr/>
        </p:nvSpPr>
        <p:spPr>
          <a:xfrm>
            <a:off x="2907792" y="4096512"/>
            <a:ext cx="539496" cy="539496"/>
          </a:xfrm>
          <a:prstGeom prst="rect">
            <a:avLst/>
          </a:prstGeom>
          <a:solidFill>
            <a:srgbClr val="065A82"/>
          </a:solidFill>
          <a:ln w="12700">
            <a:solidFill>
              <a:srgbClr val="FFFFFF"/>
            </a:solidFill>
            <a:prstDash val="solid"/>
          </a:ln>
        </p:spPr>
        <p:txBody>
          <a:bodyPr/>
          <a:lstStyle/>
          <a:p>
            <a:endParaRPr lang="en-US"/>
          </a:p>
        </p:txBody>
      </p:sp>
      <p:sp>
        <p:nvSpPr>
          <p:cNvPr id="74" name="Text 72"/>
          <p:cNvSpPr/>
          <p:nvPr/>
        </p:nvSpPr>
        <p:spPr>
          <a:xfrm>
            <a:off x="2907792" y="4096512"/>
            <a:ext cx="539496" cy="5394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92</a:t>
            </a:r>
            <a:endParaRPr lang="en-US" sz="1000" dirty="0"/>
          </a:p>
        </p:txBody>
      </p:sp>
      <p:sp>
        <p:nvSpPr>
          <p:cNvPr id="75" name="Shape 73"/>
          <p:cNvSpPr/>
          <p:nvPr/>
        </p:nvSpPr>
        <p:spPr>
          <a:xfrm>
            <a:off x="3474720" y="4096512"/>
            <a:ext cx="539496" cy="539496"/>
          </a:xfrm>
          <a:prstGeom prst="rect">
            <a:avLst/>
          </a:prstGeom>
          <a:solidFill>
            <a:srgbClr val="F4F7F9"/>
          </a:solidFill>
          <a:ln w="12700">
            <a:solidFill>
              <a:srgbClr val="FFFFFF"/>
            </a:solidFill>
            <a:prstDash val="solid"/>
          </a:ln>
        </p:spPr>
        <p:txBody>
          <a:bodyPr/>
          <a:lstStyle/>
          <a:p>
            <a:endParaRPr lang="en-US"/>
          </a:p>
        </p:txBody>
      </p:sp>
      <p:sp>
        <p:nvSpPr>
          <p:cNvPr id="76" name="Text 74"/>
          <p:cNvSpPr/>
          <p:nvPr/>
        </p:nvSpPr>
        <p:spPr>
          <a:xfrm>
            <a:off x="3474720" y="4096512"/>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
        <p:nvSpPr>
          <p:cNvPr id="77" name="Text 75"/>
          <p:cNvSpPr/>
          <p:nvPr/>
        </p:nvSpPr>
        <p:spPr>
          <a:xfrm>
            <a:off x="-91440" y="4663440"/>
            <a:ext cx="685800" cy="566928"/>
          </a:xfrm>
          <a:prstGeom prst="rect">
            <a:avLst/>
          </a:prstGeom>
          <a:noFill/>
          <a:ln/>
        </p:spPr>
        <p:txBody>
          <a:bodyPr wrap="square"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Tooth D.</a:t>
            </a:r>
            <a:endParaRPr lang="en-US" sz="850" dirty="0"/>
          </a:p>
        </p:txBody>
      </p:sp>
      <p:sp>
        <p:nvSpPr>
          <p:cNvPr id="78" name="Shape 76"/>
          <p:cNvSpPr/>
          <p:nvPr/>
        </p:nvSpPr>
        <p:spPr>
          <a:xfrm>
            <a:off x="640080" y="4663440"/>
            <a:ext cx="539496" cy="539496"/>
          </a:xfrm>
          <a:prstGeom prst="rect">
            <a:avLst/>
          </a:prstGeom>
          <a:solidFill>
            <a:srgbClr val="C0522D"/>
          </a:solidFill>
          <a:ln w="12700">
            <a:solidFill>
              <a:srgbClr val="FFFFFF"/>
            </a:solidFill>
            <a:prstDash val="solid"/>
          </a:ln>
        </p:spPr>
        <p:txBody>
          <a:bodyPr/>
          <a:lstStyle/>
          <a:p>
            <a:endParaRPr lang="en-US"/>
          </a:p>
        </p:txBody>
      </p:sp>
      <p:sp>
        <p:nvSpPr>
          <p:cNvPr id="79" name="Text 77"/>
          <p:cNvSpPr/>
          <p:nvPr/>
        </p:nvSpPr>
        <p:spPr>
          <a:xfrm>
            <a:off x="640080" y="4663440"/>
            <a:ext cx="539496" cy="539496"/>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12</a:t>
            </a:r>
            <a:endParaRPr lang="en-US" sz="1000" dirty="0"/>
          </a:p>
        </p:txBody>
      </p:sp>
      <p:sp>
        <p:nvSpPr>
          <p:cNvPr id="80" name="Shape 78"/>
          <p:cNvSpPr/>
          <p:nvPr/>
        </p:nvSpPr>
        <p:spPr>
          <a:xfrm>
            <a:off x="1207008" y="4663440"/>
            <a:ext cx="539496" cy="539496"/>
          </a:xfrm>
          <a:prstGeom prst="rect">
            <a:avLst/>
          </a:prstGeom>
          <a:solidFill>
            <a:srgbClr val="C0522D"/>
          </a:solidFill>
          <a:ln w="12700">
            <a:solidFill>
              <a:srgbClr val="FFFFFF"/>
            </a:solidFill>
            <a:prstDash val="solid"/>
          </a:ln>
        </p:spPr>
        <p:txBody>
          <a:bodyPr/>
          <a:lstStyle/>
          <a:p>
            <a:endParaRPr lang="en-US"/>
          </a:p>
        </p:txBody>
      </p:sp>
      <p:sp>
        <p:nvSpPr>
          <p:cNvPr id="81" name="Text 79"/>
          <p:cNvSpPr/>
          <p:nvPr/>
        </p:nvSpPr>
        <p:spPr>
          <a:xfrm>
            <a:off x="1207008" y="4663440"/>
            <a:ext cx="539496" cy="539496"/>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14</a:t>
            </a:r>
            <a:endParaRPr lang="en-US" sz="1000" dirty="0"/>
          </a:p>
        </p:txBody>
      </p:sp>
      <p:sp>
        <p:nvSpPr>
          <p:cNvPr id="82" name="Shape 80"/>
          <p:cNvSpPr/>
          <p:nvPr/>
        </p:nvSpPr>
        <p:spPr>
          <a:xfrm>
            <a:off x="1773936" y="4663440"/>
            <a:ext cx="539496" cy="539496"/>
          </a:xfrm>
          <a:prstGeom prst="rect">
            <a:avLst/>
          </a:prstGeom>
          <a:solidFill>
            <a:srgbClr val="F4F7F9"/>
          </a:solidFill>
          <a:ln w="12700">
            <a:solidFill>
              <a:srgbClr val="FFFFFF"/>
            </a:solidFill>
            <a:prstDash val="solid"/>
          </a:ln>
        </p:spPr>
        <p:txBody>
          <a:bodyPr/>
          <a:lstStyle/>
          <a:p>
            <a:endParaRPr lang="en-US"/>
          </a:p>
        </p:txBody>
      </p:sp>
      <p:sp>
        <p:nvSpPr>
          <p:cNvPr id="83" name="Text 81"/>
          <p:cNvSpPr/>
          <p:nvPr/>
        </p:nvSpPr>
        <p:spPr>
          <a:xfrm>
            <a:off x="1773936" y="4663440"/>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7</a:t>
            </a:r>
            <a:endParaRPr lang="en-US" sz="1000" dirty="0"/>
          </a:p>
        </p:txBody>
      </p:sp>
      <p:sp>
        <p:nvSpPr>
          <p:cNvPr id="84" name="Shape 82"/>
          <p:cNvSpPr/>
          <p:nvPr/>
        </p:nvSpPr>
        <p:spPr>
          <a:xfrm>
            <a:off x="2340864" y="4663440"/>
            <a:ext cx="539496" cy="539496"/>
          </a:xfrm>
          <a:prstGeom prst="rect">
            <a:avLst/>
          </a:prstGeom>
          <a:solidFill>
            <a:srgbClr val="F4F7F9"/>
          </a:solidFill>
          <a:ln w="12700">
            <a:solidFill>
              <a:srgbClr val="FFFFFF"/>
            </a:solidFill>
            <a:prstDash val="solid"/>
          </a:ln>
        </p:spPr>
        <p:txBody>
          <a:bodyPr/>
          <a:lstStyle/>
          <a:p>
            <a:endParaRPr lang="en-US"/>
          </a:p>
        </p:txBody>
      </p:sp>
      <p:sp>
        <p:nvSpPr>
          <p:cNvPr id="85" name="Text 83"/>
          <p:cNvSpPr/>
          <p:nvPr/>
        </p:nvSpPr>
        <p:spPr>
          <a:xfrm>
            <a:off x="2340864" y="4663440"/>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
        <p:nvSpPr>
          <p:cNvPr id="86" name="Shape 84"/>
          <p:cNvSpPr/>
          <p:nvPr/>
        </p:nvSpPr>
        <p:spPr>
          <a:xfrm>
            <a:off x="2907792" y="4663440"/>
            <a:ext cx="539496" cy="539496"/>
          </a:xfrm>
          <a:prstGeom prst="rect">
            <a:avLst/>
          </a:prstGeom>
          <a:solidFill>
            <a:srgbClr val="F4F7F9"/>
          </a:solidFill>
          <a:ln w="12700">
            <a:solidFill>
              <a:srgbClr val="FFFFFF"/>
            </a:solidFill>
            <a:prstDash val="solid"/>
          </a:ln>
        </p:spPr>
        <p:txBody>
          <a:bodyPr/>
          <a:lstStyle/>
          <a:p>
            <a:endParaRPr lang="en-US"/>
          </a:p>
        </p:txBody>
      </p:sp>
      <p:sp>
        <p:nvSpPr>
          <p:cNvPr id="87" name="Text 85"/>
          <p:cNvSpPr/>
          <p:nvPr/>
        </p:nvSpPr>
        <p:spPr>
          <a:xfrm>
            <a:off x="2907792" y="4663440"/>
            <a:ext cx="539496" cy="539496"/>
          </a:xfrm>
          <a:prstGeom prst="rect">
            <a:avLst/>
          </a:prstGeom>
          <a:noFill/>
          <a:ln/>
        </p:spPr>
        <p:txBody>
          <a:bodyPr wrap="square" rtlCol="0" anchor="ctr"/>
          <a:lstStyle/>
          <a:p>
            <a:pPr marL="0" indent="0" algn="ctr">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
        <p:nvSpPr>
          <p:cNvPr id="88" name="Shape 86"/>
          <p:cNvSpPr/>
          <p:nvPr/>
        </p:nvSpPr>
        <p:spPr>
          <a:xfrm>
            <a:off x="3474720" y="4663440"/>
            <a:ext cx="539496" cy="539496"/>
          </a:xfrm>
          <a:prstGeom prst="rect">
            <a:avLst/>
          </a:prstGeom>
          <a:solidFill>
            <a:srgbClr val="065A82"/>
          </a:solidFill>
          <a:ln w="12700">
            <a:solidFill>
              <a:srgbClr val="FFFFFF"/>
            </a:solidFill>
            <a:prstDash val="solid"/>
          </a:ln>
        </p:spPr>
        <p:txBody>
          <a:bodyPr/>
          <a:lstStyle/>
          <a:p>
            <a:endParaRPr lang="en-US"/>
          </a:p>
        </p:txBody>
      </p:sp>
      <p:sp>
        <p:nvSpPr>
          <p:cNvPr id="89" name="Text 87"/>
          <p:cNvSpPr/>
          <p:nvPr/>
        </p:nvSpPr>
        <p:spPr>
          <a:xfrm>
            <a:off x="3474720" y="4663440"/>
            <a:ext cx="539496" cy="5394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52</a:t>
            </a:r>
            <a:endParaRPr lang="en-US" sz="1000" dirty="0"/>
          </a:p>
        </p:txBody>
      </p:sp>
      <p:sp>
        <p:nvSpPr>
          <p:cNvPr id="90" name="Text 88"/>
          <p:cNvSpPr/>
          <p:nvPr/>
        </p:nvSpPr>
        <p:spPr>
          <a:xfrm>
            <a:off x="-91440" y="5367528"/>
            <a:ext cx="7315200" cy="320040"/>
          </a:xfrm>
          <a:prstGeom prst="rect">
            <a:avLst/>
          </a:prstGeom>
          <a:noFill/>
          <a:ln/>
        </p:spPr>
        <p:txBody>
          <a:bodyPr wrap="square" rtlCol="0" anchor="ctr"/>
          <a:lstStyle/>
          <a:p>
            <a:pPr marL="0" indent="0">
              <a:buNone/>
            </a:pPr>
            <a:r>
              <a:rPr lang="en-US" sz="1000" i="1" dirty="0">
                <a:solidFill>
                  <a:srgbClr val="5B6B79"/>
                </a:solidFill>
                <a:latin typeface="Calibri" pitchFamily="34" charset="0"/>
                <a:ea typeface="Calibri" pitchFamily="34" charset="-122"/>
                <a:cs typeface="Calibri" pitchFamily="34" charset="-120"/>
              </a:rPr>
              <a:t>Illustrative confusion matrix (%), EfficientNetB0 — diagonal = correct; dark orange = notable confusion.</a:t>
            </a:r>
            <a:endParaRPr lang="en-US" sz="1000" dirty="0"/>
          </a:p>
        </p:txBody>
      </p:sp>
      <p:sp>
        <p:nvSpPr>
          <p:cNvPr id="91" name="Shape 89"/>
          <p:cNvSpPr/>
          <p:nvPr/>
        </p:nvSpPr>
        <p:spPr>
          <a:xfrm>
            <a:off x="7589520" y="1783080"/>
            <a:ext cx="4023360" cy="4251960"/>
          </a:xfrm>
          <a:prstGeom prst="roundRect">
            <a:avLst>
              <a:gd name="adj" fmla="val 2045"/>
            </a:avLst>
          </a:prstGeom>
          <a:solidFill>
            <a:srgbClr val="F4F7F9"/>
          </a:solidFill>
          <a:ln/>
        </p:spPr>
        <p:txBody>
          <a:bodyPr/>
          <a:lstStyle/>
          <a:p>
            <a:endParaRPr lang="en-US"/>
          </a:p>
        </p:txBody>
      </p:sp>
      <p:sp>
        <p:nvSpPr>
          <p:cNvPr id="92" name="Text 90"/>
          <p:cNvSpPr/>
          <p:nvPr/>
        </p:nvSpPr>
        <p:spPr>
          <a:xfrm>
            <a:off x="7863840" y="2011680"/>
            <a:ext cx="3474720" cy="274320"/>
          </a:xfrm>
          <a:prstGeom prst="rect">
            <a:avLst/>
          </a:prstGeom>
          <a:noFill/>
          <a:ln/>
        </p:spPr>
        <p:txBody>
          <a:bodyPr wrap="square" rtlCol="0" anchor="ctr"/>
          <a:lstStyle/>
          <a:p>
            <a:pPr marL="0" indent="0">
              <a:buNone/>
            </a:pPr>
            <a:r>
              <a:rPr lang="en-US" sz="1100" b="1" kern="0" spc="120" dirty="0">
                <a:solidFill>
                  <a:srgbClr val="1C7293"/>
                </a:solidFill>
                <a:latin typeface="Calibri" pitchFamily="34" charset="0"/>
                <a:ea typeface="Calibri" pitchFamily="34" charset="-122"/>
                <a:cs typeface="Calibri" pitchFamily="34" charset="-120"/>
              </a:rPr>
              <a:t>MAIN CONFUSION PATTERNS</a:t>
            </a:r>
            <a:endParaRPr lang="en-US" sz="1100" dirty="0"/>
          </a:p>
        </p:txBody>
      </p:sp>
      <p:sp>
        <p:nvSpPr>
          <p:cNvPr id="93" name="Shape 91"/>
          <p:cNvSpPr/>
          <p:nvPr/>
        </p:nvSpPr>
        <p:spPr>
          <a:xfrm>
            <a:off x="7909560" y="2450592"/>
            <a:ext cx="82296" cy="82296"/>
          </a:xfrm>
          <a:prstGeom prst="ellipse">
            <a:avLst/>
          </a:prstGeom>
          <a:solidFill>
            <a:srgbClr val="C0522D"/>
          </a:solidFill>
          <a:ln/>
        </p:spPr>
        <p:txBody>
          <a:bodyPr/>
          <a:lstStyle/>
          <a:p>
            <a:endParaRPr lang="en-US"/>
          </a:p>
        </p:txBody>
      </p:sp>
      <p:sp>
        <p:nvSpPr>
          <p:cNvPr id="94" name="Text 92"/>
          <p:cNvSpPr/>
          <p:nvPr/>
        </p:nvSpPr>
        <p:spPr>
          <a:xfrm>
            <a:off x="8138160" y="2286000"/>
            <a:ext cx="3383280" cy="960120"/>
          </a:xfrm>
          <a:prstGeom prst="rect">
            <a:avLst/>
          </a:prstGeom>
          <a:noFill/>
          <a:ln/>
        </p:spPr>
        <p:txBody>
          <a:bodyPr wrap="square" rtlCol="0" anchor="ctr"/>
          <a:lstStyle/>
          <a:p>
            <a:pPr marL="0" indent="0">
              <a:lnSpc>
                <a:spcPct val="120000"/>
              </a:lnSpc>
              <a:buNone/>
            </a:pPr>
            <a:r>
              <a:rPr lang="en-US" sz="1150" dirty="0">
                <a:solidFill>
                  <a:srgbClr val="1B2430"/>
                </a:solidFill>
                <a:latin typeface="Calibri" pitchFamily="34" charset="0"/>
                <a:ea typeface="Calibri" pitchFamily="34" charset="-122"/>
                <a:cs typeface="Calibri" pitchFamily="34" charset="-120"/>
              </a:rPr>
              <a:t>Tooth Discoloration is frequently mispredicted as Caries or Calculus — all three can present as darkened/spotted enamel regions.</a:t>
            </a:r>
            <a:endParaRPr lang="en-US" sz="1150" dirty="0"/>
          </a:p>
        </p:txBody>
      </p:sp>
      <p:sp>
        <p:nvSpPr>
          <p:cNvPr id="95" name="Shape 93"/>
          <p:cNvSpPr/>
          <p:nvPr/>
        </p:nvSpPr>
        <p:spPr>
          <a:xfrm>
            <a:off x="7909560" y="3593592"/>
            <a:ext cx="82296" cy="82296"/>
          </a:xfrm>
          <a:prstGeom prst="ellipse">
            <a:avLst/>
          </a:prstGeom>
          <a:solidFill>
            <a:srgbClr val="C0522D"/>
          </a:solidFill>
          <a:ln/>
        </p:spPr>
        <p:txBody>
          <a:bodyPr/>
          <a:lstStyle/>
          <a:p>
            <a:endParaRPr lang="en-US"/>
          </a:p>
        </p:txBody>
      </p:sp>
      <p:sp>
        <p:nvSpPr>
          <p:cNvPr id="96" name="Text 94"/>
          <p:cNvSpPr/>
          <p:nvPr/>
        </p:nvSpPr>
        <p:spPr>
          <a:xfrm>
            <a:off x="8138160" y="3429000"/>
            <a:ext cx="3383280" cy="960120"/>
          </a:xfrm>
          <a:prstGeom prst="rect">
            <a:avLst/>
          </a:prstGeom>
          <a:noFill/>
          <a:ln/>
        </p:spPr>
        <p:txBody>
          <a:bodyPr wrap="square" rtlCol="0" anchor="ctr"/>
          <a:lstStyle/>
          <a:p>
            <a:pPr marL="0" indent="0">
              <a:lnSpc>
                <a:spcPct val="120000"/>
              </a:lnSpc>
              <a:buNone/>
            </a:pPr>
            <a:r>
              <a:rPr lang="en-US" sz="1150" dirty="0">
                <a:solidFill>
                  <a:srgbClr val="1B2430"/>
                </a:solidFill>
                <a:latin typeface="Calibri" pitchFamily="34" charset="0"/>
                <a:ea typeface="Calibri" pitchFamily="34" charset="-122"/>
                <a:cs typeface="Calibri" pitchFamily="34" charset="-120"/>
              </a:rPr>
              <a:t>Calculus and Caries are mutually confused — both often co-occur on the same tooth surface in real patients.</a:t>
            </a:r>
            <a:endParaRPr lang="en-US" sz="1150" dirty="0"/>
          </a:p>
        </p:txBody>
      </p:sp>
      <p:sp>
        <p:nvSpPr>
          <p:cNvPr id="97" name="Shape 95"/>
          <p:cNvSpPr/>
          <p:nvPr/>
        </p:nvSpPr>
        <p:spPr>
          <a:xfrm>
            <a:off x="7909560" y="4736592"/>
            <a:ext cx="82296" cy="82296"/>
          </a:xfrm>
          <a:prstGeom prst="ellipse">
            <a:avLst/>
          </a:prstGeom>
          <a:solidFill>
            <a:srgbClr val="C0522D"/>
          </a:solidFill>
          <a:ln/>
        </p:spPr>
        <p:txBody>
          <a:bodyPr/>
          <a:lstStyle/>
          <a:p>
            <a:endParaRPr lang="en-US"/>
          </a:p>
        </p:txBody>
      </p:sp>
      <p:sp>
        <p:nvSpPr>
          <p:cNvPr id="98" name="Text 96"/>
          <p:cNvSpPr/>
          <p:nvPr/>
        </p:nvSpPr>
        <p:spPr>
          <a:xfrm>
            <a:off x="8138160" y="4572000"/>
            <a:ext cx="3383280" cy="960120"/>
          </a:xfrm>
          <a:prstGeom prst="rect">
            <a:avLst/>
          </a:prstGeom>
          <a:noFill/>
          <a:ln/>
        </p:spPr>
        <p:txBody>
          <a:bodyPr wrap="square" rtlCol="0" anchor="ctr"/>
          <a:lstStyle/>
          <a:p>
            <a:pPr marL="0" indent="0">
              <a:lnSpc>
                <a:spcPct val="120000"/>
              </a:lnSpc>
              <a:buNone/>
            </a:pPr>
            <a:r>
              <a:rPr lang="en-US" sz="1150" dirty="0">
                <a:solidFill>
                  <a:srgbClr val="1B2430"/>
                </a:solidFill>
                <a:latin typeface="Calibri" pitchFamily="34" charset="0"/>
                <a:ea typeface="Calibri" pitchFamily="34" charset="-122"/>
                <a:cs typeface="Calibri" pitchFamily="34" charset="-120"/>
              </a:rPr>
              <a:t>Hypodontia and Mouth Ulcer stay clean — structurally distinctive (missing teeth / open sores) versus subtle surface discoloration.</a:t>
            </a:r>
            <a:endParaRPr lang="en-US" sz="1150" dirty="0"/>
          </a:p>
        </p:txBody>
      </p:sp>
      <p:sp>
        <p:nvSpPr>
          <p:cNvPr id="99" name="Text 97"/>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100" name="Text 98"/>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CHALLENGES &amp; SOLUTIONS (1/2)</a:t>
            </a:r>
            <a:endParaRPr lang="en-US" sz="13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Data &amp; Preprocessing Challenges</a:t>
            </a:r>
            <a:endParaRPr lang="en-US" sz="3200" dirty="0"/>
          </a:p>
        </p:txBody>
      </p:sp>
      <p:sp>
        <p:nvSpPr>
          <p:cNvPr id="4" name="Shape 2"/>
          <p:cNvSpPr/>
          <p:nvPr/>
        </p:nvSpPr>
        <p:spPr>
          <a:xfrm>
            <a:off x="548640" y="1783080"/>
            <a:ext cx="11064240" cy="1325880"/>
          </a:xfrm>
          <a:prstGeom prst="roundRect">
            <a:avLst>
              <a:gd name="adj" fmla="val 6207"/>
            </a:avLst>
          </a:prstGeom>
          <a:solidFill>
            <a:srgbClr val="F4F7F9"/>
          </a:solidFill>
          <a:ln/>
        </p:spPr>
        <p:txBody>
          <a:bodyPr/>
          <a:lstStyle/>
          <a:p>
            <a:endParaRPr lang="en-US"/>
          </a:p>
        </p:txBody>
      </p:sp>
      <p:sp>
        <p:nvSpPr>
          <p:cNvPr id="5" name="Shape 3"/>
          <p:cNvSpPr/>
          <p:nvPr/>
        </p:nvSpPr>
        <p:spPr>
          <a:xfrm>
            <a:off x="777240" y="2039112"/>
            <a:ext cx="502920" cy="502920"/>
          </a:xfrm>
          <a:prstGeom prst="ellipse">
            <a:avLst/>
          </a:prstGeom>
          <a:solidFill>
            <a:srgbClr val="FFFFFF"/>
          </a:solidFill>
          <a:ln/>
        </p:spPr>
        <p:txBody>
          <a:bodyPr/>
          <a:lstStyle/>
          <a:p>
            <a:endParaRPr lang="en-US"/>
          </a:p>
        </p:txBody>
      </p:sp>
      <p:pic>
        <p:nvPicPr>
          <p:cNvPr id="6" name="Image 0" descr="icons/warning_C0522D.png"/>
          <p:cNvPicPr>
            <a:picLocks noChangeAspect="1"/>
          </p:cNvPicPr>
          <p:nvPr/>
        </p:nvPicPr>
        <p:blipFill>
          <a:blip r:embed="rId3"/>
          <a:stretch>
            <a:fillRect/>
          </a:stretch>
        </p:blipFill>
        <p:spPr>
          <a:xfrm>
            <a:off x="897941" y="2159813"/>
            <a:ext cx="261518" cy="261518"/>
          </a:xfrm>
          <a:prstGeom prst="rect">
            <a:avLst/>
          </a:prstGeom>
        </p:spPr>
      </p:pic>
      <p:sp>
        <p:nvSpPr>
          <p:cNvPr id="7" name="Text 4"/>
          <p:cNvSpPr/>
          <p:nvPr/>
        </p:nvSpPr>
        <p:spPr>
          <a:xfrm>
            <a:off x="1508760" y="1920240"/>
            <a:ext cx="3017520" cy="64008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Dataset Imbalance</a:t>
            </a:r>
            <a:endParaRPr lang="en-US" sz="1450" dirty="0"/>
          </a:p>
        </p:txBody>
      </p:sp>
      <p:sp>
        <p:nvSpPr>
          <p:cNvPr id="8" name="Text 5"/>
          <p:cNvSpPr/>
          <p:nvPr/>
        </p:nvSpPr>
        <p:spPr>
          <a:xfrm>
            <a:off x="4663440" y="1892808"/>
            <a:ext cx="3429000" cy="1097280"/>
          </a:xfrm>
          <a:prstGeom prst="rect">
            <a:avLst/>
          </a:prstGeom>
          <a:noFill/>
          <a:ln/>
        </p:spPr>
        <p:txBody>
          <a:bodyPr wrap="square" rtlCol="0" anchor="ctr"/>
          <a:lstStyle/>
          <a:p>
            <a:pPr marL="0" indent="0">
              <a:lnSpc>
                <a:spcPct val="120000"/>
              </a:lnSpc>
              <a:buNone/>
            </a:pPr>
            <a:r>
              <a:rPr lang="en-US" sz="1100" dirty="0">
                <a:solidFill>
                  <a:srgbClr val="5B6B79"/>
                </a:solidFill>
                <a:latin typeface="Calibri" pitchFamily="34" charset="0"/>
                <a:ea typeface="Calibri" pitchFamily="34" charset="-122"/>
                <a:cs typeface="Calibri" pitchFamily="34" charset="-120"/>
              </a:rPr>
              <a:t>Some classes (e.g. Hypodontia) had far fewer images than others like Gingivitis.</a:t>
            </a:r>
            <a:endParaRPr lang="en-US" sz="1100" dirty="0"/>
          </a:p>
        </p:txBody>
      </p:sp>
      <p:sp>
        <p:nvSpPr>
          <p:cNvPr id="9" name="Shape 6"/>
          <p:cNvSpPr/>
          <p:nvPr/>
        </p:nvSpPr>
        <p:spPr>
          <a:xfrm>
            <a:off x="8183880" y="1947672"/>
            <a:ext cx="0" cy="1005840"/>
          </a:xfrm>
          <a:prstGeom prst="line">
            <a:avLst/>
          </a:prstGeom>
          <a:noFill/>
          <a:ln w="12700">
            <a:solidFill>
              <a:srgbClr val="D7E0E6"/>
            </a:solidFill>
            <a:prstDash val="solid"/>
          </a:ln>
        </p:spPr>
        <p:txBody>
          <a:bodyPr/>
          <a:lstStyle/>
          <a:p>
            <a:endParaRPr lang="en-US"/>
          </a:p>
        </p:txBody>
      </p:sp>
      <p:sp>
        <p:nvSpPr>
          <p:cNvPr id="10" name="Text 7"/>
          <p:cNvSpPr/>
          <p:nvPr/>
        </p:nvSpPr>
        <p:spPr>
          <a:xfrm>
            <a:off x="8321040" y="1892808"/>
            <a:ext cx="3154680" cy="1097280"/>
          </a:xfrm>
          <a:prstGeom prst="rect">
            <a:avLst/>
          </a:prstGeom>
          <a:noFill/>
          <a:ln/>
        </p:spPr>
        <p:txBody>
          <a:bodyPr wrap="square" rtlCol="0" anchor="ctr"/>
          <a:lstStyle/>
          <a:p>
            <a:pPr marL="0" indent="0">
              <a:lnSpc>
                <a:spcPct val="120000"/>
              </a:lnSpc>
              <a:buNone/>
            </a:pPr>
            <a:r>
              <a:rPr lang="en-US" sz="1080" dirty="0">
                <a:solidFill>
                  <a:srgbClr val="1C9C6E"/>
                </a:solidFill>
                <a:latin typeface="Calibri" pitchFamily="34" charset="0"/>
                <a:ea typeface="Calibri" pitchFamily="34" charset="-122"/>
                <a:cs typeface="Calibri" pitchFamily="34" charset="-120"/>
              </a:rPr>
              <a:t>✓ Addressed with heavier augmentation on minority classes and close monitoring of per-class recall, not just overall accuracy.</a:t>
            </a:r>
            <a:endParaRPr lang="en-US" sz="1080" dirty="0"/>
          </a:p>
        </p:txBody>
      </p:sp>
      <p:sp>
        <p:nvSpPr>
          <p:cNvPr id="11" name="Shape 8"/>
          <p:cNvSpPr/>
          <p:nvPr/>
        </p:nvSpPr>
        <p:spPr>
          <a:xfrm>
            <a:off x="548640" y="3246120"/>
            <a:ext cx="11064240" cy="1325880"/>
          </a:xfrm>
          <a:prstGeom prst="roundRect">
            <a:avLst>
              <a:gd name="adj" fmla="val 6207"/>
            </a:avLst>
          </a:prstGeom>
          <a:solidFill>
            <a:srgbClr val="F4F7F9"/>
          </a:solidFill>
          <a:ln/>
        </p:spPr>
        <p:txBody>
          <a:bodyPr/>
          <a:lstStyle/>
          <a:p>
            <a:endParaRPr lang="en-US"/>
          </a:p>
        </p:txBody>
      </p:sp>
      <p:sp>
        <p:nvSpPr>
          <p:cNvPr id="12" name="Shape 9"/>
          <p:cNvSpPr/>
          <p:nvPr/>
        </p:nvSpPr>
        <p:spPr>
          <a:xfrm>
            <a:off x="777240" y="3502152"/>
            <a:ext cx="502920" cy="502920"/>
          </a:xfrm>
          <a:prstGeom prst="ellipse">
            <a:avLst/>
          </a:prstGeom>
          <a:solidFill>
            <a:srgbClr val="FFFFFF"/>
          </a:solidFill>
          <a:ln/>
        </p:spPr>
        <p:txBody>
          <a:bodyPr/>
          <a:lstStyle/>
          <a:p>
            <a:endParaRPr lang="en-US"/>
          </a:p>
        </p:txBody>
      </p:sp>
      <p:pic>
        <p:nvPicPr>
          <p:cNvPr id="13" name="Image 1" descr="icons/warning_C0522D.png"/>
          <p:cNvPicPr>
            <a:picLocks noChangeAspect="1"/>
          </p:cNvPicPr>
          <p:nvPr/>
        </p:nvPicPr>
        <p:blipFill>
          <a:blip r:embed="rId3"/>
          <a:stretch>
            <a:fillRect/>
          </a:stretch>
        </p:blipFill>
        <p:spPr>
          <a:xfrm>
            <a:off x="897941" y="3622853"/>
            <a:ext cx="261518" cy="261518"/>
          </a:xfrm>
          <a:prstGeom prst="rect">
            <a:avLst/>
          </a:prstGeom>
        </p:spPr>
      </p:pic>
      <p:sp>
        <p:nvSpPr>
          <p:cNvPr id="14" name="Text 10"/>
          <p:cNvSpPr/>
          <p:nvPr/>
        </p:nvSpPr>
        <p:spPr>
          <a:xfrm>
            <a:off x="1508760" y="3383280"/>
            <a:ext cx="3017520" cy="64008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Choosing Suitable Augmentation</a:t>
            </a:r>
            <a:endParaRPr lang="en-US" sz="1450" dirty="0"/>
          </a:p>
        </p:txBody>
      </p:sp>
      <p:sp>
        <p:nvSpPr>
          <p:cNvPr id="15" name="Text 11"/>
          <p:cNvSpPr/>
          <p:nvPr/>
        </p:nvSpPr>
        <p:spPr>
          <a:xfrm>
            <a:off x="4663440" y="3355848"/>
            <a:ext cx="3429000" cy="1097280"/>
          </a:xfrm>
          <a:prstGeom prst="rect">
            <a:avLst/>
          </a:prstGeom>
          <a:noFill/>
          <a:ln/>
        </p:spPr>
        <p:txBody>
          <a:bodyPr wrap="square" rtlCol="0" anchor="ctr"/>
          <a:lstStyle/>
          <a:p>
            <a:pPr marL="0" indent="0">
              <a:lnSpc>
                <a:spcPct val="120000"/>
              </a:lnSpc>
              <a:buNone/>
            </a:pPr>
            <a:r>
              <a:rPr lang="en-US" sz="1100" dirty="0">
                <a:solidFill>
                  <a:srgbClr val="5B6B79"/>
                </a:solidFill>
                <a:latin typeface="Calibri" pitchFamily="34" charset="0"/>
                <a:ea typeface="Calibri" pitchFamily="34" charset="-122"/>
                <a:cs typeface="Calibri" pitchFamily="34" charset="-120"/>
              </a:rPr>
              <a:t>Overly aggressive transforms risked destroying clinically meaningful detail (e.g. subtle discoloration).</a:t>
            </a:r>
            <a:endParaRPr lang="en-US" sz="1100" dirty="0"/>
          </a:p>
        </p:txBody>
      </p:sp>
      <p:sp>
        <p:nvSpPr>
          <p:cNvPr id="16" name="Shape 12"/>
          <p:cNvSpPr/>
          <p:nvPr/>
        </p:nvSpPr>
        <p:spPr>
          <a:xfrm>
            <a:off x="8183880" y="3410712"/>
            <a:ext cx="0" cy="1005840"/>
          </a:xfrm>
          <a:prstGeom prst="line">
            <a:avLst/>
          </a:prstGeom>
          <a:noFill/>
          <a:ln w="12700">
            <a:solidFill>
              <a:srgbClr val="D7E0E6"/>
            </a:solidFill>
            <a:prstDash val="solid"/>
          </a:ln>
        </p:spPr>
        <p:txBody>
          <a:bodyPr/>
          <a:lstStyle/>
          <a:p>
            <a:endParaRPr lang="en-US"/>
          </a:p>
        </p:txBody>
      </p:sp>
      <p:sp>
        <p:nvSpPr>
          <p:cNvPr id="17" name="Text 13"/>
          <p:cNvSpPr/>
          <p:nvPr/>
        </p:nvSpPr>
        <p:spPr>
          <a:xfrm>
            <a:off x="8321040" y="3355848"/>
            <a:ext cx="3154680" cy="1097280"/>
          </a:xfrm>
          <a:prstGeom prst="rect">
            <a:avLst/>
          </a:prstGeom>
          <a:noFill/>
          <a:ln/>
        </p:spPr>
        <p:txBody>
          <a:bodyPr wrap="square" rtlCol="0" anchor="ctr"/>
          <a:lstStyle/>
          <a:p>
            <a:pPr marL="0" indent="0">
              <a:lnSpc>
                <a:spcPct val="120000"/>
              </a:lnSpc>
              <a:buNone/>
            </a:pPr>
            <a:r>
              <a:rPr lang="en-US" sz="1080" dirty="0">
                <a:solidFill>
                  <a:srgbClr val="1C9C6E"/>
                </a:solidFill>
                <a:latin typeface="Calibri" pitchFamily="34" charset="0"/>
                <a:ea typeface="Calibri" pitchFamily="34" charset="-122"/>
                <a:cs typeface="Calibri" pitchFamily="34" charset="-120"/>
              </a:rPr>
              <a:t>✓ Tuned augmentation ranges conservatively and validated visually that augmented samples still looked clinically plausible.</a:t>
            </a:r>
            <a:endParaRPr lang="en-US" sz="1080" dirty="0"/>
          </a:p>
        </p:txBody>
      </p:sp>
      <p:sp>
        <p:nvSpPr>
          <p:cNvPr id="18" name="Shape 14"/>
          <p:cNvSpPr/>
          <p:nvPr/>
        </p:nvSpPr>
        <p:spPr>
          <a:xfrm>
            <a:off x="548640" y="4709160"/>
            <a:ext cx="11064240" cy="1325880"/>
          </a:xfrm>
          <a:prstGeom prst="roundRect">
            <a:avLst>
              <a:gd name="adj" fmla="val 6207"/>
            </a:avLst>
          </a:prstGeom>
          <a:solidFill>
            <a:srgbClr val="F4F7F9"/>
          </a:solidFill>
          <a:ln/>
        </p:spPr>
        <p:txBody>
          <a:bodyPr/>
          <a:lstStyle/>
          <a:p>
            <a:endParaRPr lang="en-US"/>
          </a:p>
        </p:txBody>
      </p:sp>
      <p:sp>
        <p:nvSpPr>
          <p:cNvPr id="19" name="Shape 15"/>
          <p:cNvSpPr/>
          <p:nvPr/>
        </p:nvSpPr>
        <p:spPr>
          <a:xfrm>
            <a:off x="777240" y="4965192"/>
            <a:ext cx="502920" cy="502920"/>
          </a:xfrm>
          <a:prstGeom prst="ellipse">
            <a:avLst/>
          </a:prstGeom>
          <a:solidFill>
            <a:srgbClr val="FFFFFF"/>
          </a:solidFill>
          <a:ln/>
        </p:spPr>
        <p:txBody>
          <a:bodyPr/>
          <a:lstStyle/>
          <a:p>
            <a:endParaRPr lang="en-US"/>
          </a:p>
        </p:txBody>
      </p:sp>
      <p:pic>
        <p:nvPicPr>
          <p:cNvPr id="20" name="Image 2" descr="icons/warning_C0522D.png"/>
          <p:cNvPicPr>
            <a:picLocks noChangeAspect="1"/>
          </p:cNvPicPr>
          <p:nvPr/>
        </p:nvPicPr>
        <p:blipFill>
          <a:blip r:embed="rId3"/>
          <a:stretch>
            <a:fillRect/>
          </a:stretch>
        </p:blipFill>
        <p:spPr>
          <a:xfrm>
            <a:off x="897941" y="5085893"/>
            <a:ext cx="261518" cy="261518"/>
          </a:xfrm>
          <a:prstGeom prst="rect">
            <a:avLst/>
          </a:prstGeom>
        </p:spPr>
      </p:pic>
      <p:sp>
        <p:nvSpPr>
          <p:cNvPr id="21" name="Text 16"/>
          <p:cNvSpPr/>
          <p:nvPr/>
        </p:nvSpPr>
        <p:spPr>
          <a:xfrm>
            <a:off x="1508760" y="4846320"/>
            <a:ext cx="3017520" cy="64008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Wrong Preprocessing for Pretrained Models</a:t>
            </a:r>
            <a:endParaRPr lang="en-US" sz="1450" dirty="0"/>
          </a:p>
        </p:txBody>
      </p:sp>
      <p:sp>
        <p:nvSpPr>
          <p:cNvPr id="22" name="Text 17"/>
          <p:cNvSpPr/>
          <p:nvPr/>
        </p:nvSpPr>
        <p:spPr>
          <a:xfrm>
            <a:off x="4663440" y="4818888"/>
            <a:ext cx="3429000" cy="1097280"/>
          </a:xfrm>
          <a:prstGeom prst="rect">
            <a:avLst/>
          </a:prstGeom>
          <a:noFill/>
          <a:ln/>
        </p:spPr>
        <p:txBody>
          <a:bodyPr wrap="square" rtlCol="0" anchor="ctr"/>
          <a:lstStyle/>
          <a:p>
            <a:pPr marL="0" indent="0">
              <a:lnSpc>
                <a:spcPct val="120000"/>
              </a:lnSpc>
              <a:buNone/>
            </a:pPr>
            <a:r>
              <a:rPr lang="en-US" sz="1100" dirty="0">
                <a:solidFill>
                  <a:srgbClr val="5B6B79"/>
                </a:solidFill>
                <a:latin typeface="Calibri" pitchFamily="34" charset="0"/>
                <a:ea typeface="Calibri" pitchFamily="34" charset="-122"/>
                <a:cs typeface="Calibri" pitchFamily="34" charset="-120"/>
              </a:rPr>
              <a:t>Initially applied the same normalization to all backbones, silently hurting transfer learning accuracy.</a:t>
            </a:r>
            <a:endParaRPr lang="en-US" sz="1100" dirty="0"/>
          </a:p>
        </p:txBody>
      </p:sp>
      <p:sp>
        <p:nvSpPr>
          <p:cNvPr id="23" name="Shape 18"/>
          <p:cNvSpPr/>
          <p:nvPr/>
        </p:nvSpPr>
        <p:spPr>
          <a:xfrm>
            <a:off x="8183880" y="4873752"/>
            <a:ext cx="0" cy="1005840"/>
          </a:xfrm>
          <a:prstGeom prst="line">
            <a:avLst/>
          </a:prstGeom>
          <a:noFill/>
          <a:ln w="12700">
            <a:solidFill>
              <a:srgbClr val="D7E0E6"/>
            </a:solidFill>
            <a:prstDash val="solid"/>
          </a:ln>
        </p:spPr>
        <p:txBody>
          <a:bodyPr/>
          <a:lstStyle/>
          <a:p>
            <a:endParaRPr lang="en-US"/>
          </a:p>
        </p:txBody>
      </p:sp>
      <p:sp>
        <p:nvSpPr>
          <p:cNvPr id="24" name="Text 19"/>
          <p:cNvSpPr/>
          <p:nvPr/>
        </p:nvSpPr>
        <p:spPr>
          <a:xfrm>
            <a:off x="8321040" y="4818888"/>
            <a:ext cx="3154680" cy="1097280"/>
          </a:xfrm>
          <a:prstGeom prst="rect">
            <a:avLst/>
          </a:prstGeom>
          <a:noFill/>
          <a:ln/>
        </p:spPr>
        <p:txBody>
          <a:bodyPr wrap="square" rtlCol="0" anchor="ctr"/>
          <a:lstStyle/>
          <a:p>
            <a:pPr marL="0" indent="0">
              <a:lnSpc>
                <a:spcPct val="120000"/>
              </a:lnSpc>
              <a:buNone/>
            </a:pPr>
            <a:r>
              <a:rPr lang="en-US" sz="1080" dirty="0">
                <a:solidFill>
                  <a:srgbClr val="1C9C6E"/>
                </a:solidFill>
                <a:latin typeface="Calibri" pitchFamily="34" charset="0"/>
                <a:ea typeface="Calibri" pitchFamily="34" charset="-122"/>
                <a:cs typeface="Calibri" pitchFamily="34" charset="-120"/>
              </a:rPr>
              <a:t>✓ Matched each model to its correct Keras preprocess_input function (EfficientNet ≠ ResNet50 ≠ MobileNetV2).</a:t>
            </a:r>
            <a:endParaRPr lang="en-US" sz="1080" dirty="0"/>
          </a:p>
        </p:txBody>
      </p:sp>
      <p:sp>
        <p:nvSpPr>
          <p:cNvPr id="25" name="Text 20"/>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26" name="Text 21"/>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CHALLENGES &amp; SOLUTIONS (2/2)</a:t>
            </a:r>
            <a:endParaRPr lang="en-US" sz="13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Training &amp; Modeling Challenges</a:t>
            </a:r>
            <a:endParaRPr lang="en-US" sz="3200" dirty="0"/>
          </a:p>
        </p:txBody>
      </p:sp>
      <p:sp>
        <p:nvSpPr>
          <p:cNvPr id="4" name="Shape 2"/>
          <p:cNvSpPr/>
          <p:nvPr/>
        </p:nvSpPr>
        <p:spPr>
          <a:xfrm>
            <a:off x="548640" y="1783080"/>
            <a:ext cx="11064240" cy="1325880"/>
          </a:xfrm>
          <a:prstGeom prst="roundRect">
            <a:avLst>
              <a:gd name="adj" fmla="val 6207"/>
            </a:avLst>
          </a:prstGeom>
          <a:solidFill>
            <a:srgbClr val="F4F7F9"/>
          </a:solidFill>
          <a:ln/>
        </p:spPr>
        <p:txBody>
          <a:bodyPr/>
          <a:lstStyle/>
          <a:p>
            <a:endParaRPr lang="en-US"/>
          </a:p>
        </p:txBody>
      </p:sp>
      <p:sp>
        <p:nvSpPr>
          <p:cNvPr id="5" name="Shape 3"/>
          <p:cNvSpPr/>
          <p:nvPr/>
        </p:nvSpPr>
        <p:spPr>
          <a:xfrm>
            <a:off x="777240" y="2039112"/>
            <a:ext cx="502920" cy="502920"/>
          </a:xfrm>
          <a:prstGeom prst="ellipse">
            <a:avLst/>
          </a:prstGeom>
          <a:solidFill>
            <a:srgbClr val="FFFFFF"/>
          </a:solidFill>
          <a:ln/>
        </p:spPr>
        <p:txBody>
          <a:bodyPr/>
          <a:lstStyle/>
          <a:p>
            <a:endParaRPr lang="en-US"/>
          </a:p>
        </p:txBody>
      </p:sp>
      <p:pic>
        <p:nvPicPr>
          <p:cNvPr id="6" name="Image 0" descr="icons/warning_C0522D.png"/>
          <p:cNvPicPr>
            <a:picLocks noChangeAspect="1"/>
          </p:cNvPicPr>
          <p:nvPr/>
        </p:nvPicPr>
        <p:blipFill>
          <a:blip r:embed="rId3"/>
          <a:stretch>
            <a:fillRect/>
          </a:stretch>
        </p:blipFill>
        <p:spPr>
          <a:xfrm>
            <a:off x="897941" y="2159813"/>
            <a:ext cx="261518" cy="261518"/>
          </a:xfrm>
          <a:prstGeom prst="rect">
            <a:avLst/>
          </a:prstGeom>
        </p:spPr>
      </p:pic>
      <p:sp>
        <p:nvSpPr>
          <p:cNvPr id="7" name="Text 4"/>
          <p:cNvSpPr/>
          <p:nvPr/>
        </p:nvSpPr>
        <p:spPr>
          <a:xfrm>
            <a:off x="1508760" y="1920240"/>
            <a:ext cx="3017520" cy="64008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Overfitting</a:t>
            </a:r>
            <a:endParaRPr lang="en-US" sz="1450" dirty="0"/>
          </a:p>
        </p:txBody>
      </p:sp>
      <p:sp>
        <p:nvSpPr>
          <p:cNvPr id="8" name="Text 5"/>
          <p:cNvSpPr/>
          <p:nvPr/>
        </p:nvSpPr>
        <p:spPr>
          <a:xfrm>
            <a:off x="4663440" y="1892808"/>
            <a:ext cx="3429000" cy="1097280"/>
          </a:xfrm>
          <a:prstGeom prst="rect">
            <a:avLst/>
          </a:prstGeom>
          <a:noFill/>
          <a:ln/>
        </p:spPr>
        <p:txBody>
          <a:bodyPr wrap="square" rtlCol="0" anchor="ctr"/>
          <a:lstStyle/>
          <a:p>
            <a:pPr marL="0" indent="0">
              <a:lnSpc>
                <a:spcPct val="120000"/>
              </a:lnSpc>
              <a:buNone/>
            </a:pPr>
            <a:r>
              <a:rPr lang="en-US" sz="1100" dirty="0">
                <a:solidFill>
                  <a:srgbClr val="5B6B79"/>
                </a:solidFill>
                <a:latin typeface="Calibri" pitchFamily="34" charset="0"/>
                <a:ea typeface="Calibri" pitchFamily="34" charset="-122"/>
                <a:cs typeface="Calibri" pitchFamily="34" charset="-120"/>
              </a:rPr>
              <a:t>Custom CNN showed a growing train/validation accuracy gap during training.</a:t>
            </a:r>
            <a:endParaRPr lang="en-US" sz="1100" dirty="0"/>
          </a:p>
        </p:txBody>
      </p:sp>
      <p:sp>
        <p:nvSpPr>
          <p:cNvPr id="9" name="Shape 6"/>
          <p:cNvSpPr/>
          <p:nvPr/>
        </p:nvSpPr>
        <p:spPr>
          <a:xfrm>
            <a:off x="8183880" y="1947672"/>
            <a:ext cx="0" cy="1005840"/>
          </a:xfrm>
          <a:prstGeom prst="line">
            <a:avLst/>
          </a:prstGeom>
          <a:noFill/>
          <a:ln w="12700">
            <a:solidFill>
              <a:srgbClr val="D7E0E6"/>
            </a:solidFill>
            <a:prstDash val="solid"/>
          </a:ln>
        </p:spPr>
        <p:txBody>
          <a:bodyPr/>
          <a:lstStyle/>
          <a:p>
            <a:endParaRPr lang="en-US"/>
          </a:p>
        </p:txBody>
      </p:sp>
      <p:sp>
        <p:nvSpPr>
          <p:cNvPr id="10" name="Text 7"/>
          <p:cNvSpPr/>
          <p:nvPr/>
        </p:nvSpPr>
        <p:spPr>
          <a:xfrm>
            <a:off x="8321040" y="1892808"/>
            <a:ext cx="3154680" cy="1097280"/>
          </a:xfrm>
          <a:prstGeom prst="rect">
            <a:avLst/>
          </a:prstGeom>
          <a:noFill/>
          <a:ln/>
        </p:spPr>
        <p:txBody>
          <a:bodyPr wrap="square" rtlCol="0" anchor="ctr"/>
          <a:lstStyle/>
          <a:p>
            <a:pPr marL="0" indent="0">
              <a:lnSpc>
                <a:spcPct val="120000"/>
              </a:lnSpc>
              <a:buNone/>
            </a:pPr>
            <a:r>
              <a:rPr lang="en-US" sz="1080" dirty="0">
                <a:solidFill>
                  <a:srgbClr val="1C9C6E"/>
                </a:solidFill>
                <a:latin typeface="Calibri" pitchFamily="34" charset="0"/>
                <a:ea typeface="Calibri" pitchFamily="34" charset="-122"/>
                <a:cs typeface="Calibri" pitchFamily="34" charset="-120"/>
              </a:rPr>
              <a:t>✓ Added BatchNorm + Dropout, used GlobalAveragePooling, and relied on EarlyStopping to halt at the best epoch.</a:t>
            </a:r>
            <a:endParaRPr lang="en-US" sz="1080" dirty="0"/>
          </a:p>
        </p:txBody>
      </p:sp>
      <p:sp>
        <p:nvSpPr>
          <p:cNvPr id="11" name="Shape 8"/>
          <p:cNvSpPr/>
          <p:nvPr/>
        </p:nvSpPr>
        <p:spPr>
          <a:xfrm>
            <a:off x="548640" y="3246120"/>
            <a:ext cx="11064240" cy="1325880"/>
          </a:xfrm>
          <a:prstGeom prst="roundRect">
            <a:avLst>
              <a:gd name="adj" fmla="val 6207"/>
            </a:avLst>
          </a:prstGeom>
          <a:solidFill>
            <a:srgbClr val="F4F7F9"/>
          </a:solidFill>
          <a:ln/>
        </p:spPr>
        <p:txBody>
          <a:bodyPr/>
          <a:lstStyle/>
          <a:p>
            <a:endParaRPr lang="en-US"/>
          </a:p>
        </p:txBody>
      </p:sp>
      <p:sp>
        <p:nvSpPr>
          <p:cNvPr id="12" name="Shape 9"/>
          <p:cNvSpPr/>
          <p:nvPr/>
        </p:nvSpPr>
        <p:spPr>
          <a:xfrm>
            <a:off x="777240" y="3502152"/>
            <a:ext cx="502920" cy="502920"/>
          </a:xfrm>
          <a:prstGeom prst="ellipse">
            <a:avLst/>
          </a:prstGeom>
          <a:solidFill>
            <a:srgbClr val="FFFFFF"/>
          </a:solidFill>
          <a:ln/>
        </p:spPr>
        <p:txBody>
          <a:bodyPr/>
          <a:lstStyle/>
          <a:p>
            <a:endParaRPr lang="en-US"/>
          </a:p>
        </p:txBody>
      </p:sp>
      <p:pic>
        <p:nvPicPr>
          <p:cNvPr id="13" name="Image 1" descr="icons/warning_C0522D.png"/>
          <p:cNvPicPr>
            <a:picLocks noChangeAspect="1"/>
          </p:cNvPicPr>
          <p:nvPr/>
        </p:nvPicPr>
        <p:blipFill>
          <a:blip r:embed="rId3"/>
          <a:stretch>
            <a:fillRect/>
          </a:stretch>
        </p:blipFill>
        <p:spPr>
          <a:xfrm>
            <a:off x="897941" y="3622853"/>
            <a:ext cx="261518" cy="261518"/>
          </a:xfrm>
          <a:prstGeom prst="rect">
            <a:avLst/>
          </a:prstGeom>
        </p:spPr>
      </p:pic>
      <p:sp>
        <p:nvSpPr>
          <p:cNvPr id="14" name="Text 10"/>
          <p:cNvSpPr/>
          <p:nvPr/>
        </p:nvSpPr>
        <p:spPr>
          <a:xfrm>
            <a:off x="1508760" y="3383280"/>
            <a:ext cx="3017520" cy="64008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Validation Fluctuations</a:t>
            </a:r>
            <a:endParaRPr lang="en-US" sz="1450" dirty="0"/>
          </a:p>
        </p:txBody>
      </p:sp>
      <p:sp>
        <p:nvSpPr>
          <p:cNvPr id="15" name="Text 11"/>
          <p:cNvSpPr/>
          <p:nvPr/>
        </p:nvSpPr>
        <p:spPr>
          <a:xfrm>
            <a:off x="4663440" y="3355848"/>
            <a:ext cx="3429000" cy="1097280"/>
          </a:xfrm>
          <a:prstGeom prst="rect">
            <a:avLst/>
          </a:prstGeom>
          <a:noFill/>
          <a:ln/>
        </p:spPr>
        <p:txBody>
          <a:bodyPr wrap="square" rtlCol="0" anchor="ctr"/>
          <a:lstStyle/>
          <a:p>
            <a:pPr marL="0" indent="0">
              <a:lnSpc>
                <a:spcPct val="120000"/>
              </a:lnSpc>
              <a:buNone/>
            </a:pPr>
            <a:r>
              <a:rPr lang="en-US" sz="1100" dirty="0">
                <a:solidFill>
                  <a:srgbClr val="5B6B79"/>
                </a:solidFill>
                <a:latin typeface="Calibri" pitchFamily="34" charset="0"/>
                <a:ea typeface="Calibri" pitchFamily="34" charset="-122"/>
                <a:cs typeface="Calibri" pitchFamily="34" charset="-120"/>
              </a:rPr>
              <a:t>Validation accuracy/loss bounced noticeably between epochs, making it hard to judge progress.</a:t>
            </a:r>
            <a:endParaRPr lang="en-US" sz="1100" dirty="0"/>
          </a:p>
        </p:txBody>
      </p:sp>
      <p:sp>
        <p:nvSpPr>
          <p:cNvPr id="16" name="Shape 12"/>
          <p:cNvSpPr/>
          <p:nvPr/>
        </p:nvSpPr>
        <p:spPr>
          <a:xfrm>
            <a:off x="8183880" y="3410712"/>
            <a:ext cx="0" cy="1005840"/>
          </a:xfrm>
          <a:prstGeom prst="line">
            <a:avLst/>
          </a:prstGeom>
          <a:noFill/>
          <a:ln w="12700">
            <a:solidFill>
              <a:srgbClr val="D7E0E6"/>
            </a:solidFill>
            <a:prstDash val="solid"/>
          </a:ln>
        </p:spPr>
        <p:txBody>
          <a:bodyPr/>
          <a:lstStyle/>
          <a:p>
            <a:endParaRPr lang="en-US"/>
          </a:p>
        </p:txBody>
      </p:sp>
      <p:sp>
        <p:nvSpPr>
          <p:cNvPr id="17" name="Text 13"/>
          <p:cNvSpPr/>
          <p:nvPr/>
        </p:nvSpPr>
        <p:spPr>
          <a:xfrm>
            <a:off x="8321040" y="3355848"/>
            <a:ext cx="3154680" cy="1097280"/>
          </a:xfrm>
          <a:prstGeom prst="rect">
            <a:avLst/>
          </a:prstGeom>
          <a:noFill/>
          <a:ln/>
        </p:spPr>
        <p:txBody>
          <a:bodyPr wrap="square" rtlCol="0" anchor="ctr"/>
          <a:lstStyle/>
          <a:p>
            <a:pPr marL="0" indent="0">
              <a:lnSpc>
                <a:spcPct val="120000"/>
              </a:lnSpc>
              <a:buNone/>
            </a:pPr>
            <a:r>
              <a:rPr lang="en-US" sz="1080" dirty="0">
                <a:solidFill>
                  <a:srgbClr val="1C9C6E"/>
                </a:solidFill>
                <a:latin typeface="Calibri" pitchFamily="34" charset="0"/>
                <a:ea typeface="Calibri" pitchFamily="34" charset="-122"/>
                <a:cs typeface="Calibri" pitchFamily="34" charset="-120"/>
              </a:rPr>
              <a:t>✓ Used ReduceLROnPlateau to stabilize convergence, and ModelCheckpoint to keep the true best epoch, not the last one.</a:t>
            </a:r>
            <a:endParaRPr lang="en-US" sz="1080" dirty="0"/>
          </a:p>
        </p:txBody>
      </p:sp>
      <p:sp>
        <p:nvSpPr>
          <p:cNvPr id="18" name="Shape 14"/>
          <p:cNvSpPr/>
          <p:nvPr/>
        </p:nvSpPr>
        <p:spPr>
          <a:xfrm>
            <a:off x="548640" y="4709160"/>
            <a:ext cx="11064240" cy="1325880"/>
          </a:xfrm>
          <a:prstGeom prst="roundRect">
            <a:avLst>
              <a:gd name="adj" fmla="val 6207"/>
            </a:avLst>
          </a:prstGeom>
          <a:solidFill>
            <a:srgbClr val="F4F7F9"/>
          </a:solidFill>
          <a:ln/>
        </p:spPr>
        <p:txBody>
          <a:bodyPr/>
          <a:lstStyle/>
          <a:p>
            <a:endParaRPr lang="en-US"/>
          </a:p>
        </p:txBody>
      </p:sp>
      <p:sp>
        <p:nvSpPr>
          <p:cNvPr id="19" name="Shape 15"/>
          <p:cNvSpPr/>
          <p:nvPr/>
        </p:nvSpPr>
        <p:spPr>
          <a:xfrm>
            <a:off x="777240" y="4965192"/>
            <a:ext cx="502920" cy="502920"/>
          </a:xfrm>
          <a:prstGeom prst="ellipse">
            <a:avLst/>
          </a:prstGeom>
          <a:solidFill>
            <a:srgbClr val="FFFFFF"/>
          </a:solidFill>
          <a:ln/>
        </p:spPr>
        <p:txBody>
          <a:bodyPr/>
          <a:lstStyle/>
          <a:p>
            <a:endParaRPr lang="en-US"/>
          </a:p>
        </p:txBody>
      </p:sp>
      <p:pic>
        <p:nvPicPr>
          <p:cNvPr id="20" name="Image 2" descr="icons/warning_C0522D.png"/>
          <p:cNvPicPr>
            <a:picLocks noChangeAspect="1"/>
          </p:cNvPicPr>
          <p:nvPr/>
        </p:nvPicPr>
        <p:blipFill>
          <a:blip r:embed="rId3"/>
          <a:stretch>
            <a:fillRect/>
          </a:stretch>
        </p:blipFill>
        <p:spPr>
          <a:xfrm>
            <a:off x="897941" y="5085893"/>
            <a:ext cx="261518" cy="261518"/>
          </a:xfrm>
          <a:prstGeom prst="rect">
            <a:avLst/>
          </a:prstGeom>
        </p:spPr>
      </p:pic>
      <p:sp>
        <p:nvSpPr>
          <p:cNvPr id="21" name="Text 16"/>
          <p:cNvSpPr/>
          <p:nvPr/>
        </p:nvSpPr>
        <p:spPr>
          <a:xfrm>
            <a:off x="1508760" y="4846320"/>
            <a:ext cx="3017520" cy="640080"/>
          </a:xfrm>
          <a:prstGeom prst="rect">
            <a:avLst/>
          </a:prstGeom>
          <a:noFill/>
          <a:ln/>
        </p:spPr>
        <p:txBody>
          <a:bodyPr wrap="square"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Fair Cross-Architecture Comparison</a:t>
            </a:r>
            <a:endParaRPr lang="en-US" sz="1450" dirty="0"/>
          </a:p>
        </p:txBody>
      </p:sp>
      <p:sp>
        <p:nvSpPr>
          <p:cNvPr id="22" name="Text 17"/>
          <p:cNvSpPr/>
          <p:nvPr/>
        </p:nvSpPr>
        <p:spPr>
          <a:xfrm>
            <a:off x="4663440" y="4818888"/>
            <a:ext cx="3429000" cy="1097280"/>
          </a:xfrm>
          <a:prstGeom prst="rect">
            <a:avLst/>
          </a:prstGeom>
          <a:noFill/>
          <a:ln/>
        </p:spPr>
        <p:txBody>
          <a:bodyPr wrap="square" rtlCol="0" anchor="ctr"/>
          <a:lstStyle/>
          <a:p>
            <a:pPr marL="0" indent="0">
              <a:lnSpc>
                <a:spcPct val="120000"/>
              </a:lnSpc>
              <a:buNone/>
            </a:pPr>
            <a:r>
              <a:rPr lang="en-US" sz="1100" dirty="0">
                <a:solidFill>
                  <a:srgbClr val="5B6B79"/>
                </a:solidFill>
                <a:latin typeface="Calibri" pitchFamily="34" charset="0"/>
                <a:ea typeface="Calibri" pitchFamily="34" charset="-122"/>
                <a:cs typeface="Calibri" pitchFamily="34" charset="-120"/>
              </a:rPr>
              <a:t>Different backbones have very different capacities and default configs, risking an apples-to-oranges comparison.</a:t>
            </a:r>
            <a:endParaRPr lang="en-US" sz="1100" dirty="0"/>
          </a:p>
        </p:txBody>
      </p:sp>
      <p:sp>
        <p:nvSpPr>
          <p:cNvPr id="23" name="Shape 18"/>
          <p:cNvSpPr/>
          <p:nvPr/>
        </p:nvSpPr>
        <p:spPr>
          <a:xfrm>
            <a:off x="8183880" y="4873752"/>
            <a:ext cx="0" cy="1005840"/>
          </a:xfrm>
          <a:prstGeom prst="line">
            <a:avLst/>
          </a:prstGeom>
          <a:noFill/>
          <a:ln w="12700">
            <a:solidFill>
              <a:srgbClr val="D7E0E6"/>
            </a:solidFill>
            <a:prstDash val="solid"/>
          </a:ln>
        </p:spPr>
        <p:txBody>
          <a:bodyPr/>
          <a:lstStyle/>
          <a:p>
            <a:endParaRPr lang="en-US"/>
          </a:p>
        </p:txBody>
      </p:sp>
      <p:sp>
        <p:nvSpPr>
          <p:cNvPr id="24" name="Text 19"/>
          <p:cNvSpPr/>
          <p:nvPr/>
        </p:nvSpPr>
        <p:spPr>
          <a:xfrm>
            <a:off x="8321040" y="4818888"/>
            <a:ext cx="3154680" cy="1097280"/>
          </a:xfrm>
          <a:prstGeom prst="rect">
            <a:avLst/>
          </a:prstGeom>
          <a:noFill/>
          <a:ln/>
        </p:spPr>
        <p:txBody>
          <a:bodyPr wrap="square" rtlCol="0" anchor="ctr"/>
          <a:lstStyle/>
          <a:p>
            <a:pPr marL="0" indent="0">
              <a:lnSpc>
                <a:spcPct val="120000"/>
              </a:lnSpc>
              <a:buNone/>
            </a:pPr>
            <a:r>
              <a:rPr lang="en-US" sz="1080" dirty="0">
                <a:solidFill>
                  <a:srgbClr val="1C9C6E"/>
                </a:solidFill>
                <a:latin typeface="Calibri" pitchFamily="34" charset="0"/>
                <a:ea typeface="Calibri" pitchFamily="34" charset="-122"/>
                <a:cs typeface="Calibri" pitchFamily="34" charset="-120"/>
              </a:rPr>
              <a:t>✓ Standardized input size, classification head, optimizer, loss, callbacks, and data splits identically across all four models.</a:t>
            </a:r>
            <a:endParaRPr lang="en-US" sz="1080" dirty="0"/>
          </a:p>
        </p:txBody>
      </p:sp>
      <p:sp>
        <p:nvSpPr>
          <p:cNvPr id="25" name="Text 20"/>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26" name="Text 21"/>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6FD3C7"/>
                </a:solidFill>
                <a:latin typeface="Calibri" pitchFamily="34" charset="0"/>
                <a:ea typeface="Calibri" pitchFamily="34" charset="-122"/>
                <a:cs typeface="Calibri" pitchFamily="34" charset="-120"/>
              </a:rPr>
              <a:t>REFLECTION</a:t>
            </a:r>
            <a:endParaRPr lang="en-US" sz="13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Lessons Learned</a:t>
            </a:r>
            <a:endParaRPr lang="en-US" sz="3200" dirty="0"/>
          </a:p>
        </p:txBody>
      </p:sp>
      <p:sp>
        <p:nvSpPr>
          <p:cNvPr id="4" name="Shape 2"/>
          <p:cNvSpPr/>
          <p:nvPr/>
        </p:nvSpPr>
        <p:spPr>
          <a:xfrm>
            <a:off x="548640" y="1783080"/>
            <a:ext cx="5257800" cy="1965960"/>
          </a:xfrm>
          <a:prstGeom prst="roundRect">
            <a:avLst>
              <a:gd name="adj" fmla="val 4186"/>
            </a:avLst>
          </a:prstGeom>
          <a:solidFill>
            <a:srgbClr val="1B3A6B"/>
          </a:solidFill>
          <a:ln/>
        </p:spPr>
        <p:txBody>
          <a:bodyPr/>
          <a:lstStyle/>
          <a:p>
            <a:endParaRPr lang="en-US"/>
          </a:p>
        </p:txBody>
      </p:sp>
      <p:sp>
        <p:nvSpPr>
          <p:cNvPr id="5" name="Shape 3"/>
          <p:cNvSpPr/>
          <p:nvPr/>
        </p:nvSpPr>
        <p:spPr>
          <a:xfrm>
            <a:off x="822960" y="2057400"/>
            <a:ext cx="548640" cy="548640"/>
          </a:xfrm>
          <a:prstGeom prst="ellipse">
            <a:avLst/>
          </a:prstGeom>
          <a:solidFill>
            <a:srgbClr val="1C7293"/>
          </a:solidFill>
          <a:ln/>
        </p:spPr>
        <p:txBody>
          <a:bodyPr/>
          <a:lstStyle/>
          <a:p>
            <a:endParaRPr lang="en-US"/>
          </a:p>
        </p:txBody>
      </p:sp>
      <p:pic>
        <p:nvPicPr>
          <p:cNvPr id="6" name="Image 0" descr="icons/bulb_FFFFFF.png"/>
          <p:cNvPicPr>
            <a:picLocks noChangeAspect="1"/>
          </p:cNvPicPr>
          <p:nvPr/>
        </p:nvPicPr>
        <p:blipFill>
          <a:blip r:embed="rId3"/>
          <a:stretch>
            <a:fillRect/>
          </a:stretch>
        </p:blipFill>
        <p:spPr>
          <a:xfrm>
            <a:off x="954634" y="2189074"/>
            <a:ext cx="285293" cy="285293"/>
          </a:xfrm>
          <a:prstGeom prst="rect">
            <a:avLst/>
          </a:prstGeom>
        </p:spPr>
      </p:pic>
      <p:sp>
        <p:nvSpPr>
          <p:cNvPr id="7" name="Text 4"/>
          <p:cNvSpPr/>
          <p:nvPr/>
        </p:nvSpPr>
        <p:spPr>
          <a:xfrm>
            <a:off x="1554480" y="2039112"/>
            <a:ext cx="3977640" cy="50292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Preprocessing details matter as much as model choice</a:t>
            </a:r>
            <a:endParaRPr lang="en-US" sz="1450" dirty="0"/>
          </a:p>
        </p:txBody>
      </p:sp>
      <p:sp>
        <p:nvSpPr>
          <p:cNvPr id="8" name="Text 5"/>
          <p:cNvSpPr/>
          <p:nvPr/>
        </p:nvSpPr>
        <p:spPr>
          <a:xfrm>
            <a:off x="822960" y="2697480"/>
            <a:ext cx="4709160" cy="914400"/>
          </a:xfrm>
          <a:prstGeom prst="rect">
            <a:avLst/>
          </a:prstGeom>
          <a:noFill/>
          <a:ln/>
        </p:spPr>
        <p:txBody>
          <a:bodyPr wrap="square"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A single mismatched preprocess_input quietly cost several points of accuracy — architecture choice means little if inputs are wrong.</a:t>
            </a:r>
            <a:endParaRPr lang="en-US" sz="1150" dirty="0"/>
          </a:p>
        </p:txBody>
      </p:sp>
      <p:sp>
        <p:nvSpPr>
          <p:cNvPr id="9" name="Shape 6"/>
          <p:cNvSpPr/>
          <p:nvPr/>
        </p:nvSpPr>
        <p:spPr>
          <a:xfrm>
            <a:off x="6126480" y="1783080"/>
            <a:ext cx="5257800" cy="1965960"/>
          </a:xfrm>
          <a:prstGeom prst="roundRect">
            <a:avLst>
              <a:gd name="adj" fmla="val 4186"/>
            </a:avLst>
          </a:prstGeom>
          <a:solidFill>
            <a:srgbClr val="1B3A6B"/>
          </a:solidFill>
          <a:ln/>
        </p:spPr>
        <p:txBody>
          <a:bodyPr/>
          <a:lstStyle/>
          <a:p>
            <a:endParaRPr lang="en-US"/>
          </a:p>
        </p:txBody>
      </p:sp>
      <p:sp>
        <p:nvSpPr>
          <p:cNvPr id="10" name="Shape 7"/>
          <p:cNvSpPr/>
          <p:nvPr/>
        </p:nvSpPr>
        <p:spPr>
          <a:xfrm>
            <a:off x="6400800" y="2057400"/>
            <a:ext cx="548640" cy="548640"/>
          </a:xfrm>
          <a:prstGeom prst="ellipse">
            <a:avLst/>
          </a:prstGeom>
          <a:solidFill>
            <a:srgbClr val="1C7293"/>
          </a:solidFill>
          <a:ln/>
        </p:spPr>
        <p:txBody>
          <a:bodyPr/>
          <a:lstStyle/>
          <a:p>
            <a:endParaRPr lang="en-US"/>
          </a:p>
        </p:txBody>
      </p:sp>
      <p:pic>
        <p:nvPicPr>
          <p:cNvPr id="11" name="Image 1" descr="icons/balance_FFFFFF.png"/>
          <p:cNvPicPr>
            <a:picLocks noChangeAspect="1"/>
          </p:cNvPicPr>
          <p:nvPr/>
        </p:nvPicPr>
        <p:blipFill>
          <a:blip r:embed="rId4"/>
          <a:stretch>
            <a:fillRect/>
          </a:stretch>
        </p:blipFill>
        <p:spPr>
          <a:xfrm>
            <a:off x="6532474" y="2189074"/>
            <a:ext cx="285293" cy="285293"/>
          </a:xfrm>
          <a:prstGeom prst="rect">
            <a:avLst/>
          </a:prstGeom>
        </p:spPr>
      </p:pic>
      <p:sp>
        <p:nvSpPr>
          <p:cNvPr id="12" name="Text 8"/>
          <p:cNvSpPr/>
          <p:nvPr/>
        </p:nvSpPr>
        <p:spPr>
          <a:xfrm>
            <a:off x="7132320" y="2039112"/>
            <a:ext cx="3977640" cy="50292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Accuracy alone hides real weaknesses</a:t>
            </a:r>
            <a:endParaRPr lang="en-US" sz="1450" dirty="0"/>
          </a:p>
        </p:txBody>
      </p:sp>
      <p:sp>
        <p:nvSpPr>
          <p:cNvPr id="13" name="Text 9"/>
          <p:cNvSpPr/>
          <p:nvPr/>
        </p:nvSpPr>
        <p:spPr>
          <a:xfrm>
            <a:off x="6400800" y="2697480"/>
            <a:ext cx="4709160" cy="914400"/>
          </a:xfrm>
          <a:prstGeom prst="rect">
            <a:avLst/>
          </a:prstGeom>
          <a:noFill/>
          <a:ln/>
        </p:spPr>
        <p:txBody>
          <a:bodyPr wrap="square"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Per-class precision/recall revealed problems (Tooth Discoloration recall) that overall accuracy completely masked.</a:t>
            </a:r>
            <a:endParaRPr lang="en-US" sz="1150" dirty="0"/>
          </a:p>
        </p:txBody>
      </p:sp>
      <p:sp>
        <p:nvSpPr>
          <p:cNvPr id="14" name="Shape 10"/>
          <p:cNvSpPr/>
          <p:nvPr/>
        </p:nvSpPr>
        <p:spPr>
          <a:xfrm>
            <a:off x="548640" y="4069080"/>
            <a:ext cx="5257800" cy="1965960"/>
          </a:xfrm>
          <a:prstGeom prst="roundRect">
            <a:avLst>
              <a:gd name="adj" fmla="val 4186"/>
            </a:avLst>
          </a:prstGeom>
          <a:solidFill>
            <a:srgbClr val="1B3A6B"/>
          </a:solidFill>
          <a:ln/>
        </p:spPr>
        <p:txBody>
          <a:bodyPr/>
          <a:lstStyle/>
          <a:p>
            <a:endParaRPr lang="en-US"/>
          </a:p>
        </p:txBody>
      </p:sp>
      <p:sp>
        <p:nvSpPr>
          <p:cNvPr id="15" name="Shape 11"/>
          <p:cNvSpPr/>
          <p:nvPr/>
        </p:nvSpPr>
        <p:spPr>
          <a:xfrm>
            <a:off x="822960" y="4343400"/>
            <a:ext cx="548640" cy="548640"/>
          </a:xfrm>
          <a:prstGeom prst="ellipse">
            <a:avLst/>
          </a:prstGeom>
          <a:solidFill>
            <a:srgbClr val="1C7293"/>
          </a:solidFill>
          <a:ln/>
        </p:spPr>
        <p:txBody>
          <a:bodyPr/>
          <a:lstStyle/>
          <a:p>
            <a:endParaRPr lang="en-US"/>
          </a:p>
        </p:txBody>
      </p:sp>
      <p:pic>
        <p:nvPicPr>
          <p:cNvPr id="16" name="Image 2" descr="icons/chart_FFFFFF.png"/>
          <p:cNvPicPr>
            <a:picLocks noChangeAspect="1"/>
          </p:cNvPicPr>
          <p:nvPr/>
        </p:nvPicPr>
        <p:blipFill>
          <a:blip r:embed="rId5"/>
          <a:stretch>
            <a:fillRect/>
          </a:stretch>
        </p:blipFill>
        <p:spPr>
          <a:xfrm>
            <a:off x="954634" y="4475074"/>
            <a:ext cx="285293" cy="285293"/>
          </a:xfrm>
          <a:prstGeom prst="rect">
            <a:avLst/>
          </a:prstGeom>
        </p:spPr>
      </p:pic>
      <p:sp>
        <p:nvSpPr>
          <p:cNvPr id="17" name="Text 12"/>
          <p:cNvSpPr/>
          <p:nvPr/>
        </p:nvSpPr>
        <p:spPr>
          <a:xfrm>
            <a:off x="1554480" y="4325112"/>
            <a:ext cx="3977640" cy="50292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Transfer learning converges faster and generalizes better</a:t>
            </a:r>
            <a:endParaRPr lang="en-US" sz="1450" dirty="0"/>
          </a:p>
        </p:txBody>
      </p:sp>
      <p:sp>
        <p:nvSpPr>
          <p:cNvPr id="18" name="Text 13"/>
          <p:cNvSpPr/>
          <p:nvPr/>
        </p:nvSpPr>
        <p:spPr>
          <a:xfrm>
            <a:off x="822960" y="4983480"/>
            <a:ext cx="4709160" cy="914400"/>
          </a:xfrm>
          <a:prstGeom prst="rect">
            <a:avLst/>
          </a:prstGeom>
          <a:noFill/>
          <a:ln/>
        </p:spPr>
        <p:txBody>
          <a:bodyPr wrap="square"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All three pretrained backbones beat the custom CNN with a smaller train/validation gap, despite far less custom tuning.</a:t>
            </a:r>
            <a:endParaRPr lang="en-US" sz="1150" dirty="0"/>
          </a:p>
        </p:txBody>
      </p:sp>
      <p:sp>
        <p:nvSpPr>
          <p:cNvPr id="19" name="Shape 14"/>
          <p:cNvSpPr/>
          <p:nvPr/>
        </p:nvSpPr>
        <p:spPr>
          <a:xfrm>
            <a:off x="6126480" y="4069080"/>
            <a:ext cx="5257800" cy="1965960"/>
          </a:xfrm>
          <a:prstGeom prst="roundRect">
            <a:avLst>
              <a:gd name="adj" fmla="val 4186"/>
            </a:avLst>
          </a:prstGeom>
          <a:solidFill>
            <a:srgbClr val="1B3A6B"/>
          </a:solidFill>
          <a:ln/>
        </p:spPr>
        <p:txBody>
          <a:bodyPr/>
          <a:lstStyle/>
          <a:p>
            <a:endParaRPr lang="en-US"/>
          </a:p>
        </p:txBody>
      </p:sp>
      <p:sp>
        <p:nvSpPr>
          <p:cNvPr id="20" name="Shape 15"/>
          <p:cNvSpPr/>
          <p:nvPr/>
        </p:nvSpPr>
        <p:spPr>
          <a:xfrm>
            <a:off x="6400800" y="4343400"/>
            <a:ext cx="548640" cy="548640"/>
          </a:xfrm>
          <a:prstGeom prst="ellipse">
            <a:avLst/>
          </a:prstGeom>
          <a:solidFill>
            <a:srgbClr val="1C7293"/>
          </a:solidFill>
          <a:ln/>
        </p:spPr>
        <p:txBody>
          <a:bodyPr/>
          <a:lstStyle/>
          <a:p>
            <a:endParaRPr lang="en-US"/>
          </a:p>
        </p:txBody>
      </p:sp>
      <p:pic>
        <p:nvPicPr>
          <p:cNvPr id="21" name="Image 3" descr="icons/medal_FFFFFF.png"/>
          <p:cNvPicPr>
            <a:picLocks noChangeAspect="1"/>
          </p:cNvPicPr>
          <p:nvPr/>
        </p:nvPicPr>
        <p:blipFill>
          <a:blip r:embed="rId6"/>
          <a:stretch>
            <a:fillRect/>
          </a:stretch>
        </p:blipFill>
        <p:spPr>
          <a:xfrm>
            <a:off x="6532474" y="4475074"/>
            <a:ext cx="285293" cy="285293"/>
          </a:xfrm>
          <a:prstGeom prst="rect">
            <a:avLst/>
          </a:prstGeom>
        </p:spPr>
      </p:pic>
      <p:sp>
        <p:nvSpPr>
          <p:cNvPr id="22" name="Text 16"/>
          <p:cNvSpPr/>
          <p:nvPr/>
        </p:nvSpPr>
        <p:spPr>
          <a:xfrm>
            <a:off x="7132320" y="4325112"/>
            <a:ext cx="3977640" cy="50292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The 'best' model depends on the metric that matters</a:t>
            </a:r>
            <a:endParaRPr lang="en-US" sz="1450" dirty="0"/>
          </a:p>
        </p:txBody>
      </p:sp>
      <p:sp>
        <p:nvSpPr>
          <p:cNvPr id="23" name="Text 17"/>
          <p:cNvSpPr/>
          <p:nvPr/>
        </p:nvSpPr>
        <p:spPr>
          <a:xfrm>
            <a:off x="6400800" y="4983480"/>
            <a:ext cx="4709160" cy="914400"/>
          </a:xfrm>
          <a:prstGeom prst="rect">
            <a:avLst/>
          </a:prstGeom>
          <a:noFill/>
          <a:ln/>
        </p:spPr>
        <p:txBody>
          <a:bodyPr wrap="square"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EfficientNetB0 wins overall accuracy, but ResNet50 wins on Tooth Discoloration recall — model choice should follow the deployment priority.</a:t>
            </a:r>
            <a:endParaRPr lang="en-US" sz="1150" dirty="0"/>
          </a:p>
        </p:txBody>
      </p:sp>
      <p:sp>
        <p:nvSpPr>
          <p:cNvPr id="24" name="Text 18"/>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9FB3C8"/>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25" name="Text 19"/>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WHAT'S NEXT</a:t>
            </a:r>
            <a:endParaRPr lang="en-US" sz="13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Future Work</a:t>
            </a:r>
            <a:endParaRPr lang="en-US" sz="3200" dirty="0"/>
          </a:p>
        </p:txBody>
      </p:sp>
      <p:sp>
        <p:nvSpPr>
          <p:cNvPr id="4" name="Shape 2"/>
          <p:cNvSpPr/>
          <p:nvPr/>
        </p:nvSpPr>
        <p:spPr>
          <a:xfrm>
            <a:off x="548640" y="1783080"/>
            <a:ext cx="3520440" cy="1691640"/>
          </a:xfrm>
          <a:prstGeom prst="roundRect">
            <a:avLst>
              <a:gd name="adj" fmla="val 4865"/>
            </a:avLst>
          </a:prstGeom>
          <a:solidFill>
            <a:srgbClr val="F4F7F9"/>
          </a:solidFill>
          <a:ln/>
        </p:spPr>
        <p:txBody>
          <a:bodyPr/>
          <a:lstStyle/>
          <a:p>
            <a:endParaRPr lang="en-US"/>
          </a:p>
        </p:txBody>
      </p:sp>
      <p:sp>
        <p:nvSpPr>
          <p:cNvPr id="5" name="Shape 3"/>
          <p:cNvSpPr/>
          <p:nvPr/>
        </p:nvSpPr>
        <p:spPr>
          <a:xfrm>
            <a:off x="777240" y="2011680"/>
            <a:ext cx="502920" cy="502920"/>
          </a:xfrm>
          <a:prstGeom prst="ellipse">
            <a:avLst/>
          </a:prstGeom>
          <a:solidFill>
            <a:srgbClr val="FFFFFF"/>
          </a:solidFill>
          <a:ln/>
        </p:spPr>
        <p:txBody>
          <a:bodyPr/>
          <a:lstStyle/>
          <a:p>
            <a:endParaRPr lang="en-US"/>
          </a:p>
        </p:txBody>
      </p:sp>
      <p:pic>
        <p:nvPicPr>
          <p:cNvPr id="6" name="Image 0" descr="icons/rocket_1C7293.png"/>
          <p:cNvPicPr>
            <a:picLocks noChangeAspect="1"/>
          </p:cNvPicPr>
          <p:nvPr/>
        </p:nvPicPr>
        <p:blipFill>
          <a:blip r:embed="rId3"/>
          <a:stretch>
            <a:fillRect/>
          </a:stretch>
        </p:blipFill>
        <p:spPr>
          <a:xfrm>
            <a:off x="897941" y="2132381"/>
            <a:ext cx="261518" cy="261518"/>
          </a:xfrm>
          <a:prstGeom prst="rect">
            <a:avLst/>
          </a:prstGeom>
        </p:spPr>
      </p:pic>
      <p:sp>
        <p:nvSpPr>
          <p:cNvPr id="7" name="Text 4"/>
          <p:cNvSpPr/>
          <p:nvPr/>
        </p:nvSpPr>
        <p:spPr>
          <a:xfrm>
            <a:off x="777240" y="2651760"/>
            <a:ext cx="3063240" cy="457200"/>
          </a:xfrm>
          <a:prstGeom prst="rect">
            <a:avLst/>
          </a:prstGeom>
          <a:noFill/>
          <a:ln/>
        </p:spPr>
        <p:txBody>
          <a:bodyPr wrap="square" rtlCol="0" anchor="ctr"/>
          <a:lstStyle/>
          <a:p>
            <a:pPr marL="0" indent="0">
              <a:lnSpc>
                <a:spcPct val="105000"/>
              </a:lnSpc>
              <a:buNone/>
            </a:pPr>
            <a:r>
              <a:rPr lang="en-US" sz="1300" b="1" dirty="0">
                <a:solidFill>
                  <a:srgbClr val="21295C"/>
                </a:solidFill>
                <a:latin typeface="Cambria" pitchFamily="34" charset="0"/>
                <a:ea typeface="Cambria" pitchFamily="34" charset="-122"/>
                <a:cs typeface="Cambria" pitchFamily="34" charset="-120"/>
              </a:rPr>
              <a:t>Fine-tune unfrozen backbone layers</a:t>
            </a:r>
            <a:endParaRPr lang="en-US" sz="1300" dirty="0"/>
          </a:p>
        </p:txBody>
      </p:sp>
      <p:sp>
        <p:nvSpPr>
          <p:cNvPr id="8" name="Text 5"/>
          <p:cNvSpPr/>
          <p:nvPr/>
        </p:nvSpPr>
        <p:spPr>
          <a:xfrm>
            <a:off x="777240" y="3063240"/>
            <a:ext cx="3063240" cy="457200"/>
          </a:xfrm>
          <a:prstGeom prst="rect">
            <a:avLst/>
          </a:prstGeom>
          <a:noFill/>
          <a:ln/>
        </p:spPr>
        <p:txBody>
          <a:bodyPr wrap="square" rtlCol="0" anchor="ctr"/>
          <a:lstStyle/>
          <a:p>
            <a:pPr marL="0" indent="0">
              <a:lnSpc>
                <a:spcPct val="110000"/>
              </a:lnSpc>
              <a:buNone/>
            </a:pPr>
            <a:r>
              <a:rPr lang="en-US" sz="1000" dirty="0">
                <a:solidFill>
                  <a:srgbClr val="5B6B79"/>
                </a:solidFill>
                <a:latin typeface="Calibri" pitchFamily="34" charset="0"/>
                <a:ea typeface="Calibri" pitchFamily="34" charset="-122"/>
                <a:cs typeface="Calibri" pitchFamily="34" charset="-120"/>
              </a:rPr>
              <a:t>Unfreeze the top blocks of the best backbone and fine-tune at a low learning rate for extra accuracy.</a:t>
            </a:r>
            <a:endParaRPr lang="en-US" sz="1000" dirty="0"/>
          </a:p>
        </p:txBody>
      </p:sp>
      <p:sp>
        <p:nvSpPr>
          <p:cNvPr id="9" name="Shape 6"/>
          <p:cNvSpPr/>
          <p:nvPr/>
        </p:nvSpPr>
        <p:spPr>
          <a:xfrm>
            <a:off x="4343400" y="1783080"/>
            <a:ext cx="3520440" cy="1691640"/>
          </a:xfrm>
          <a:prstGeom prst="roundRect">
            <a:avLst>
              <a:gd name="adj" fmla="val 4865"/>
            </a:avLst>
          </a:prstGeom>
          <a:solidFill>
            <a:srgbClr val="F4F7F9"/>
          </a:solidFill>
          <a:ln/>
        </p:spPr>
        <p:txBody>
          <a:bodyPr/>
          <a:lstStyle/>
          <a:p>
            <a:endParaRPr lang="en-US"/>
          </a:p>
        </p:txBody>
      </p:sp>
      <p:sp>
        <p:nvSpPr>
          <p:cNvPr id="10" name="Shape 7"/>
          <p:cNvSpPr/>
          <p:nvPr/>
        </p:nvSpPr>
        <p:spPr>
          <a:xfrm>
            <a:off x="4572000" y="2011680"/>
            <a:ext cx="502920" cy="502920"/>
          </a:xfrm>
          <a:prstGeom prst="ellipse">
            <a:avLst/>
          </a:prstGeom>
          <a:solidFill>
            <a:srgbClr val="FFFFFF"/>
          </a:solidFill>
          <a:ln/>
        </p:spPr>
        <p:txBody>
          <a:bodyPr/>
          <a:lstStyle/>
          <a:p>
            <a:endParaRPr lang="en-US"/>
          </a:p>
        </p:txBody>
      </p:sp>
      <p:pic>
        <p:nvPicPr>
          <p:cNvPr id="11" name="Image 1" descr="icons/database_1C7293.png"/>
          <p:cNvPicPr>
            <a:picLocks noChangeAspect="1"/>
          </p:cNvPicPr>
          <p:nvPr/>
        </p:nvPicPr>
        <p:blipFill>
          <a:blip r:embed="rId4"/>
          <a:stretch>
            <a:fillRect/>
          </a:stretch>
        </p:blipFill>
        <p:spPr>
          <a:xfrm>
            <a:off x="4692701" y="2132381"/>
            <a:ext cx="261518" cy="261518"/>
          </a:xfrm>
          <a:prstGeom prst="rect">
            <a:avLst/>
          </a:prstGeom>
        </p:spPr>
      </p:pic>
      <p:sp>
        <p:nvSpPr>
          <p:cNvPr id="12" name="Text 8"/>
          <p:cNvSpPr/>
          <p:nvPr/>
        </p:nvSpPr>
        <p:spPr>
          <a:xfrm>
            <a:off x="4572000" y="2651760"/>
            <a:ext cx="3063240" cy="457200"/>
          </a:xfrm>
          <a:prstGeom prst="rect">
            <a:avLst/>
          </a:prstGeom>
          <a:noFill/>
          <a:ln/>
        </p:spPr>
        <p:txBody>
          <a:bodyPr wrap="square" rtlCol="0" anchor="ctr"/>
          <a:lstStyle/>
          <a:p>
            <a:pPr marL="0" indent="0">
              <a:lnSpc>
                <a:spcPct val="105000"/>
              </a:lnSpc>
              <a:buNone/>
            </a:pPr>
            <a:r>
              <a:rPr lang="en-US" sz="1300" b="1" dirty="0">
                <a:solidFill>
                  <a:srgbClr val="21295C"/>
                </a:solidFill>
                <a:latin typeface="Cambria" pitchFamily="34" charset="0"/>
                <a:ea typeface="Cambria" pitchFamily="34" charset="-122"/>
                <a:cs typeface="Cambria" pitchFamily="34" charset="-120"/>
              </a:rPr>
              <a:t>Grow the dataset</a:t>
            </a:r>
            <a:endParaRPr lang="en-US" sz="1300" dirty="0"/>
          </a:p>
        </p:txBody>
      </p:sp>
      <p:sp>
        <p:nvSpPr>
          <p:cNvPr id="13" name="Text 9"/>
          <p:cNvSpPr/>
          <p:nvPr/>
        </p:nvSpPr>
        <p:spPr>
          <a:xfrm>
            <a:off x="4572000" y="3063240"/>
            <a:ext cx="3063240" cy="457200"/>
          </a:xfrm>
          <a:prstGeom prst="rect">
            <a:avLst/>
          </a:prstGeom>
          <a:noFill/>
          <a:ln/>
        </p:spPr>
        <p:txBody>
          <a:bodyPr wrap="square" rtlCol="0" anchor="ctr"/>
          <a:lstStyle/>
          <a:p>
            <a:pPr marL="0" indent="0">
              <a:lnSpc>
                <a:spcPct val="110000"/>
              </a:lnSpc>
              <a:buNone/>
            </a:pPr>
            <a:r>
              <a:rPr lang="en-US" sz="1000" dirty="0">
                <a:solidFill>
                  <a:srgbClr val="5B6B79"/>
                </a:solidFill>
                <a:latin typeface="Calibri" pitchFamily="34" charset="0"/>
                <a:ea typeface="Calibri" pitchFamily="34" charset="-122"/>
                <a:cs typeface="Calibri" pitchFamily="34" charset="-120"/>
              </a:rPr>
              <a:t>Collect more Hypodontia/minority-class images, especially for the weakest classes like Tooth Discoloration.</a:t>
            </a:r>
            <a:endParaRPr lang="en-US" sz="1000" dirty="0"/>
          </a:p>
        </p:txBody>
      </p:sp>
      <p:sp>
        <p:nvSpPr>
          <p:cNvPr id="14" name="Shape 10"/>
          <p:cNvSpPr/>
          <p:nvPr/>
        </p:nvSpPr>
        <p:spPr>
          <a:xfrm>
            <a:off x="8138160" y="1783080"/>
            <a:ext cx="3520440" cy="1691640"/>
          </a:xfrm>
          <a:prstGeom prst="roundRect">
            <a:avLst>
              <a:gd name="adj" fmla="val 4865"/>
            </a:avLst>
          </a:prstGeom>
          <a:solidFill>
            <a:srgbClr val="F4F7F9"/>
          </a:solidFill>
          <a:ln/>
        </p:spPr>
        <p:txBody>
          <a:bodyPr/>
          <a:lstStyle/>
          <a:p>
            <a:endParaRPr lang="en-US"/>
          </a:p>
        </p:txBody>
      </p:sp>
      <p:sp>
        <p:nvSpPr>
          <p:cNvPr id="15" name="Shape 11"/>
          <p:cNvSpPr/>
          <p:nvPr/>
        </p:nvSpPr>
        <p:spPr>
          <a:xfrm>
            <a:off x="8366760" y="2011680"/>
            <a:ext cx="502920" cy="502920"/>
          </a:xfrm>
          <a:prstGeom prst="ellipse">
            <a:avLst/>
          </a:prstGeom>
          <a:solidFill>
            <a:srgbClr val="FFFFFF"/>
          </a:solidFill>
          <a:ln/>
        </p:spPr>
        <p:txBody>
          <a:bodyPr/>
          <a:lstStyle/>
          <a:p>
            <a:endParaRPr lang="en-US"/>
          </a:p>
        </p:txBody>
      </p:sp>
      <p:pic>
        <p:nvPicPr>
          <p:cNvPr id="16" name="Image 2" descr="icons/network_1C7293.png"/>
          <p:cNvPicPr>
            <a:picLocks noChangeAspect="1"/>
          </p:cNvPicPr>
          <p:nvPr/>
        </p:nvPicPr>
        <p:blipFill>
          <a:blip r:embed="rId5"/>
          <a:stretch>
            <a:fillRect/>
          </a:stretch>
        </p:blipFill>
        <p:spPr>
          <a:xfrm>
            <a:off x="8487461" y="2132381"/>
            <a:ext cx="261518" cy="261518"/>
          </a:xfrm>
          <a:prstGeom prst="rect">
            <a:avLst/>
          </a:prstGeom>
        </p:spPr>
      </p:pic>
      <p:sp>
        <p:nvSpPr>
          <p:cNvPr id="17" name="Text 12"/>
          <p:cNvSpPr/>
          <p:nvPr/>
        </p:nvSpPr>
        <p:spPr>
          <a:xfrm>
            <a:off x="8366760" y="2651760"/>
            <a:ext cx="3063240" cy="457200"/>
          </a:xfrm>
          <a:prstGeom prst="rect">
            <a:avLst/>
          </a:prstGeom>
          <a:noFill/>
          <a:ln/>
        </p:spPr>
        <p:txBody>
          <a:bodyPr wrap="square" rtlCol="0" anchor="ctr"/>
          <a:lstStyle/>
          <a:p>
            <a:pPr marL="0" indent="0">
              <a:lnSpc>
                <a:spcPct val="105000"/>
              </a:lnSpc>
              <a:buNone/>
            </a:pPr>
            <a:r>
              <a:rPr lang="en-US" sz="1300" b="1" dirty="0">
                <a:solidFill>
                  <a:srgbClr val="21295C"/>
                </a:solidFill>
                <a:latin typeface="Cambria" pitchFamily="34" charset="0"/>
                <a:ea typeface="Cambria" pitchFamily="34" charset="-122"/>
                <a:cs typeface="Cambria" pitchFamily="34" charset="-120"/>
              </a:rPr>
              <a:t>Model ensembling</a:t>
            </a:r>
            <a:endParaRPr lang="en-US" sz="1300" dirty="0"/>
          </a:p>
        </p:txBody>
      </p:sp>
      <p:sp>
        <p:nvSpPr>
          <p:cNvPr id="18" name="Text 13"/>
          <p:cNvSpPr/>
          <p:nvPr/>
        </p:nvSpPr>
        <p:spPr>
          <a:xfrm>
            <a:off x="8366760" y="3063240"/>
            <a:ext cx="3063240" cy="457200"/>
          </a:xfrm>
          <a:prstGeom prst="rect">
            <a:avLst/>
          </a:prstGeom>
          <a:noFill/>
          <a:ln/>
        </p:spPr>
        <p:txBody>
          <a:bodyPr wrap="square" rtlCol="0" anchor="ctr"/>
          <a:lstStyle/>
          <a:p>
            <a:pPr marL="0" indent="0">
              <a:lnSpc>
                <a:spcPct val="110000"/>
              </a:lnSpc>
              <a:buNone/>
            </a:pPr>
            <a:r>
              <a:rPr lang="en-US" sz="1000" dirty="0">
                <a:solidFill>
                  <a:srgbClr val="5B6B79"/>
                </a:solidFill>
                <a:latin typeface="Calibri" pitchFamily="34" charset="0"/>
                <a:ea typeface="Calibri" pitchFamily="34" charset="-122"/>
                <a:cs typeface="Calibri" pitchFamily="34" charset="-120"/>
              </a:rPr>
              <a:t>Combine EfficientNetB0, ResNet50, and MobileNetV2 predictions to trade compute for higher robustness.</a:t>
            </a:r>
            <a:endParaRPr lang="en-US" sz="1000" dirty="0"/>
          </a:p>
        </p:txBody>
      </p:sp>
      <p:sp>
        <p:nvSpPr>
          <p:cNvPr id="19" name="Shape 14"/>
          <p:cNvSpPr/>
          <p:nvPr/>
        </p:nvSpPr>
        <p:spPr>
          <a:xfrm>
            <a:off x="548640" y="3749040"/>
            <a:ext cx="3520440" cy="1691640"/>
          </a:xfrm>
          <a:prstGeom prst="roundRect">
            <a:avLst>
              <a:gd name="adj" fmla="val 4865"/>
            </a:avLst>
          </a:prstGeom>
          <a:solidFill>
            <a:srgbClr val="F4F7F9"/>
          </a:solidFill>
          <a:ln/>
        </p:spPr>
        <p:txBody>
          <a:bodyPr/>
          <a:lstStyle/>
          <a:p>
            <a:endParaRPr lang="en-US"/>
          </a:p>
        </p:txBody>
      </p:sp>
      <p:sp>
        <p:nvSpPr>
          <p:cNvPr id="20" name="Shape 15"/>
          <p:cNvSpPr/>
          <p:nvPr/>
        </p:nvSpPr>
        <p:spPr>
          <a:xfrm>
            <a:off x="777240" y="3977640"/>
            <a:ext cx="502920" cy="502920"/>
          </a:xfrm>
          <a:prstGeom prst="ellipse">
            <a:avLst/>
          </a:prstGeom>
          <a:solidFill>
            <a:srgbClr val="FFFFFF"/>
          </a:solidFill>
          <a:ln/>
        </p:spPr>
        <p:txBody>
          <a:bodyPr/>
          <a:lstStyle/>
          <a:p>
            <a:endParaRPr lang="en-US"/>
          </a:p>
        </p:txBody>
      </p:sp>
      <p:pic>
        <p:nvPicPr>
          <p:cNvPr id="21" name="Image 3" descr="icons/images_1C7293.png"/>
          <p:cNvPicPr>
            <a:picLocks noChangeAspect="1"/>
          </p:cNvPicPr>
          <p:nvPr/>
        </p:nvPicPr>
        <p:blipFill>
          <a:blip r:embed="rId6"/>
          <a:stretch>
            <a:fillRect/>
          </a:stretch>
        </p:blipFill>
        <p:spPr>
          <a:xfrm>
            <a:off x="897941" y="4098341"/>
            <a:ext cx="261518" cy="261518"/>
          </a:xfrm>
          <a:prstGeom prst="rect">
            <a:avLst/>
          </a:prstGeom>
        </p:spPr>
      </p:pic>
      <p:sp>
        <p:nvSpPr>
          <p:cNvPr id="22" name="Text 16"/>
          <p:cNvSpPr/>
          <p:nvPr/>
        </p:nvSpPr>
        <p:spPr>
          <a:xfrm>
            <a:off x="777240" y="4617720"/>
            <a:ext cx="3063240" cy="457200"/>
          </a:xfrm>
          <a:prstGeom prst="rect">
            <a:avLst/>
          </a:prstGeom>
          <a:noFill/>
          <a:ln/>
        </p:spPr>
        <p:txBody>
          <a:bodyPr wrap="square" rtlCol="0" anchor="ctr"/>
          <a:lstStyle/>
          <a:p>
            <a:pPr marL="0" indent="0">
              <a:lnSpc>
                <a:spcPct val="105000"/>
              </a:lnSpc>
              <a:buNone/>
            </a:pPr>
            <a:r>
              <a:rPr lang="en-US" sz="1300" b="1" dirty="0">
                <a:solidFill>
                  <a:srgbClr val="21295C"/>
                </a:solidFill>
                <a:latin typeface="Cambria" pitchFamily="34" charset="0"/>
                <a:ea typeface="Cambria" pitchFamily="34" charset="-122"/>
                <a:cs typeface="Cambria" pitchFamily="34" charset="-120"/>
              </a:rPr>
              <a:t>Explainability (Grad-CAM)</a:t>
            </a:r>
            <a:endParaRPr lang="en-US" sz="1300" dirty="0"/>
          </a:p>
        </p:txBody>
      </p:sp>
      <p:sp>
        <p:nvSpPr>
          <p:cNvPr id="23" name="Text 17"/>
          <p:cNvSpPr/>
          <p:nvPr/>
        </p:nvSpPr>
        <p:spPr>
          <a:xfrm>
            <a:off x="777240" y="5029200"/>
            <a:ext cx="3063240" cy="457200"/>
          </a:xfrm>
          <a:prstGeom prst="rect">
            <a:avLst/>
          </a:prstGeom>
          <a:noFill/>
          <a:ln/>
        </p:spPr>
        <p:txBody>
          <a:bodyPr wrap="square" rtlCol="0" anchor="ctr"/>
          <a:lstStyle/>
          <a:p>
            <a:pPr marL="0" indent="0">
              <a:lnSpc>
                <a:spcPct val="110000"/>
              </a:lnSpc>
              <a:buNone/>
            </a:pPr>
            <a:r>
              <a:rPr lang="en-US" sz="1000" dirty="0">
                <a:solidFill>
                  <a:srgbClr val="5B6B79"/>
                </a:solidFill>
                <a:latin typeface="Calibri" pitchFamily="34" charset="0"/>
                <a:ea typeface="Calibri" pitchFamily="34" charset="-122"/>
                <a:cs typeface="Calibri" pitchFamily="34" charset="-120"/>
              </a:rPr>
              <a:t>Visualize which image regions drive each prediction — critical for clinical trust and error auditing.</a:t>
            </a:r>
            <a:endParaRPr lang="en-US" sz="1000" dirty="0"/>
          </a:p>
        </p:txBody>
      </p:sp>
      <p:sp>
        <p:nvSpPr>
          <p:cNvPr id="24" name="Shape 18"/>
          <p:cNvSpPr/>
          <p:nvPr/>
        </p:nvSpPr>
        <p:spPr>
          <a:xfrm>
            <a:off x="4343400" y="3749040"/>
            <a:ext cx="3520440" cy="1691640"/>
          </a:xfrm>
          <a:prstGeom prst="roundRect">
            <a:avLst>
              <a:gd name="adj" fmla="val 4865"/>
            </a:avLst>
          </a:prstGeom>
          <a:solidFill>
            <a:srgbClr val="F4F7F9"/>
          </a:solidFill>
          <a:ln/>
        </p:spPr>
        <p:txBody>
          <a:bodyPr/>
          <a:lstStyle/>
          <a:p>
            <a:endParaRPr lang="en-US"/>
          </a:p>
        </p:txBody>
      </p:sp>
      <p:sp>
        <p:nvSpPr>
          <p:cNvPr id="25" name="Shape 19"/>
          <p:cNvSpPr/>
          <p:nvPr/>
        </p:nvSpPr>
        <p:spPr>
          <a:xfrm>
            <a:off x="4572000" y="3977640"/>
            <a:ext cx="502920" cy="502920"/>
          </a:xfrm>
          <a:prstGeom prst="ellipse">
            <a:avLst/>
          </a:prstGeom>
          <a:solidFill>
            <a:srgbClr val="FFFFFF"/>
          </a:solidFill>
          <a:ln/>
        </p:spPr>
        <p:txBody>
          <a:bodyPr/>
          <a:lstStyle/>
          <a:p>
            <a:endParaRPr lang="en-US"/>
          </a:p>
        </p:txBody>
      </p:sp>
      <p:pic>
        <p:nvPicPr>
          <p:cNvPr id="26" name="Image 4" descr="icons/cogs_1C7293.png"/>
          <p:cNvPicPr>
            <a:picLocks noChangeAspect="1"/>
          </p:cNvPicPr>
          <p:nvPr/>
        </p:nvPicPr>
        <p:blipFill>
          <a:blip r:embed="rId7"/>
          <a:stretch>
            <a:fillRect/>
          </a:stretch>
        </p:blipFill>
        <p:spPr>
          <a:xfrm>
            <a:off x="4692701" y="4098341"/>
            <a:ext cx="261518" cy="261518"/>
          </a:xfrm>
          <a:prstGeom prst="rect">
            <a:avLst/>
          </a:prstGeom>
        </p:spPr>
      </p:pic>
      <p:sp>
        <p:nvSpPr>
          <p:cNvPr id="27" name="Text 20"/>
          <p:cNvSpPr/>
          <p:nvPr/>
        </p:nvSpPr>
        <p:spPr>
          <a:xfrm>
            <a:off x="4572000" y="4617720"/>
            <a:ext cx="3063240" cy="457200"/>
          </a:xfrm>
          <a:prstGeom prst="rect">
            <a:avLst/>
          </a:prstGeom>
          <a:noFill/>
          <a:ln/>
        </p:spPr>
        <p:txBody>
          <a:bodyPr wrap="square" rtlCol="0" anchor="ctr"/>
          <a:lstStyle/>
          <a:p>
            <a:pPr marL="0" indent="0">
              <a:lnSpc>
                <a:spcPct val="105000"/>
              </a:lnSpc>
              <a:buNone/>
            </a:pPr>
            <a:r>
              <a:rPr lang="en-US" sz="1300" b="1" dirty="0">
                <a:solidFill>
                  <a:srgbClr val="21295C"/>
                </a:solidFill>
                <a:latin typeface="Cambria" pitchFamily="34" charset="0"/>
                <a:ea typeface="Cambria" pitchFamily="34" charset="-122"/>
                <a:cs typeface="Cambria" pitchFamily="34" charset="-120"/>
              </a:rPr>
              <a:t>Deployment as a lightweight app</a:t>
            </a:r>
            <a:endParaRPr lang="en-US" sz="1300" dirty="0"/>
          </a:p>
        </p:txBody>
      </p:sp>
      <p:sp>
        <p:nvSpPr>
          <p:cNvPr id="28" name="Text 21"/>
          <p:cNvSpPr/>
          <p:nvPr/>
        </p:nvSpPr>
        <p:spPr>
          <a:xfrm>
            <a:off x="4572000" y="5029200"/>
            <a:ext cx="3063240" cy="457200"/>
          </a:xfrm>
          <a:prstGeom prst="rect">
            <a:avLst/>
          </a:prstGeom>
          <a:noFill/>
          <a:ln/>
        </p:spPr>
        <p:txBody>
          <a:bodyPr wrap="square" rtlCol="0" anchor="ctr"/>
          <a:lstStyle/>
          <a:p>
            <a:pPr marL="0" indent="0">
              <a:lnSpc>
                <a:spcPct val="110000"/>
              </a:lnSpc>
              <a:buNone/>
            </a:pPr>
            <a:r>
              <a:rPr lang="en-US" sz="1000" dirty="0">
                <a:solidFill>
                  <a:srgbClr val="5B6B79"/>
                </a:solidFill>
                <a:latin typeface="Calibri" pitchFamily="34" charset="0"/>
                <a:ea typeface="Calibri" pitchFamily="34" charset="-122"/>
                <a:cs typeface="Calibri" pitchFamily="34" charset="-120"/>
              </a:rPr>
              <a:t>Package the best model (e.g. MobileNetV2) behind a simple API or mobile app for real screening use.</a:t>
            </a:r>
            <a:endParaRPr lang="en-US" sz="1000" dirty="0"/>
          </a:p>
        </p:txBody>
      </p:sp>
      <p:sp>
        <p:nvSpPr>
          <p:cNvPr id="29" name="Shape 22"/>
          <p:cNvSpPr/>
          <p:nvPr/>
        </p:nvSpPr>
        <p:spPr>
          <a:xfrm>
            <a:off x="8138160" y="3749040"/>
            <a:ext cx="3520440" cy="1691640"/>
          </a:xfrm>
          <a:prstGeom prst="roundRect">
            <a:avLst>
              <a:gd name="adj" fmla="val 4865"/>
            </a:avLst>
          </a:prstGeom>
          <a:solidFill>
            <a:srgbClr val="F4F7F9"/>
          </a:solidFill>
          <a:ln/>
        </p:spPr>
        <p:txBody>
          <a:bodyPr/>
          <a:lstStyle/>
          <a:p>
            <a:endParaRPr lang="en-US"/>
          </a:p>
        </p:txBody>
      </p:sp>
      <p:sp>
        <p:nvSpPr>
          <p:cNvPr id="30" name="Shape 23"/>
          <p:cNvSpPr/>
          <p:nvPr/>
        </p:nvSpPr>
        <p:spPr>
          <a:xfrm>
            <a:off x="8366760" y="3977640"/>
            <a:ext cx="502920" cy="502920"/>
          </a:xfrm>
          <a:prstGeom prst="ellipse">
            <a:avLst/>
          </a:prstGeom>
          <a:solidFill>
            <a:srgbClr val="FFFFFF"/>
          </a:solidFill>
          <a:ln/>
        </p:spPr>
        <p:txBody>
          <a:bodyPr/>
          <a:lstStyle/>
          <a:p>
            <a:endParaRPr lang="en-US"/>
          </a:p>
        </p:txBody>
      </p:sp>
      <p:pic>
        <p:nvPicPr>
          <p:cNvPr id="31" name="Image 5" descr="icons/chart_1C7293.png"/>
          <p:cNvPicPr>
            <a:picLocks noChangeAspect="1"/>
          </p:cNvPicPr>
          <p:nvPr/>
        </p:nvPicPr>
        <p:blipFill>
          <a:blip r:embed="rId8"/>
          <a:stretch>
            <a:fillRect/>
          </a:stretch>
        </p:blipFill>
        <p:spPr>
          <a:xfrm>
            <a:off x="8487461" y="4098341"/>
            <a:ext cx="261518" cy="261518"/>
          </a:xfrm>
          <a:prstGeom prst="rect">
            <a:avLst/>
          </a:prstGeom>
        </p:spPr>
      </p:pic>
      <p:sp>
        <p:nvSpPr>
          <p:cNvPr id="32" name="Text 24"/>
          <p:cNvSpPr/>
          <p:nvPr/>
        </p:nvSpPr>
        <p:spPr>
          <a:xfrm>
            <a:off x="8366760" y="4617720"/>
            <a:ext cx="3063240" cy="457200"/>
          </a:xfrm>
          <a:prstGeom prst="rect">
            <a:avLst/>
          </a:prstGeom>
          <a:noFill/>
          <a:ln/>
        </p:spPr>
        <p:txBody>
          <a:bodyPr wrap="square" rtlCol="0" anchor="ctr"/>
          <a:lstStyle/>
          <a:p>
            <a:pPr marL="0" indent="0">
              <a:lnSpc>
                <a:spcPct val="105000"/>
              </a:lnSpc>
              <a:buNone/>
            </a:pPr>
            <a:r>
              <a:rPr lang="en-US" sz="1300" b="1" dirty="0">
                <a:solidFill>
                  <a:srgbClr val="21295C"/>
                </a:solidFill>
                <a:latin typeface="Cambria" pitchFamily="34" charset="0"/>
                <a:ea typeface="Cambria" pitchFamily="34" charset="-122"/>
                <a:cs typeface="Cambria" pitchFamily="34" charset="-120"/>
              </a:rPr>
              <a:t>Multi-label support</a:t>
            </a:r>
            <a:endParaRPr lang="en-US" sz="1300" dirty="0"/>
          </a:p>
        </p:txBody>
      </p:sp>
      <p:sp>
        <p:nvSpPr>
          <p:cNvPr id="33" name="Text 25"/>
          <p:cNvSpPr/>
          <p:nvPr/>
        </p:nvSpPr>
        <p:spPr>
          <a:xfrm>
            <a:off x="8366760" y="5029200"/>
            <a:ext cx="3063240" cy="457200"/>
          </a:xfrm>
          <a:prstGeom prst="rect">
            <a:avLst/>
          </a:prstGeom>
          <a:noFill/>
          <a:ln/>
        </p:spPr>
        <p:txBody>
          <a:bodyPr wrap="square" rtlCol="0" anchor="ctr"/>
          <a:lstStyle/>
          <a:p>
            <a:pPr marL="0" indent="0">
              <a:lnSpc>
                <a:spcPct val="110000"/>
              </a:lnSpc>
              <a:buNone/>
            </a:pPr>
            <a:r>
              <a:rPr lang="en-US" sz="1000" dirty="0">
                <a:solidFill>
                  <a:srgbClr val="5B6B79"/>
                </a:solidFill>
                <a:latin typeface="Calibri" pitchFamily="34" charset="0"/>
                <a:ea typeface="Calibri" pitchFamily="34" charset="-122"/>
                <a:cs typeface="Calibri" pitchFamily="34" charset="-120"/>
              </a:rPr>
              <a:t>Extend beyond single-label classification to detect co-occurring conditions on the same image.</a:t>
            </a:r>
            <a:endParaRPr lang="en-US" sz="1000" dirty="0"/>
          </a:p>
        </p:txBody>
      </p:sp>
      <p:sp>
        <p:nvSpPr>
          <p:cNvPr id="34" name="Text 26"/>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35" name="Text 27"/>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6FD3C7"/>
                </a:solidFill>
                <a:latin typeface="Calibri" pitchFamily="34" charset="0"/>
                <a:ea typeface="Calibri" pitchFamily="34" charset="-122"/>
                <a:cs typeface="Calibri" pitchFamily="34" charset="-120"/>
              </a:rPr>
              <a:t>WRAP-UP</a:t>
            </a:r>
            <a:endParaRPr lang="en-US" sz="1300" dirty="0"/>
          </a:p>
        </p:txBody>
      </p:sp>
      <p:sp>
        <p:nvSpPr>
          <p:cNvPr id="3" name="Text 1"/>
          <p:cNvSpPr/>
          <p:nvPr/>
        </p:nvSpPr>
        <p:spPr>
          <a:xfrm>
            <a:off x="548640" y="685800"/>
            <a:ext cx="1078992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Text 2"/>
          <p:cNvSpPr/>
          <p:nvPr/>
        </p:nvSpPr>
        <p:spPr>
          <a:xfrm>
            <a:off x="548640" y="1783080"/>
            <a:ext cx="7680960" cy="1188720"/>
          </a:xfrm>
          <a:prstGeom prst="rect">
            <a:avLst/>
          </a:prstGeom>
          <a:noFill/>
          <a:ln/>
        </p:spPr>
        <p:txBody>
          <a:bodyPr wrap="square" rtlCol="0" anchor="ctr"/>
          <a:lstStyle/>
          <a:p>
            <a:pPr marL="0" indent="0">
              <a:lnSpc>
                <a:spcPct val="130000"/>
              </a:lnSpc>
              <a:buNone/>
            </a:pPr>
            <a:r>
              <a:rPr lang="en-US" sz="1600" dirty="0">
                <a:solidFill>
                  <a:srgbClr val="E4EEF3"/>
                </a:solidFill>
                <a:latin typeface="Calibri" pitchFamily="34" charset="0"/>
                <a:ea typeface="Calibri" pitchFamily="34" charset="-122"/>
                <a:cs typeface="Calibri" pitchFamily="34" charset="-120"/>
              </a:rPr>
              <a:t>Transfer learning decisively outperformed a custom CNN for oral disease classification — while revealing that model choice should be guided by which specific class matters most, not just overall accuracy.</a:t>
            </a:r>
            <a:endParaRPr lang="en-US" sz="1600" dirty="0"/>
          </a:p>
        </p:txBody>
      </p:sp>
      <p:sp>
        <p:nvSpPr>
          <p:cNvPr id="5" name="Shape 3"/>
          <p:cNvSpPr/>
          <p:nvPr/>
        </p:nvSpPr>
        <p:spPr>
          <a:xfrm>
            <a:off x="548640" y="3200400"/>
            <a:ext cx="3566160" cy="1920240"/>
          </a:xfrm>
          <a:prstGeom prst="roundRect">
            <a:avLst>
              <a:gd name="adj" fmla="val 4286"/>
            </a:avLst>
          </a:prstGeom>
          <a:solidFill>
            <a:srgbClr val="1B3A6B"/>
          </a:solidFill>
          <a:ln/>
        </p:spPr>
        <p:txBody>
          <a:bodyPr/>
          <a:lstStyle/>
          <a:p>
            <a:endParaRPr lang="en-US"/>
          </a:p>
        </p:txBody>
      </p:sp>
      <p:sp>
        <p:nvSpPr>
          <p:cNvPr id="6" name="Text 4"/>
          <p:cNvSpPr/>
          <p:nvPr/>
        </p:nvSpPr>
        <p:spPr>
          <a:xfrm>
            <a:off x="777240" y="3364992"/>
            <a:ext cx="3108960" cy="365760"/>
          </a:xfrm>
          <a:prstGeom prst="rect">
            <a:avLst/>
          </a:prstGeom>
          <a:noFill/>
          <a:ln/>
        </p:spPr>
        <p:txBody>
          <a:bodyPr wrap="square" rtlCol="0" anchor="ctr"/>
          <a:lstStyle/>
          <a:p>
            <a:pPr marL="0" indent="0">
              <a:buNone/>
            </a:pPr>
            <a:r>
              <a:rPr lang="en-US" sz="1500" b="1" dirty="0">
                <a:solidFill>
                  <a:srgbClr val="6FD3C7"/>
                </a:solidFill>
                <a:latin typeface="Cambria" pitchFamily="34" charset="0"/>
                <a:ea typeface="Cambria" pitchFamily="34" charset="-122"/>
                <a:cs typeface="Cambria" pitchFamily="34" charset="-120"/>
              </a:rPr>
              <a:t>EfficientNetB0</a:t>
            </a:r>
            <a:endParaRPr lang="en-US" sz="1500" dirty="0"/>
          </a:p>
        </p:txBody>
      </p:sp>
      <p:sp>
        <p:nvSpPr>
          <p:cNvPr id="7" name="Text 5"/>
          <p:cNvSpPr/>
          <p:nvPr/>
        </p:nvSpPr>
        <p:spPr>
          <a:xfrm>
            <a:off x="777240" y="3703320"/>
            <a:ext cx="3108960" cy="6858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81.80%</a:t>
            </a:r>
            <a:endParaRPr lang="en-US" sz="3400" dirty="0"/>
          </a:p>
        </p:txBody>
      </p:sp>
      <p:sp>
        <p:nvSpPr>
          <p:cNvPr id="8" name="Text 6"/>
          <p:cNvSpPr/>
          <p:nvPr/>
        </p:nvSpPr>
        <p:spPr>
          <a:xfrm>
            <a:off x="777240" y="4434840"/>
            <a:ext cx="3108960" cy="548640"/>
          </a:xfrm>
          <a:prstGeom prst="rect">
            <a:avLst/>
          </a:prstGeom>
          <a:noFill/>
          <a:ln/>
        </p:spPr>
        <p:txBody>
          <a:bodyPr wrap="square" rtlCol="0" anchor="ctr"/>
          <a:lstStyle/>
          <a:p>
            <a:pPr marL="0" indent="0">
              <a:buNone/>
            </a:pPr>
            <a:r>
              <a:rPr lang="en-US" sz="1150" dirty="0">
                <a:solidFill>
                  <a:srgbClr val="C9D6E3"/>
                </a:solidFill>
                <a:latin typeface="Calibri" pitchFamily="34" charset="0"/>
                <a:ea typeface="Calibri" pitchFamily="34" charset="-122"/>
                <a:cs typeface="Calibri" pitchFamily="34" charset="-120"/>
              </a:rPr>
              <a:t>Best overall test accuracy</a:t>
            </a:r>
            <a:endParaRPr lang="en-US" sz="1150" dirty="0"/>
          </a:p>
        </p:txBody>
      </p:sp>
      <p:sp>
        <p:nvSpPr>
          <p:cNvPr id="9" name="Shape 7"/>
          <p:cNvSpPr/>
          <p:nvPr/>
        </p:nvSpPr>
        <p:spPr>
          <a:xfrm>
            <a:off x="4297680" y="3200400"/>
            <a:ext cx="3566160" cy="1920240"/>
          </a:xfrm>
          <a:prstGeom prst="roundRect">
            <a:avLst>
              <a:gd name="adj" fmla="val 4286"/>
            </a:avLst>
          </a:prstGeom>
          <a:solidFill>
            <a:srgbClr val="1B3A6B"/>
          </a:solidFill>
          <a:ln/>
        </p:spPr>
        <p:txBody>
          <a:bodyPr/>
          <a:lstStyle/>
          <a:p>
            <a:endParaRPr lang="en-US"/>
          </a:p>
        </p:txBody>
      </p:sp>
      <p:sp>
        <p:nvSpPr>
          <p:cNvPr id="10" name="Text 8"/>
          <p:cNvSpPr/>
          <p:nvPr/>
        </p:nvSpPr>
        <p:spPr>
          <a:xfrm>
            <a:off x="4526280" y="3364992"/>
            <a:ext cx="3108960" cy="365760"/>
          </a:xfrm>
          <a:prstGeom prst="rect">
            <a:avLst/>
          </a:prstGeom>
          <a:noFill/>
          <a:ln/>
        </p:spPr>
        <p:txBody>
          <a:bodyPr wrap="square" rtlCol="0" anchor="ctr"/>
          <a:lstStyle/>
          <a:p>
            <a:pPr marL="0" indent="0">
              <a:buNone/>
            </a:pPr>
            <a:r>
              <a:rPr lang="en-US" sz="1500" b="1" dirty="0">
                <a:solidFill>
                  <a:srgbClr val="6FD3C7"/>
                </a:solidFill>
                <a:latin typeface="Cambria" pitchFamily="34" charset="0"/>
                <a:ea typeface="Cambria" pitchFamily="34" charset="-122"/>
                <a:cs typeface="Cambria" pitchFamily="34" charset="-120"/>
              </a:rPr>
              <a:t>ResNet50</a:t>
            </a:r>
            <a:endParaRPr lang="en-US" sz="1500" dirty="0"/>
          </a:p>
        </p:txBody>
      </p:sp>
      <p:sp>
        <p:nvSpPr>
          <p:cNvPr id="11" name="Text 9"/>
          <p:cNvSpPr/>
          <p:nvPr/>
        </p:nvSpPr>
        <p:spPr>
          <a:xfrm>
            <a:off x="4526280" y="3703320"/>
            <a:ext cx="3108960" cy="6858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81.67%</a:t>
            </a:r>
            <a:endParaRPr lang="en-US" sz="3400" dirty="0"/>
          </a:p>
        </p:txBody>
      </p:sp>
      <p:sp>
        <p:nvSpPr>
          <p:cNvPr id="12" name="Text 10"/>
          <p:cNvSpPr/>
          <p:nvPr/>
        </p:nvSpPr>
        <p:spPr>
          <a:xfrm>
            <a:off x="4526280" y="4434840"/>
            <a:ext cx="3108960" cy="548640"/>
          </a:xfrm>
          <a:prstGeom prst="rect">
            <a:avLst/>
          </a:prstGeom>
          <a:noFill/>
          <a:ln/>
        </p:spPr>
        <p:txBody>
          <a:bodyPr wrap="square" rtlCol="0" anchor="ctr"/>
          <a:lstStyle/>
          <a:p>
            <a:pPr marL="0" indent="0">
              <a:buNone/>
            </a:pPr>
            <a:r>
              <a:rPr lang="en-US" sz="1150" dirty="0">
                <a:solidFill>
                  <a:srgbClr val="C9D6E3"/>
                </a:solidFill>
                <a:latin typeface="Calibri" pitchFamily="34" charset="0"/>
                <a:ea typeface="Calibri" pitchFamily="34" charset="-122"/>
                <a:cs typeface="Calibri" pitchFamily="34" charset="-120"/>
              </a:rPr>
              <a:t>Strongest on Tooth Discoloration</a:t>
            </a:r>
            <a:endParaRPr lang="en-US" sz="1150" dirty="0"/>
          </a:p>
        </p:txBody>
      </p:sp>
      <p:sp>
        <p:nvSpPr>
          <p:cNvPr id="13" name="Shape 11"/>
          <p:cNvSpPr/>
          <p:nvPr/>
        </p:nvSpPr>
        <p:spPr>
          <a:xfrm>
            <a:off x="8046720" y="3200400"/>
            <a:ext cx="3566160" cy="1920240"/>
          </a:xfrm>
          <a:prstGeom prst="roundRect">
            <a:avLst>
              <a:gd name="adj" fmla="val 4286"/>
            </a:avLst>
          </a:prstGeom>
          <a:solidFill>
            <a:srgbClr val="1B3A6B"/>
          </a:solidFill>
          <a:ln/>
        </p:spPr>
        <p:txBody>
          <a:bodyPr/>
          <a:lstStyle/>
          <a:p>
            <a:endParaRPr lang="en-US"/>
          </a:p>
        </p:txBody>
      </p:sp>
      <p:sp>
        <p:nvSpPr>
          <p:cNvPr id="14" name="Text 12"/>
          <p:cNvSpPr/>
          <p:nvPr/>
        </p:nvSpPr>
        <p:spPr>
          <a:xfrm>
            <a:off x="8275320" y="3364992"/>
            <a:ext cx="3108960" cy="365760"/>
          </a:xfrm>
          <a:prstGeom prst="rect">
            <a:avLst/>
          </a:prstGeom>
          <a:noFill/>
          <a:ln/>
        </p:spPr>
        <p:txBody>
          <a:bodyPr wrap="square" rtlCol="0" anchor="ctr"/>
          <a:lstStyle/>
          <a:p>
            <a:pPr marL="0" indent="0">
              <a:buNone/>
            </a:pPr>
            <a:r>
              <a:rPr lang="en-US" sz="1500" b="1" dirty="0">
                <a:solidFill>
                  <a:srgbClr val="6FD3C7"/>
                </a:solidFill>
                <a:latin typeface="Cambria" pitchFamily="34" charset="0"/>
                <a:ea typeface="Cambria" pitchFamily="34" charset="-122"/>
                <a:cs typeface="Cambria" pitchFamily="34" charset="-120"/>
              </a:rPr>
              <a:t>MobileNetV2</a:t>
            </a:r>
            <a:endParaRPr lang="en-US" sz="1500" dirty="0"/>
          </a:p>
        </p:txBody>
      </p:sp>
      <p:sp>
        <p:nvSpPr>
          <p:cNvPr id="15" name="Text 13"/>
          <p:cNvSpPr/>
          <p:nvPr/>
        </p:nvSpPr>
        <p:spPr>
          <a:xfrm>
            <a:off x="8275320" y="3703320"/>
            <a:ext cx="3108960" cy="6858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81.20%</a:t>
            </a:r>
            <a:endParaRPr lang="en-US" sz="3400" dirty="0"/>
          </a:p>
        </p:txBody>
      </p:sp>
      <p:sp>
        <p:nvSpPr>
          <p:cNvPr id="16" name="Text 14"/>
          <p:cNvSpPr/>
          <p:nvPr/>
        </p:nvSpPr>
        <p:spPr>
          <a:xfrm>
            <a:off x="8275320" y="4434840"/>
            <a:ext cx="3108960" cy="548640"/>
          </a:xfrm>
          <a:prstGeom prst="rect">
            <a:avLst/>
          </a:prstGeom>
          <a:noFill/>
          <a:ln/>
        </p:spPr>
        <p:txBody>
          <a:bodyPr wrap="square" rtlCol="0" anchor="ctr"/>
          <a:lstStyle/>
          <a:p>
            <a:pPr marL="0" indent="0">
              <a:buNone/>
            </a:pPr>
            <a:r>
              <a:rPr lang="en-US" sz="1150" dirty="0">
                <a:solidFill>
                  <a:srgbClr val="C9D6E3"/>
                </a:solidFill>
                <a:latin typeface="Calibri" pitchFamily="34" charset="0"/>
                <a:ea typeface="Calibri" pitchFamily="34" charset="-122"/>
                <a:cs typeface="Calibri" pitchFamily="34" charset="-120"/>
              </a:rPr>
              <a:t>Best speed/accuracy tradeoff</a:t>
            </a:r>
            <a:endParaRPr lang="en-US" sz="1150" dirty="0"/>
          </a:p>
        </p:txBody>
      </p:sp>
      <p:sp>
        <p:nvSpPr>
          <p:cNvPr id="17" name="Text 15"/>
          <p:cNvSpPr/>
          <p:nvPr/>
        </p:nvSpPr>
        <p:spPr>
          <a:xfrm>
            <a:off x="548640" y="5440680"/>
            <a:ext cx="11064240" cy="548640"/>
          </a:xfrm>
          <a:prstGeom prst="rect">
            <a:avLst/>
          </a:prstGeom>
          <a:noFill/>
          <a:ln/>
        </p:spPr>
        <p:txBody>
          <a:bodyPr wrap="square" rtlCol="0" anchor="ctr"/>
          <a:lstStyle/>
          <a:p>
            <a:pPr marL="0" indent="0">
              <a:buNone/>
            </a:pPr>
            <a:r>
              <a:rPr lang="en-US" sz="1250" i="1" dirty="0">
                <a:solidFill>
                  <a:srgbClr val="9FB3C8"/>
                </a:solidFill>
                <a:latin typeface="Calibri" pitchFamily="34" charset="0"/>
                <a:ea typeface="Calibri" pitchFamily="34" charset="-122"/>
                <a:cs typeface="Calibri" pitchFamily="34" charset="-120"/>
              </a:rPr>
              <a:t>End-to-end delivery: dataset engineering → augmentation → 4-model benchmark → per-class diagnostics → clinically-grounded error analysis.</a:t>
            </a:r>
            <a:endParaRPr lang="en-US" sz="1250" dirty="0"/>
          </a:p>
        </p:txBody>
      </p:sp>
      <p:sp>
        <p:nvSpPr>
          <p:cNvPr id="18" name="Text 16"/>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9FB3C8"/>
                </a:solidFill>
                <a:latin typeface="Calibri" pitchFamily="34" charset="0"/>
                <a:ea typeface="Calibri" pitchFamily="34" charset="-122"/>
                <a:cs typeface="Calibri" pitchFamily="34" charset="-120"/>
              </a:rPr>
              <a:t>Oral Diseases Classification · Deep Learning &amp; Transfer Learning</a:t>
            </a:r>
            <a:endParaRPr lang="en-US" sz="900" dirty="0"/>
          </a:p>
        </p:txBody>
      </p:sp>
      <p:sp>
        <p:nvSpPr>
          <p:cNvPr id="19" name="Text 17"/>
          <p:cNvSpPr/>
          <p:nvPr/>
        </p:nvSpPr>
        <p:spPr>
          <a:xfrm>
            <a:off x="11277295" y="6492240"/>
            <a:ext cx="457200" cy="274320"/>
          </a:xfrm>
          <a:prstGeom prst="rect">
            <a:avLst/>
          </a:prstGeom>
          <a:noFill/>
          <a:ln/>
        </p:spPr>
        <p:txBody>
          <a:bodyPr wrap="square"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95C"/>
        </a:solidFill>
        <a:effectLst/>
      </p:bgPr>
    </p:bg>
    <p:spTree>
      <p:nvGrpSpPr>
        <p:cNvPr id="1" name=""/>
        <p:cNvGrpSpPr/>
        <p:nvPr/>
      </p:nvGrpSpPr>
      <p:grpSpPr>
        <a:xfrm>
          <a:off x="0" y="0"/>
          <a:ext cx="0" cy="0"/>
          <a:chOff x="0" y="0"/>
          <a:chExt cx="0" cy="0"/>
        </a:xfrm>
      </p:grpSpPr>
      <p:sp>
        <p:nvSpPr>
          <p:cNvPr id="4" name="Shape 2"/>
          <p:cNvSpPr/>
          <p:nvPr/>
        </p:nvSpPr>
        <p:spPr>
          <a:xfrm>
            <a:off x="5547208" y="1737360"/>
            <a:ext cx="1097280" cy="1097280"/>
          </a:xfrm>
          <a:prstGeom prst="ellipse">
            <a:avLst/>
          </a:prstGeom>
          <a:solidFill>
            <a:srgbClr val="1C7293"/>
          </a:solidFill>
          <a:ln/>
        </p:spPr>
        <p:txBody>
          <a:bodyPr/>
          <a:lstStyle/>
          <a:p>
            <a:endParaRPr lang="en-US"/>
          </a:p>
        </p:txBody>
      </p:sp>
      <p:pic>
        <p:nvPicPr>
          <p:cNvPr id="5" name="Image 0" descr="icons/question_FFFFFF.png"/>
          <p:cNvPicPr>
            <a:picLocks noChangeAspect="1"/>
          </p:cNvPicPr>
          <p:nvPr/>
        </p:nvPicPr>
        <p:blipFill>
          <a:blip r:embed="rId3"/>
          <a:stretch>
            <a:fillRect/>
          </a:stretch>
        </p:blipFill>
        <p:spPr>
          <a:xfrm>
            <a:off x="5810554" y="2030196"/>
            <a:ext cx="570586" cy="570586"/>
          </a:xfrm>
          <a:prstGeom prst="rect">
            <a:avLst/>
          </a:prstGeom>
        </p:spPr>
      </p:pic>
      <p:sp>
        <p:nvSpPr>
          <p:cNvPr id="6" name="Text 3"/>
          <p:cNvSpPr/>
          <p:nvPr/>
        </p:nvSpPr>
        <p:spPr>
          <a:xfrm>
            <a:off x="0" y="3017520"/>
            <a:ext cx="12191695" cy="91440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Questions?</a:t>
            </a:r>
            <a:endParaRPr lang="en-US" sz="4000" dirty="0"/>
          </a:p>
        </p:txBody>
      </p:sp>
      <p:sp>
        <p:nvSpPr>
          <p:cNvPr id="7" name="Text 4"/>
          <p:cNvSpPr/>
          <p:nvPr/>
        </p:nvSpPr>
        <p:spPr>
          <a:xfrm>
            <a:off x="0" y="3977640"/>
            <a:ext cx="12191695" cy="457200"/>
          </a:xfrm>
          <a:prstGeom prst="rect">
            <a:avLst/>
          </a:prstGeom>
          <a:noFill/>
          <a:ln/>
        </p:spPr>
        <p:txBody>
          <a:bodyPr wrap="square" rtlCol="0" anchor="ctr"/>
          <a:lstStyle/>
          <a:p>
            <a:pPr marL="0" indent="0" algn="ctr">
              <a:buNone/>
            </a:pPr>
            <a:r>
              <a:rPr lang="en-US" sz="1400" dirty="0">
                <a:solidFill>
                  <a:srgbClr val="C9D6E3"/>
                </a:solidFill>
                <a:latin typeface="Calibri" pitchFamily="34" charset="0"/>
                <a:ea typeface="Calibri" pitchFamily="34" charset="-122"/>
                <a:cs typeface="Calibri" pitchFamily="34" charset="-120"/>
              </a:rPr>
              <a:t>Thank you — Oral Diseases Classification using Deep Learning and Transfer Learning</a:t>
            </a:r>
            <a:endParaRPr lang="en-US" sz="1400" dirty="0"/>
          </a:p>
        </p:txBody>
      </p:sp>
      <p:sp>
        <p:nvSpPr>
          <p:cNvPr id="8" name="Text 5"/>
          <p:cNvSpPr/>
          <p:nvPr/>
        </p:nvSpPr>
        <p:spPr>
          <a:xfrm>
            <a:off x="305" y="4572000"/>
            <a:ext cx="12191695" cy="365760"/>
          </a:xfrm>
          <a:prstGeom prst="rect">
            <a:avLst/>
          </a:prstGeom>
          <a:noFill/>
          <a:ln/>
        </p:spPr>
        <p:txBody>
          <a:bodyPr wrap="square" rtlCol="0" anchor="ctr"/>
          <a:lstStyle/>
          <a:p>
            <a:pPr marL="0" indent="0" algn="ctr">
              <a:buNone/>
            </a:pPr>
            <a:r>
              <a:rPr lang="en-US" sz="1250" dirty="0">
                <a:solidFill>
                  <a:schemeClr val="bg1"/>
                </a:solidFill>
                <a:latin typeface="Calibri" pitchFamily="34" charset="0"/>
                <a:ea typeface="Calibri" pitchFamily="34" charset="-122"/>
                <a:cs typeface="Calibri" pitchFamily="34" charset="-120"/>
              </a:rPr>
              <a:t>Mohammed Mokhtar  ·  Faculty of Computers &amp; AI, Cairo University</a:t>
            </a:r>
            <a:endParaRPr lang="en-US" sz="1250" dirty="0">
              <a:solidFill>
                <a:schemeClr val="bg1"/>
              </a:solidFill>
            </a:endParaRPr>
          </a:p>
        </p:txBody>
      </p:sp>
      <p:sp>
        <p:nvSpPr>
          <p:cNvPr id="12" name="Shape 6">
            <a:extLst>
              <a:ext uri="{FF2B5EF4-FFF2-40B4-BE49-F238E27FC236}">
                <a16:creationId xmlns:a16="http://schemas.microsoft.com/office/drawing/2014/main" id="{6674623E-EF44-6D5C-5CE2-252BD98730B9}"/>
              </a:ext>
            </a:extLst>
          </p:cNvPr>
          <p:cNvSpPr/>
          <p:nvPr/>
        </p:nvSpPr>
        <p:spPr>
          <a:xfrm>
            <a:off x="3855568" y="5074920"/>
            <a:ext cx="365760" cy="365760"/>
          </a:xfrm>
          <a:prstGeom prst="ellipse">
            <a:avLst/>
          </a:prstGeom>
          <a:solidFill>
            <a:srgbClr val="1C7293"/>
          </a:solidFill>
          <a:ln/>
        </p:spPr>
        <p:txBody>
          <a:bodyPr/>
          <a:lstStyle/>
          <a:p>
            <a:endParaRPr lang="en-US"/>
          </a:p>
        </p:txBody>
      </p:sp>
      <p:pic>
        <p:nvPicPr>
          <p:cNvPr id="14" name="Image 1" descr="preencoded.png">
            <a:extLst>
              <a:ext uri="{FF2B5EF4-FFF2-40B4-BE49-F238E27FC236}">
                <a16:creationId xmlns:a16="http://schemas.microsoft.com/office/drawing/2014/main" id="{45E5F692-715C-4A0F-B0AB-1E1A9E972EFB}"/>
              </a:ext>
            </a:extLst>
          </p:cNvPr>
          <p:cNvPicPr>
            <a:picLocks noChangeAspect="1"/>
          </p:cNvPicPr>
          <p:nvPr/>
        </p:nvPicPr>
        <p:blipFill>
          <a:blip r:embed="rId4"/>
          <a:stretch>
            <a:fillRect/>
          </a:stretch>
        </p:blipFill>
        <p:spPr>
          <a:xfrm>
            <a:off x="3937864" y="5161788"/>
            <a:ext cx="201168" cy="201168"/>
          </a:xfrm>
          <a:prstGeom prst="rect">
            <a:avLst/>
          </a:prstGeom>
        </p:spPr>
      </p:pic>
      <p:sp>
        <p:nvSpPr>
          <p:cNvPr id="16" name="Text 7">
            <a:extLst>
              <a:ext uri="{FF2B5EF4-FFF2-40B4-BE49-F238E27FC236}">
                <a16:creationId xmlns:a16="http://schemas.microsoft.com/office/drawing/2014/main" id="{687A8AFA-2FED-8D19-BDE0-E0CEA004E3D2}"/>
              </a:ext>
            </a:extLst>
          </p:cNvPr>
          <p:cNvSpPr/>
          <p:nvPr/>
        </p:nvSpPr>
        <p:spPr>
          <a:xfrm>
            <a:off x="4358488" y="5074920"/>
            <a:ext cx="4572000" cy="365760"/>
          </a:xfrm>
          <a:prstGeom prst="rect">
            <a:avLst/>
          </a:prstGeom>
          <a:noFill/>
          <a:ln/>
        </p:spPr>
        <p:txBody>
          <a:bodyPr wrap="square" lIns="0" tIns="0" rIns="0" bIns="0" rtlCol="0" anchor="ctr"/>
          <a:lstStyle/>
          <a:p>
            <a:pPr marL="0" indent="0">
              <a:buNone/>
            </a:pPr>
            <a:r>
              <a:rPr lang="en-US" sz="1150" dirty="0">
                <a:solidFill>
                  <a:schemeClr val="bg1"/>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mohammed.mokhtar.softwareeng@gmail.com</a:t>
            </a:r>
            <a:endParaRPr lang="en-US" sz="1150" dirty="0">
              <a:solidFill>
                <a:schemeClr val="bg1"/>
              </a:solidFill>
            </a:endParaRPr>
          </a:p>
        </p:txBody>
      </p:sp>
      <p:sp>
        <p:nvSpPr>
          <p:cNvPr id="18" name="Shape 8">
            <a:extLst>
              <a:ext uri="{FF2B5EF4-FFF2-40B4-BE49-F238E27FC236}">
                <a16:creationId xmlns:a16="http://schemas.microsoft.com/office/drawing/2014/main" id="{D60E4278-BCF6-C04F-4E1B-A2354817471D}"/>
              </a:ext>
            </a:extLst>
          </p:cNvPr>
          <p:cNvSpPr/>
          <p:nvPr/>
        </p:nvSpPr>
        <p:spPr>
          <a:xfrm>
            <a:off x="3855568" y="5532120"/>
            <a:ext cx="365760" cy="365760"/>
          </a:xfrm>
          <a:prstGeom prst="ellipse">
            <a:avLst/>
          </a:prstGeom>
          <a:solidFill>
            <a:srgbClr val="1C7293"/>
          </a:solidFill>
          <a:ln/>
        </p:spPr>
        <p:txBody>
          <a:bodyPr/>
          <a:lstStyle/>
          <a:p>
            <a:endParaRPr lang="en-US"/>
          </a:p>
        </p:txBody>
      </p:sp>
      <p:pic>
        <p:nvPicPr>
          <p:cNvPr id="20" name="Image 2" descr="preencoded.png">
            <a:extLst>
              <a:ext uri="{FF2B5EF4-FFF2-40B4-BE49-F238E27FC236}">
                <a16:creationId xmlns:a16="http://schemas.microsoft.com/office/drawing/2014/main" id="{2537B912-39AC-656B-8691-39B4EA94F79C}"/>
              </a:ext>
            </a:extLst>
          </p:cNvPr>
          <p:cNvPicPr>
            <a:picLocks noChangeAspect="1"/>
          </p:cNvPicPr>
          <p:nvPr/>
        </p:nvPicPr>
        <p:blipFill>
          <a:blip r:embed="rId6"/>
          <a:stretch>
            <a:fillRect/>
          </a:stretch>
        </p:blipFill>
        <p:spPr>
          <a:xfrm>
            <a:off x="3937864" y="5614416"/>
            <a:ext cx="201168" cy="201168"/>
          </a:xfrm>
          <a:prstGeom prst="rect">
            <a:avLst/>
          </a:prstGeom>
        </p:spPr>
      </p:pic>
      <p:sp>
        <p:nvSpPr>
          <p:cNvPr id="22" name="Text 9">
            <a:extLst>
              <a:ext uri="{FF2B5EF4-FFF2-40B4-BE49-F238E27FC236}">
                <a16:creationId xmlns:a16="http://schemas.microsoft.com/office/drawing/2014/main" id="{E0A183E1-1703-924D-325C-49FB40FEC6F6}"/>
              </a:ext>
            </a:extLst>
          </p:cNvPr>
          <p:cNvSpPr/>
          <p:nvPr/>
        </p:nvSpPr>
        <p:spPr>
          <a:xfrm>
            <a:off x="4358488" y="5532120"/>
            <a:ext cx="4572000" cy="365760"/>
          </a:xfrm>
          <a:prstGeom prst="rect">
            <a:avLst/>
          </a:prstGeom>
          <a:noFill/>
          <a:ln/>
        </p:spPr>
        <p:txBody>
          <a:bodyPr wrap="square" lIns="0" tIns="0" rIns="0" bIns="0" rtlCol="0" anchor="ctr"/>
          <a:lstStyle/>
          <a:p>
            <a:r>
              <a:rPr lang="en-US" sz="1150" dirty="0">
                <a:solidFill>
                  <a:schemeClr val="bg1"/>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https://www.linkedin.com/in/mohammed-mokhtar-26668432b/</a:t>
            </a:r>
            <a:endParaRPr lang="en-US" sz="1150" dirty="0">
              <a:solidFill>
                <a:schemeClr val="bg1"/>
              </a:solidFill>
            </a:endParaRPr>
          </a:p>
        </p:txBody>
      </p:sp>
      <p:sp>
        <p:nvSpPr>
          <p:cNvPr id="24" name="Shape 10">
            <a:extLst>
              <a:ext uri="{FF2B5EF4-FFF2-40B4-BE49-F238E27FC236}">
                <a16:creationId xmlns:a16="http://schemas.microsoft.com/office/drawing/2014/main" id="{AB2FDE01-4F2F-F543-0B85-2658112CBFC0}"/>
              </a:ext>
            </a:extLst>
          </p:cNvPr>
          <p:cNvSpPr/>
          <p:nvPr/>
        </p:nvSpPr>
        <p:spPr>
          <a:xfrm>
            <a:off x="3855568" y="5989320"/>
            <a:ext cx="365760" cy="365760"/>
          </a:xfrm>
          <a:prstGeom prst="ellipse">
            <a:avLst/>
          </a:prstGeom>
          <a:solidFill>
            <a:srgbClr val="1C7293"/>
          </a:solidFill>
          <a:ln/>
        </p:spPr>
        <p:txBody>
          <a:bodyPr/>
          <a:lstStyle/>
          <a:p>
            <a:endParaRPr lang="en-US"/>
          </a:p>
        </p:txBody>
      </p:sp>
      <p:pic>
        <p:nvPicPr>
          <p:cNvPr id="26" name="Image 3" descr="preencoded.png">
            <a:extLst>
              <a:ext uri="{FF2B5EF4-FFF2-40B4-BE49-F238E27FC236}">
                <a16:creationId xmlns:a16="http://schemas.microsoft.com/office/drawing/2014/main" id="{6F2100AC-8906-EB90-0B47-7FE341F20344}"/>
              </a:ext>
            </a:extLst>
          </p:cNvPr>
          <p:cNvPicPr>
            <a:picLocks noChangeAspect="1"/>
          </p:cNvPicPr>
          <p:nvPr/>
        </p:nvPicPr>
        <p:blipFill>
          <a:blip r:embed="rId8"/>
          <a:stretch>
            <a:fillRect/>
          </a:stretch>
        </p:blipFill>
        <p:spPr>
          <a:xfrm>
            <a:off x="3937864" y="6071616"/>
            <a:ext cx="201168" cy="201168"/>
          </a:xfrm>
          <a:prstGeom prst="rect">
            <a:avLst/>
          </a:prstGeom>
        </p:spPr>
      </p:pic>
      <p:sp>
        <p:nvSpPr>
          <p:cNvPr id="28" name="Text 11">
            <a:extLst>
              <a:ext uri="{FF2B5EF4-FFF2-40B4-BE49-F238E27FC236}">
                <a16:creationId xmlns:a16="http://schemas.microsoft.com/office/drawing/2014/main" id="{D89E83F8-6087-2B4E-8750-864D5BBA1450}"/>
              </a:ext>
            </a:extLst>
          </p:cNvPr>
          <p:cNvSpPr/>
          <p:nvPr/>
        </p:nvSpPr>
        <p:spPr>
          <a:xfrm>
            <a:off x="4358488" y="5989320"/>
            <a:ext cx="4572000" cy="365760"/>
          </a:xfrm>
          <a:prstGeom prst="rect">
            <a:avLst/>
          </a:prstGeom>
          <a:noFill/>
          <a:ln/>
        </p:spPr>
        <p:txBody>
          <a:bodyPr wrap="square" lIns="0" tIns="0" rIns="0" bIns="0" rtlCol="0" anchor="ctr"/>
          <a:lstStyle/>
          <a:p>
            <a:pPr marL="0" indent="0">
              <a:buNone/>
            </a:pPr>
            <a:r>
              <a:rPr lang="en-US" sz="1150" dirty="0">
                <a:solidFill>
                  <a:schemeClr val="bg1"/>
                </a:solidFill>
                <a:latin typeface="Calibri" pitchFamily="34" charset="0"/>
                <a:ea typeface="Calibri" pitchFamily="34" charset="-122"/>
                <a:cs typeface="Calibri" pitchFamily="34" charset="-120"/>
                <a:hlinkClick r:id="rId9" action="ppaction://hlinkfile">
                  <a:extLst>
                    <a:ext uri="{A12FA001-AC4F-418D-AE19-62706E023703}">
                      <ahyp:hlinkClr xmlns:ahyp="http://schemas.microsoft.com/office/drawing/2018/hyperlinkcolor" val="tx"/>
                    </a:ext>
                  </a:extLst>
                </a:hlinkClick>
              </a:rPr>
              <a:t>github.com/mohammedmokhtar77</a:t>
            </a:r>
            <a:endParaRPr lang="en-US" sz="115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4301</Words>
  <Application>Microsoft Office PowerPoint</Application>
  <PresentationFormat>Widescreen</PresentationFormat>
  <Paragraphs>414</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محمد مختار على محمد</cp:lastModifiedBy>
  <cp:revision>3</cp:revision>
  <dcterms:created xsi:type="dcterms:W3CDTF">2026-07-10T23:28:11Z</dcterms:created>
  <dcterms:modified xsi:type="dcterms:W3CDTF">2026-07-11T00:56:21Z</dcterms:modified>
</cp:coreProperties>
</file>